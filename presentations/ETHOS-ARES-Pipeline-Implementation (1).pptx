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843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chaitanya" userId="b2215789a81a9da9" providerId="LiveId" clId="{270669EF-CB05-4EB0-92F4-A0C30B0D3869}"/>
    <pc:docChg chg="custSel modSld">
      <pc:chgData name="krishna chaitanya" userId="b2215789a81a9da9" providerId="LiveId" clId="{270669EF-CB05-4EB0-92F4-A0C30B0D3869}" dt="2026-01-29T16:47:43.289" v="9" actId="478"/>
      <pc:docMkLst>
        <pc:docMk/>
      </pc:docMkLst>
      <pc:sldChg chg="delSp mod">
        <pc:chgData name="krishna chaitanya" userId="b2215789a81a9da9" providerId="LiveId" clId="{270669EF-CB05-4EB0-92F4-A0C30B0D3869}" dt="2026-01-29T16:47:17.537" v="0" actId="478"/>
        <pc:sldMkLst>
          <pc:docMk/>
          <pc:sldMk cId="0" sldId="256"/>
        </pc:sldMkLst>
        <pc:picChg chg="del">
          <ac:chgData name="krishna chaitanya" userId="b2215789a81a9da9" providerId="LiveId" clId="{270669EF-CB05-4EB0-92F4-A0C30B0D3869}" dt="2026-01-29T16:47:17.537" v="0" actId="478"/>
          <ac:picMkLst>
            <pc:docMk/>
            <pc:sldMk cId="0" sldId="256"/>
            <ac:picMk id="12" creationId="{00000000-0000-0000-0000-000000000000}"/>
          </ac:picMkLst>
        </pc:picChg>
      </pc:sldChg>
      <pc:sldChg chg="delSp mod">
        <pc:chgData name="krishna chaitanya" userId="b2215789a81a9da9" providerId="LiveId" clId="{270669EF-CB05-4EB0-92F4-A0C30B0D3869}" dt="2026-01-29T16:47:24.271" v="1" actId="478"/>
        <pc:sldMkLst>
          <pc:docMk/>
          <pc:sldMk cId="0" sldId="257"/>
        </pc:sldMkLst>
        <pc:picChg chg="del">
          <ac:chgData name="krishna chaitanya" userId="b2215789a81a9da9" providerId="LiveId" clId="{270669EF-CB05-4EB0-92F4-A0C30B0D3869}" dt="2026-01-29T16:47:24.271" v="1" actId="478"/>
          <ac:picMkLst>
            <pc:docMk/>
            <pc:sldMk cId="0" sldId="257"/>
            <ac:picMk id="22" creationId="{00000000-0000-0000-0000-000000000000}"/>
          </ac:picMkLst>
        </pc:picChg>
      </pc:sldChg>
      <pc:sldChg chg="delSp mod">
        <pc:chgData name="krishna chaitanya" userId="b2215789a81a9da9" providerId="LiveId" clId="{270669EF-CB05-4EB0-92F4-A0C30B0D3869}" dt="2026-01-29T16:47:26.841" v="2" actId="478"/>
        <pc:sldMkLst>
          <pc:docMk/>
          <pc:sldMk cId="0" sldId="258"/>
        </pc:sldMkLst>
        <pc:picChg chg="del">
          <ac:chgData name="krishna chaitanya" userId="b2215789a81a9da9" providerId="LiveId" clId="{270669EF-CB05-4EB0-92F4-A0C30B0D3869}" dt="2026-01-29T16:47:26.841" v="2" actId="478"/>
          <ac:picMkLst>
            <pc:docMk/>
            <pc:sldMk cId="0" sldId="258"/>
            <ac:picMk id="14" creationId="{00000000-0000-0000-0000-000000000000}"/>
          </ac:picMkLst>
        </pc:picChg>
      </pc:sldChg>
      <pc:sldChg chg="delSp mod">
        <pc:chgData name="krishna chaitanya" userId="b2215789a81a9da9" providerId="LiveId" clId="{270669EF-CB05-4EB0-92F4-A0C30B0D3869}" dt="2026-01-29T16:47:28.759" v="3" actId="478"/>
        <pc:sldMkLst>
          <pc:docMk/>
          <pc:sldMk cId="0" sldId="259"/>
        </pc:sldMkLst>
        <pc:picChg chg="del">
          <ac:chgData name="krishna chaitanya" userId="b2215789a81a9da9" providerId="LiveId" clId="{270669EF-CB05-4EB0-92F4-A0C30B0D3869}" dt="2026-01-29T16:47:28.759" v="3" actId="478"/>
          <ac:picMkLst>
            <pc:docMk/>
            <pc:sldMk cId="0" sldId="259"/>
            <ac:picMk id="21" creationId="{00000000-0000-0000-0000-000000000000}"/>
          </ac:picMkLst>
        </pc:picChg>
      </pc:sldChg>
      <pc:sldChg chg="delSp mod">
        <pc:chgData name="krishna chaitanya" userId="b2215789a81a9da9" providerId="LiveId" clId="{270669EF-CB05-4EB0-92F4-A0C30B0D3869}" dt="2026-01-29T16:47:32.502" v="4" actId="478"/>
        <pc:sldMkLst>
          <pc:docMk/>
          <pc:sldMk cId="0" sldId="260"/>
        </pc:sldMkLst>
        <pc:grpChg chg="del">
          <ac:chgData name="krishna chaitanya" userId="b2215789a81a9da9" providerId="LiveId" clId="{270669EF-CB05-4EB0-92F4-A0C30B0D3869}" dt="2026-01-29T16:47:32.502" v="4" actId="478"/>
          <ac:grpSpMkLst>
            <pc:docMk/>
            <pc:sldMk cId="0" sldId="260"/>
            <ac:grpSpMk id="4" creationId="{00000000-0000-0000-0000-000000000000}"/>
          </ac:grpSpMkLst>
        </pc:grpChg>
        <pc:picChg chg="topLvl">
          <ac:chgData name="krishna chaitanya" userId="b2215789a81a9da9" providerId="LiveId" clId="{270669EF-CB05-4EB0-92F4-A0C30B0D3869}" dt="2026-01-29T16:47:32.502" v="4" actId="478"/>
          <ac:picMkLst>
            <pc:docMk/>
            <pc:sldMk cId="0" sldId="260"/>
            <ac:picMk id="5" creationId="{00000000-0000-0000-0000-000000000000}"/>
          </ac:picMkLst>
        </pc:picChg>
        <pc:picChg chg="del topLvl">
          <ac:chgData name="krishna chaitanya" userId="b2215789a81a9da9" providerId="LiveId" clId="{270669EF-CB05-4EB0-92F4-A0C30B0D3869}" dt="2026-01-29T16:47:32.502" v="4" actId="478"/>
          <ac:picMkLst>
            <pc:docMk/>
            <pc:sldMk cId="0" sldId="260"/>
            <ac:picMk id="6" creationId="{00000000-0000-0000-0000-000000000000}"/>
          </ac:picMkLst>
        </pc:picChg>
      </pc:sldChg>
      <pc:sldChg chg="delSp mod">
        <pc:chgData name="krishna chaitanya" userId="b2215789a81a9da9" providerId="LiveId" clId="{270669EF-CB05-4EB0-92F4-A0C30B0D3869}" dt="2026-01-29T16:47:34.581" v="5" actId="478"/>
        <pc:sldMkLst>
          <pc:docMk/>
          <pc:sldMk cId="0" sldId="261"/>
        </pc:sldMkLst>
        <pc:picChg chg="del">
          <ac:chgData name="krishna chaitanya" userId="b2215789a81a9da9" providerId="LiveId" clId="{270669EF-CB05-4EB0-92F4-A0C30B0D3869}" dt="2026-01-29T16:47:34.581" v="5" actId="478"/>
          <ac:picMkLst>
            <pc:docMk/>
            <pc:sldMk cId="0" sldId="261"/>
            <ac:picMk id="53" creationId="{00000000-0000-0000-0000-000000000000}"/>
          </ac:picMkLst>
        </pc:picChg>
      </pc:sldChg>
      <pc:sldChg chg="delSp mod">
        <pc:chgData name="krishna chaitanya" userId="b2215789a81a9da9" providerId="LiveId" clId="{270669EF-CB05-4EB0-92F4-A0C30B0D3869}" dt="2026-01-29T16:47:36.813" v="6" actId="478"/>
        <pc:sldMkLst>
          <pc:docMk/>
          <pc:sldMk cId="0" sldId="262"/>
        </pc:sldMkLst>
        <pc:picChg chg="del">
          <ac:chgData name="krishna chaitanya" userId="b2215789a81a9da9" providerId="LiveId" clId="{270669EF-CB05-4EB0-92F4-A0C30B0D3869}" dt="2026-01-29T16:47:36.813" v="6" actId="478"/>
          <ac:picMkLst>
            <pc:docMk/>
            <pc:sldMk cId="0" sldId="262"/>
            <ac:picMk id="25" creationId="{00000000-0000-0000-0000-000000000000}"/>
          </ac:picMkLst>
        </pc:picChg>
      </pc:sldChg>
      <pc:sldChg chg="delSp mod">
        <pc:chgData name="krishna chaitanya" userId="b2215789a81a9da9" providerId="LiveId" clId="{270669EF-CB05-4EB0-92F4-A0C30B0D3869}" dt="2026-01-29T16:47:39.041" v="7" actId="478"/>
        <pc:sldMkLst>
          <pc:docMk/>
          <pc:sldMk cId="0" sldId="263"/>
        </pc:sldMkLst>
        <pc:picChg chg="del">
          <ac:chgData name="krishna chaitanya" userId="b2215789a81a9da9" providerId="LiveId" clId="{270669EF-CB05-4EB0-92F4-A0C30B0D3869}" dt="2026-01-29T16:47:39.041" v="7" actId="478"/>
          <ac:picMkLst>
            <pc:docMk/>
            <pc:sldMk cId="0" sldId="263"/>
            <ac:picMk id="25" creationId="{00000000-0000-0000-0000-000000000000}"/>
          </ac:picMkLst>
        </pc:picChg>
      </pc:sldChg>
      <pc:sldChg chg="delSp mod">
        <pc:chgData name="krishna chaitanya" userId="b2215789a81a9da9" providerId="LiveId" clId="{270669EF-CB05-4EB0-92F4-A0C30B0D3869}" dt="2026-01-29T16:47:41.026" v="8" actId="478"/>
        <pc:sldMkLst>
          <pc:docMk/>
          <pc:sldMk cId="0" sldId="264"/>
        </pc:sldMkLst>
        <pc:picChg chg="del">
          <ac:chgData name="krishna chaitanya" userId="b2215789a81a9da9" providerId="LiveId" clId="{270669EF-CB05-4EB0-92F4-A0C30B0D3869}" dt="2026-01-29T16:47:41.026" v="8" actId="478"/>
          <ac:picMkLst>
            <pc:docMk/>
            <pc:sldMk cId="0" sldId="264"/>
            <ac:picMk id="70" creationId="{00000000-0000-0000-0000-000000000000}"/>
          </ac:picMkLst>
        </pc:picChg>
      </pc:sldChg>
      <pc:sldChg chg="delSp mod">
        <pc:chgData name="krishna chaitanya" userId="b2215789a81a9da9" providerId="LiveId" clId="{270669EF-CB05-4EB0-92F4-A0C30B0D3869}" dt="2026-01-29T16:47:43.289" v="9" actId="478"/>
        <pc:sldMkLst>
          <pc:docMk/>
          <pc:sldMk cId="0" sldId="265"/>
        </pc:sldMkLst>
        <pc:picChg chg="del">
          <ac:chgData name="krishna chaitanya" userId="b2215789a81a9da9" providerId="LiveId" clId="{270669EF-CB05-4EB0-92F4-A0C30B0D3869}" dt="2026-01-29T16:47:43.289" v="9" actId="478"/>
          <ac:picMkLst>
            <pc:docMk/>
            <pc:sldMk cId="0" sldId="265"/>
            <ac:picMk id="17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643915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3F3FF">
              <a:alpha val="7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524"/>
            <a:ext cx="4286250" cy="64293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28095" y="2052415"/>
            <a:ext cx="4566284" cy="1106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00002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0002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0002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0002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1429999" cy="64388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29999" y="6429374"/>
                </a:moveTo>
                <a:lnTo>
                  <a:pt x="0" y="642937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29374"/>
                </a:lnTo>
                <a:close/>
              </a:path>
            </a:pathLst>
          </a:custGeom>
          <a:solidFill>
            <a:srgbClr val="F2F2FF">
              <a:alpha val="7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1846" y="606901"/>
            <a:ext cx="5544820" cy="448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00002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649" y="2152649"/>
            <a:ext cx="10172700" cy="2493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5"/>
              </a:spcBef>
            </a:pPr>
            <a:r>
              <a:rPr sz="3450" spc="180" dirty="0"/>
              <a:t>ETHOS-</a:t>
            </a:r>
            <a:r>
              <a:rPr sz="3450" spc="245" dirty="0"/>
              <a:t>ARES</a:t>
            </a:r>
            <a:r>
              <a:rPr sz="3450" spc="-120" dirty="0"/>
              <a:t> </a:t>
            </a:r>
            <a:r>
              <a:rPr sz="3450" spc="-45" dirty="0"/>
              <a:t>Pipeline </a:t>
            </a:r>
            <a:r>
              <a:rPr sz="3450" spc="-10" dirty="0"/>
              <a:t>Implementation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4928095" y="3486499"/>
            <a:ext cx="418592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140" dirty="0">
                <a:solidFill>
                  <a:srgbClr val="00002E"/>
                </a:solidFill>
                <a:latin typeface="Verdana"/>
                <a:cs typeface="Verdana"/>
              </a:rPr>
              <a:t>From</a:t>
            </a:r>
            <a:r>
              <a:rPr sz="145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450" spc="-145" dirty="0">
                <a:solidFill>
                  <a:srgbClr val="00002E"/>
                </a:solidFill>
                <a:latin typeface="Verdana"/>
                <a:cs typeface="Verdana"/>
              </a:rPr>
              <a:t>Raw</a:t>
            </a:r>
            <a:r>
              <a:rPr sz="1450" spc="-1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450" spc="-165" dirty="0">
                <a:solidFill>
                  <a:srgbClr val="00002E"/>
                </a:solidFill>
                <a:latin typeface="Verdana"/>
                <a:cs typeface="Verdana"/>
              </a:rPr>
              <a:t>MIMIC-</a:t>
            </a:r>
            <a:r>
              <a:rPr sz="1450" spc="-185" dirty="0">
                <a:solidFill>
                  <a:srgbClr val="00002E"/>
                </a:solidFill>
                <a:latin typeface="Verdana"/>
                <a:cs typeface="Verdana"/>
              </a:rPr>
              <a:t>IV</a:t>
            </a:r>
            <a:r>
              <a:rPr sz="1450" spc="-1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450" spc="-145" dirty="0">
                <a:solidFill>
                  <a:srgbClr val="00002E"/>
                </a:solidFill>
                <a:latin typeface="Verdana"/>
                <a:cs typeface="Verdana"/>
              </a:rPr>
              <a:t>Data</a:t>
            </a:r>
            <a:r>
              <a:rPr sz="145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450" spc="-9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450" spc="-8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450" spc="-165" dirty="0">
                <a:solidFill>
                  <a:srgbClr val="00002E"/>
                </a:solidFill>
                <a:latin typeface="Verdana"/>
                <a:cs typeface="Verdana"/>
              </a:rPr>
              <a:t>ICU</a:t>
            </a:r>
            <a:r>
              <a:rPr sz="1450" spc="-90" dirty="0">
                <a:solidFill>
                  <a:srgbClr val="00002E"/>
                </a:solidFill>
                <a:latin typeface="Verdana"/>
                <a:cs typeface="Verdana"/>
              </a:rPr>
              <a:t> Mortality</a:t>
            </a:r>
            <a:r>
              <a:rPr sz="1450" spc="-1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00002E"/>
                </a:solidFill>
                <a:latin typeface="Verdana"/>
                <a:cs typeface="Verdana"/>
              </a:rPr>
              <a:t>Prediction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43475" y="3990975"/>
            <a:ext cx="1390650" cy="352425"/>
            <a:chOff x="4943475" y="3990975"/>
            <a:chExt cx="1390650" cy="352425"/>
          </a:xfrm>
        </p:grpSpPr>
        <p:sp>
          <p:nvSpPr>
            <p:cNvPr id="5" name="object 5"/>
            <p:cNvSpPr/>
            <p:nvPr/>
          </p:nvSpPr>
          <p:spPr>
            <a:xfrm>
              <a:off x="4943475" y="3990975"/>
              <a:ext cx="1390650" cy="352425"/>
            </a:xfrm>
            <a:custGeom>
              <a:avLst/>
              <a:gdLst/>
              <a:ahLst/>
              <a:cxnLst/>
              <a:rect l="l" t="t" r="r" b="b"/>
              <a:pathLst>
                <a:path w="1390650" h="352425">
                  <a:moveTo>
                    <a:pt x="1214437" y="0"/>
                  </a:moveTo>
                  <a:lnTo>
                    <a:pt x="176212" y="0"/>
                  </a:lnTo>
                  <a:lnTo>
                    <a:pt x="167556" y="211"/>
                  </a:lnTo>
                  <a:lnTo>
                    <a:pt x="125061" y="7580"/>
                  </a:lnTo>
                  <a:lnTo>
                    <a:pt x="85626" y="25060"/>
                  </a:lnTo>
                  <a:lnTo>
                    <a:pt x="51612" y="51612"/>
                  </a:lnTo>
                  <a:lnTo>
                    <a:pt x="25060" y="85627"/>
                  </a:lnTo>
                  <a:lnTo>
                    <a:pt x="7580" y="125061"/>
                  </a:lnTo>
                  <a:lnTo>
                    <a:pt x="211" y="167554"/>
                  </a:lnTo>
                  <a:lnTo>
                    <a:pt x="0" y="176212"/>
                  </a:lnTo>
                  <a:lnTo>
                    <a:pt x="211" y="184868"/>
                  </a:lnTo>
                  <a:lnTo>
                    <a:pt x="7580" y="227361"/>
                  </a:lnTo>
                  <a:lnTo>
                    <a:pt x="25060" y="266791"/>
                  </a:lnTo>
                  <a:lnTo>
                    <a:pt x="51612" y="300812"/>
                  </a:lnTo>
                  <a:lnTo>
                    <a:pt x="85626" y="327358"/>
                  </a:lnTo>
                  <a:lnTo>
                    <a:pt x="125061" y="344838"/>
                  </a:lnTo>
                  <a:lnTo>
                    <a:pt x="167556" y="352213"/>
                  </a:lnTo>
                  <a:lnTo>
                    <a:pt x="176212" y="352425"/>
                  </a:lnTo>
                  <a:lnTo>
                    <a:pt x="1214437" y="352425"/>
                  </a:lnTo>
                  <a:lnTo>
                    <a:pt x="1257262" y="347141"/>
                  </a:lnTo>
                  <a:lnTo>
                    <a:pt x="1297508" y="331619"/>
                  </a:lnTo>
                  <a:lnTo>
                    <a:pt x="1332767" y="306783"/>
                  </a:lnTo>
                  <a:lnTo>
                    <a:pt x="1360957" y="274104"/>
                  </a:lnTo>
                  <a:lnTo>
                    <a:pt x="1380356" y="235562"/>
                  </a:lnTo>
                  <a:lnTo>
                    <a:pt x="1389802" y="193482"/>
                  </a:lnTo>
                  <a:lnTo>
                    <a:pt x="1390650" y="176212"/>
                  </a:lnTo>
                  <a:lnTo>
                    <a:pt x="1390438" y="167554"/>
                  </a:lnTo>
                  <a:lnTo>
                    <a:pt x="1383063" y="125061"/>
                  </a:lnTo>
                  <a:lnTo>
                    <a:pt x="1365589" y="85627"/>
                  </a:lnTo>
                  <a:lnTo>
                    <a:pt x="1339037" y="51612"/>
                  </a:lnTo>
                  <a:lnTo>
                    <a:pt x="1305023" y="25060"/>
                  </a:lnTo>
                  <a:lnTo>
                    <a:pt x="1265588" y="7580"/>
                  </a:lnTo>
                  <a:lnTo>
                    <a:pt x="1223093" y="211"/>
                  </a:lnTo>
                  <a:lnTo>
                    <a:pt x="1214437" y="0"/>
                  </a:lnTo>
                  <a:close/>
                </a:path>
              </a:pathLst>
            </a:custGeom>
            <a:solidFill>
              <a:srgbClr val="CFD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0065" y="4082808"/>
              <a:ext cx="145949" cy="15629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419850" y="3981450"/>
            <a:ext cx="2019300" cy="371475"/>
            <a:chOff x="6419850" y="3981450"/>
            <a:chExt cx="2019300" cy="371475"/>
          </a:xfrm>
        </p:grpSpPr>
        <p:sp>
          <p:nvSpPr>
            <p:cNvPr id="8" name="object 8"/>
            <p:cNvSpPr/>
            <p:nvPr/>
          </p:nvSpPr>
          <p:spPr>
            <a:xfrm>
              <a:off x="6424612" y="3986212"/>
              <a:ext cx="2009775" cy="361950"/>
            </a:xfrm>
            <a:custGeom>
              <a:avLst/>
              <a:gdLst/>
              <a:ahLst/>
              <a:cxnLst/>
              <a:rect l="l" t="t" r="r" b="b"/>
              <a:pathLst>
                <a:path w="2009775" h="361950">
                  <a:moveTo>
                    <a:pt x="0" y="180975"/>
                  </a:moveTo>
                  <a:lnTo>
                    <a:pt x="5424" y="136989"/>
                  </a:lnTo>
                  <a:lnTo>
                    <a:pt x="21370" y="95661"/>
                  </a:lnTo>
                  <a:lnTo>
                    <a:pt x="46873" y="59446"/>
                  </a:lnTo>
                  <a:lnTo>
                    <a:pt x="80429" y="30492"/>
                  </a:lnTo>
                  <a:lnTo>
                    <a:pt x="120015" y="10571"/>
                  </a:lnTo>
                  <a:lnTo>
                    <a:pt x="163236" y="868"/>
                  </a:lnTo>
                  <a:lnTo>
                    <a:pt x="180975" y="0"/>
                  </a:lnTo>
                  <a:lnTo>
                    <a:pt x="1828800" y="0"/>
                  </a:lnTo>
                  <a:lnTo>
                    <a:pt x="1872785" y="5424"/>
                  </a:lnTo>
                  <a:lnTo>
                    <a:pt x="1914113" y="21367"/>
                  </a:lnTo>
                  <a:lnTo>
                    <a:pt x="1950323" y="46873"/>
                  </a:lnTo>
                  <a:lnTo>
                    <a:pt x="1979269" y="80429"/>
                  </a:lnTo>
                  <a:lnTo>
                    <a:pt x="1999196" y="120015"/>
                  </a:lnTo>
                  <a:lnTo>
                    <a:pt x="2008906" y="163236"/>
                  </a:lnTo>
                  <a:lnTo>
                    <a:pt x="2009775" y="180975"/>
                  </a:lnTo>
                  <a:lnTo>
                    <a:pt x="2009558" y="189866"/>
                  </a:lnTo>
                  <a:lnTo>
                    <a:pt x="2001978" y="233511"/>
                  </a:lnTo>
                  <a:lnTo>
                    <a:pt x="1984029" y="274007"/>
                  </a:lnTo>
                  <a:lnTo>
                    <a:pt x="1956765" y="308940"/>
                  </a:lnTo>
                  <a:lnTo>
                    <a:pt x="1921832" y="336210"/>
                  </a:lnTo>
                  <a:lnTo>
                    <a:pt x="1881336" y="354153"/>
                  </a:lnTo>
                  <a:lnTo>
                    <a:pt x="1837692" y="361733"/>
                  </a:lnTo>
                  <a:lnTo>
                    <a:pt x="1828800" y="361950"/>
                  </a:lnTo>
                  <a:lnTo>
                    <a:pt x="180975" y="361950"/>
                  </a:lnTo>
                  <a:lnTo>
                    <a:pt x="136989" y="356519"/>
                  </a:lnTo>
                  <a:lnTo>
                    <a:pt x="95661" y="340580"/>
                  </a:lnTo>
                  <a:lnTo>
                    <a:pt x="59446" y="315076"/>
                  </a:lnTo>
                  <a:lnTo>
                    <a:pt x="30505" y="281520"/>
                  </a:lnTo>
                  <a:lnTo>
                    <a:pt x="10577" y="241934"/>
                  </a:lnTo>
                  <a:lnTo>
                    <a:pt x="868" y="198713"/>
                  </a:lnTo>
                  <a:lnTo>
                    <a:pt x="0" y="180975"/>
                  </a:lnTo>
                  <a:close/>
                </a:path>
              </a:pathLst>
            </a:custGeom>
            <a:ln w="9525">
              <a:solidFill>
                <a:srgbClr val="2D4D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2371" y="4082813"/>
              <a:ext cx="152187" cy="15636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264302" y="4057332"/>
            <a:ext cx="96774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20" dirty="0">
                <a:solidFill>
                  <a:srgbClr val="00002E"/>
                </a:solidFill>
                <a:latin typeface="Verdana"/>
                <a:cs typeface="Verdana"/>
              </a:rPr>
              <a:t>JANUARY</a:t>
            </a:r>
            <a:r>
              <a:rPr sz="1150" spc="-8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55" dirty="0">
                <a:solidFill>
                  <a:srgbClr val="00002E"/>
                </a:solidFill>
                <a:latin typeface="Verdana"/>
                <a:cs typeface="Verdana"/>
              </a:rPr>
              <a:t>2026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57492" y="4057332"/>
            <a:ext cx="156845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14" dirty="0">
                <a:solidFill>
                  <a:srgbClr val="2D4DF2"/>
                </a:solidFill>
                <a:latin typeface="Verdana"/>
                <a:cs typeface="Verdana"/>
              </a:rPr>
              <a:t>CLINICAL</a:t>
            </a:r>
            <a:r>
              <a:rPr sz="1150" spc="-110" dirty="0">
                <a:solidFill>
                  <a:srgbClr val="2D4DF2"/>
                </a:solidFill>
                <a:latin typeface="Verdana"/>
                <a:cs typeface="Verdana"/>
              </a:rPr>
              <a:t> </a:t>
            </a:r>
            <a:r>
              <a:rPr sz="1150" spc="-50" dirty="0">
                <a:solidFill>
                  <a:srgbClr val="2D4DF2"/>
                </a:solidFill>
                <a:latin typeface="Verdana"/>
                <a:cs typeface="Verdana"/>
              </a:rPr>
              <a:t>ML</a:t>
            </a:r>
            <a:r>
              <a:rPr sz="1150" spc="-105" dirty="0">
                <a:solidFill>
                  <a:srgbClr val="2D4DF2"/>
                </a:solidFill>
                <a:latin typeface="Verdana"/>
                <a:cs typeface="Verdana"/>
              </a:rPr>
              <a:t> RESEARCH</a:t>
            </a:r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spc="135" dirty="0"/>
              <a:t>What</a:t>
            </a:r>
            <a:r>
              <a:rPr sz="2400" spc="-80" dirty="0"/>
              <a:t> </a:t>
            </a:r>
            <a:r>
              <a:rPr sz="2400" spc="160" dirty="0"/>
              <a:t>We</a:t>
            </a:r>
            <a:r>
              <a:rPr sz="2400" spc="-75" dirty="0"/>
              <a:t> </a:t>
            </a:r>
            <a:r>
              <a:rPr sz="2400" spc="-10" dirty="0"/>
              <a:t>Accomplished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657224" y="1228724"/>
            <a:ext cx="3314700" cy="1066800"/>
            <a:chOff x="657224" y="1228724"/>
            <a:chExt cx="3314700" cy="1066800"/>
          </a:xfrm>
        </p:grpSpPr>
        <p:sp>
          <p:nvSpPr>
            <p:cNvPr id="4" name="object 4"/>
            <p:cNvSpPr/>
            <p:nvPr/>
          </p:nvSpPr>
          <p:spPr>
            <a:xfrm>
              <a:off x="661987" y="1233487"/>
              <a:ext cx="3305175" cy="1057275"/>
            </a:xfrm>
            <a:custGeom>
              <a:avLst/>
              <a:gdLst/>
              <a:ahLst/>
              <a:cxnLst/>
              <a:rect l="l" t="t" r="r" b="b"/>
              <a:pathLst>
                <a:path w="3305175" h="1057275">
                  <a:moveTo>
                    <a:pt x="3146297" y="1057274"/>
                  </a:moveTo>
                  <a:lnTo>
                    <a:pt x="158876" y="1057274"/>
                  </a:lnTo>
                  <a:lnTo>
                    <a:pt x="151071" y="1057083"/>
                  </a:lnTo>
                  <a:lnTo>
                    <a:pt x="112756" y="1050435"/>
                  </a:lnTo>
                  <a:lnTo>
                    <a:pt x="77205" y="1034676"/>
                  </a:lnTo>
                  <a:lnTo>
                    <a:pt x="46533" y="1010740"/>
                  </a:lnTo>
                  <a:lnTo>
                    <a:pt x="22597" y="980069"/>
                  </a:lnTo>
                  <a:lnTo>
                    <a:pt x="6839" y="944517"/>
                  </a:lnTo>
                  <a:lnTo>
                    <a:pt x="190" y="906203"/>
                  </a:lnTo>
                  <a:lnTo>
                    <a:pt x="0" y="898398"/>
                  </a:lnTo>
                  <a:lnTo>
                    <a:pt x="0" y="158876"/>
                  </a:lnTo>
                  <a:lnTo>
                    <a:pt x="4762" y="120263"/>
                  </a:lnTo>
                  <a:lnTo>
                    <a:pt x="18758" y="83981"/>
                  </a:lnTo>
                  <a:lnTo>
                    <a:pt x="41149" y="52187"/>
                  </a:lnTo>
                  <a:lnTo>
                    <a:pt x="70609" y="26775"/>
                  </a:lnTo>
                  <a:lnTo>
                    <a:pt x="105361" y="9283"/>
                  </a:lnTo>
                  <a:lnTo>
                    <a:pt x="143303" y="763"/>
                  </a:lnTo>
                  <a:lnTo>
                    <a:pt x="158876" y="0"/>
                  </a:lnTo>
                  <a:lnTo>
                    <a:pt x="3146297" y="0"/>
                  </a:lnTo>
                  <a:lnTo>
                    <a:pt x="3184910" y="4762"/>
                  </a:lnTo>
                  <a:lnTo>
                    <a:pt x="3221192" y="18758"/>
                  </a:lnTo>
                  <a:lnTo>
                    <a:pt x="3252986" y="41149"/>
                  </a:lnTo>
                  <a:lnTo>
                    <a:pt x="3278398" y="70609"/>
                  </a:lnTo>
                  <a:lnTo>
                    <a:pt x="3295891" y="105361"/>
                  </a:lnTo>
                  <a:lnTo>
                    <a:pt x="3304411" y="143303"/>
                  </a:lnTo>
                  <a:lnTo>
                    <a:pt x="3305174" y="158876"/>
                  </a:lnTo>
                  <a:lnTo>
                    <a:pt x="3305174" y="898398"/>
                  </a:lnTo>
                  <a:lnTo>
                    <a:pt x="3300411" y="937011"/>
                  </a:lnTo>
                  <a:lnTo>
                    <a:pt x="3286416" y="973292"/>
                  </a:lnTo>
                  <a:lnTo>
                    <a:pt x="3264024" y="1005086"/>
                  </a:lnTo>
                  <a:lnTo>
                    <a:pt x="3234564" y="1030498"/>
                  </a:lnTo>
                  <a:lnTo>
                    <a:pt x="3199812" y="1047991"/>
                  </a:lnTo>
                  <a:lnTo>
                    <a:pt x="3161870" y="1056511"/>
                  </a:lnTo>
                  <a:lnTo>
                    <a:pt x="3146297" y="1057274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1987" y="1233487"/>
              <a:ext cx="3305175" cy="1057275"/>
            </a:xfrm>
            <a:custGeom>
              <a:avLst/>
              <a:gdLst/>
              <a:ahLst/>
              <a:cxnLst/>
              <a:rect l="l" t="t" r="r" b="b"/>
              <a:pathLst>
                <a:path w="3305175" h="1057275">
                  <a:moveTo>
                    <a:pt x="0" y="898398"/>
                  </a:moveTo>
                  <a:lnTo>
                    <a:pt x="0" y="158876"/>
                  </a:lnTo>
                  <a:lnTo>
                    <a:pt x="190" y="151071"/>
                  </a:lnTo>
                  <a:lnTo>
                    <a:pt x="6839" y="112756"/>
                  </a:lnTo>
                  <a:lnTo>
                    <a:pt x="22597" y="77205"/>
                  </a:lnTo>
                  <a:lnTo>
                    <a:pt x="46533" y="46533"/>
                  </a:lnTo>
                  <a:lnTo>
                    <a:pt x="77205" y="22597"/>
                  </a:lnTo>
                  <a:lnTo>
                    <a:pt x="112756" y="6839"/>
                  </a:lnTo>
                  <a:lnTo>
                    <a:pt x="151071" y="190"/>
                  </a:lnTo>
                  <a:lnTo>
                    <a:pt x="158876" y="0"/>
                  </a:lnTo>
                  <a:lnTo>
                    <a:pt x="3146297" y="0"/>
                  </a:lnTo>
                  <a:lnTo>
                    <a:pt x="3184910" y="4762"/>
                  </a:lnTo>
                  <a:lnTo>
                    <a:pt x="3221192" y="18758"/>
                  </a:lnTo>
                  <a:lnTo>
                    <a:pt x="3252986" y="41149"/>
                  </a:lnTo>
                  <a:lnTo>
                    <a:pt x="3278398" y="70609"/>
                  </a:lnTo>
                  <a:lnTo>
                    <a:pt x="3295891" y="105361"/>
                  </a:lnTo>
                  <a:lnTo>
                    <a:pt x="3304411" y="143303"/>
                  </a:lnTo>
                  <a:lnTo>
                    <a:pt x="3305174" y="158876"/>
                  </a:lnTo>
                  <a:lnTo>
                    <a:pt x="3305174" y="898398"/>
                  </a:lnTo>
                  <a:lnTo>
                    <a:pt x="3300411" y="937011"/>
                  </a:lnTo>
                  <a:lnTo>
                    <a:pt x="3286416" y="973292"/>
                  </a:lnTo>
                  <a:lnTo>
                    <a:pt x="3264024" y="1005086"/>
                  </a:lnTo>
                  <a:lnTo>
                    <a:pt x="3234564" y="1030498"/>
                  </a:lnTo>
                  <a:lnTo>
                    <a:pt x="3199812" y="1047991"/>
                  </a:lnTo>
                  <a:lnTo>
                    <a:pt x="3161870" y="1056511"/>
                  </a:lnTo>
                  <a:lnTo>
                    <a:pt x="3146297" y="1057274"/>
                  </a:lnTo>
                  <a:lnTo>
                    <a:pt x="158876" y="1057274"/>
                  </a:lnTo>
                  <a:lnTo>
                    <a:pt x="120263" y="1052512"/>
                  </a:lnTo>
                  <a:lnTo>
                    <a:pt x="83981" y="1038516"/>
                  </a:lnTo>
                  <a:lnTo>
                    <a:pt x="52187" y="1016124"/>
                  </a:lnTo>
                  <a:lnTo>
                    <a:pt x="26775" y="986664"/>
                  </a:lnTo>
                  <a:lnTo>
                    <a:pt x="9283" y="951913"/>
                  </a:lnTo>
                  <a:lnTo>
                    <a:pt x="763" y="913970"/>
                  </a:lnTo>
                  <a:lnTo>
                    <a:pt x="0" y="898398"/>
                  </a:lnTo>
                  <a:close/>
                </a:path>
              </a:pathLst>
            </a:custGeom>
            <a:ln w="9524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2190" y="1257916"/>
            <a:ext cx="2885440" cy="8864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200" b="1" spc="-10" dirty="0">
                <a:solidFill>
                  <a:srgbClr val="00002E"/>
                </a:solidFill>
                <a:latin typeface="Trebuchet MS"/>
                <a:cs typeface="Trebuchet MS"/>
              </a:rPr>
              <a:t>Complete</a:t>
            </a:r>
            <a:r>
              <a:rPr sz="1200" b="1" spc="-25" dirty="0">
                <a:solidFill>
                  <a:srgbClr val="00002E"/>
                </a:solidFill>
                <a:latin typeface="Trebuchet MS"/>
                <a:cs typeface="Trebuchet MS"/>
              </a:rPr>
              <a:t> Pipeline </a:t>
            </a:r>
            <a:r>
              <a:rPr sz="1200" b="1" spc="-10" dirty="0">
                <a:solidFill>
                  <a:srgbClr val="00002E"/>
                </a:solidFill>
                <a:latin typeface="Trebuchet MS"/>
                <a:cs typeface="Trebuchet MS"/>
              </a:rPr>
              <a:t>Execution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15599"/>
              </a:lnSpc>
              <a:spcBef>
                <a:spcPts val="445"/>
              </a:spcBef>
            </a:pPr>
            <a:r>
              <a:rPr sz="1000" spc="-80" dirty="0">
                <a:solidFill>
                  <a:srgbClr val="00002E"/>
                </a:solidFill>
                <a:latin typeface="Verdana"/>
                <a:cs typeface="Verdana"/>
              </a:rPr>
              <a:t>Successfully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90" dirty="0">
                <a:solidFill>
                  <a:srgbClr val="00002E"/>
                </a:solidFill>
                <a:latin typeface="Verdana"/>
                <a:cs typeface="Verdana"/>
              </a:rPr>
              <a:t>executed</a:t>
            </a:r>
            <a:r>
              <a:rPr sz="100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90" dirty="0">
                <a:solidFill>
                  <a:srgbClr val="00002E"/>
                </a:solidFill>
                <a:latin typeface="Verdana"/>
                <a:cs typeface="Verdana"/>
              </a:rPr>
              <a:t>end-</a:t>
            </a:r>
            <a:r>
              <a:rPr sz="1000" spc="-80" dirty="0">
                <a:solidFill>
                  <a:srgbClr val="00002E"/>
                </a:solidFill>
                <a:latin typeface="Verdana"/>
                <a:cs typeface="Verdana"/>
              </a:rPr>
              <a:t>to-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end</a:t>
            </a:r>
            <a:r>
              <a:rPr sz="1000" spc="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95" dirty="0">
                <a:solidFill>
                  <a:srgbClr val="00002E"/>
                </a:solidFill>
                <a:latin typeface="Verdana"/>
                <a:cs typeface="Verdana"/>
              </a:rPr>
              <a:t>ETHOS-</a:t>
            </a:r>
            <a:r>
              <a:rPr sz="1000" spc="-20" dirty="0">
                <a:solidFill>
                  <a:srgbClr val="00002E"/>
                </a:solidFill>
                <a:latin typeface="Verdana"/>
                <a:cs typeface="Verdana"/>
              </a:rPr>
              <a:t>ARES 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machine</a:t>
            </a:r>
            <a:r>
              <a:rPr sz="10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65" dirty="0">
                <a:solidFill>
                  <a:srgbClr val="00002E"/>
                </a:solidFill>
                <a:latin typeface="Verdana"/>
                <a:cs typeface="Verdana"/>
              </a:rPr>
              <a:t>learning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55" dirty="0">
                <a:solidFill>
                  <a:srgbClr val="00002E"/>
                </a:solidFill>
                <a:latin typeface="Verdana"/>
                <a:cs typeface="Verdana"/>
              </a:rPr>
              <a:t>pipeline</a:t>
            </a:r>
            <a:r>
              <a:rPr sz="10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from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raw</a:t>
            </a:r>
            <a:r>
              <a:rPr sz="1000" spc="-7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40" dirty="0">
                <a:solidFill>
                  <a:srgbClr val="00002E"/>
                </a:solidFill>
                <a:latin typeface="Verdana"/>
                <a:cs typeface="Verdana"/>
              </a:rPr>
              <a:t>clinical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data</a:t>
            </a:r>
            <a:r>
              <a:rPr sz="10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00002E"/>
                </a:solidFill>
                <a:latin typeface="Verdana"/>
                <a:cs typeface="Verdana"/>
              </a:rPr>
              <a:t>to </a:t>
            </a:r>
            <a:r>
              <a:rPr sz="1000" spc="-10" dirty="0">
                <a:solidFill>
                  <a:srgbClr val="00002E"/>
                </a:solidFill>
                <a:latin typeface="Verdana"/>
                <a:cs typeface="Verdana"/>
              </a:rPr>
              <a:t>predictions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57649" y="1228724"/>
            <a:ext cx="3314700" cy="1066800"/>
            <a:chOff x="4057649" y="1228724"/>
            <a:chExt cx="3314700" cy="1066800"/>
          </a:xfrm>
        </p:grpSpPr>
        <p:sp>
          <p:nvSpPr>
            <p:cNvPr id="8" name="object 8"/>
            <p:cNvSpPr/>
            <p:nvPr/>
          </p:nvSpPr>
          <p:spPr>
            <a:xfrm>
              <a:off x="4062412" y="1233487"/>
              <a:ext cx="3305175" cy="1057275"/>
            </a:xfrm>
            <a:custGeom>
              <a:avLst/>
              <a:gdLst/>
              <a:ahLst/>
              <a:cxnLst/>
              <a:rect l="l" t="t" r="r" b="b"/>
              <a:pathLst>
                <a:path w="3305175" h="1057275">
                  <a:moveTo>
                    <a:pt x="3146297" y="1057274"/>
                  </a:moveTo>
                  <a:lnTo>
                    <a:pt x="158876" y="1057274"/>
                  </a:lnTo>
                  <a:lnTo>
                    <a:pt x="151071" y="1057083"/>
                  </a:lnTo>
                  <a:lnTo>
                    <a:pt x="112756" y="1050435"/>
                  </a:lnTo>
                  <a:lnTo>
                    <a:pt x="77204" y="1034676"/>
                  </a:lnTo>
                  <a:lnTo>
                    <a:pt x="46533" y="1010740"/>
                  </a:lnTo>
                  <a:lnTo>
                    <a:pt x="22597" y="980069"/>
                  </a:lnTo>
                  <a:lnTo>
                    <a:pt x="6838" y="944517"/>
                  </a:lnTo>
                  <a:lnTo>
                    <a:pt x="190" y="906203"/>
                  </a:lnTo>
                  <a:lnTo>
                    <a:pt x="0" y="898398"/>
                  </a:lnTo>
                  <a:lnTo>
                    <a:pt x="0" y="158876"/>
                  </a:lnTo>
                  <a:lnTo>
                    <a:pt x="4762" y="120263"/>
                  </a:lnTo>
                  <a:lnTo>
                    <a:pt x="18757" y="83981"/>
                  </a:lnTo>
                  <a:lnTo>
                    <a:pt x="41149" y="52187"/>
                  </a:lnTo>
                  <a:lnTo>
                    <a:pt x="70609" y="26775"/>
                  </a:lnTo>
                  <a:lnTo>
                    <a:pt x="105360" y="9283"/>
                  </a:lnTo>
                  <a:lnTo>
                    <a:pt x="143303" y="763"/>
                  </a:lnTo>
                  <a:lnTo>
                    <a:pt x="158876" y="0"/>
                  </a:lnTo>
                  <a:lnTo>
                    <a:pt x="3146297" y="0"/>
                  </a:lnTo>
                  <a:lnTo>
                    <a:pt x="3184910" y="4762"/>
                  </a:lnTo>
                  <a:lnTo>
                    <a:pt x="3221191" y="18758"/>
                  </a:lnTo>
                  <a:lnTo>
                    <a:pt x="3252986" y="41149"/>
                  </a:lnTo>
                  <a:lnTo>
                    <a:pt x="3278399" y="70609"/>
                  </a:lnTo>
                  <a:lnTo>
                    <a:pt x="3295890" y="105361"/>
                  </a:lnTo>
                  <a:lnTo>
                    <a:pt x="3304411" y="143303"/>
                  </a:lnTo>
                  <a:lnTo>
                    <a:pt x="3305174" y="158876"/>
                  </a:lnTo>
                  <a:lnTo>
                    <a:pt x="3305174" y="898398"/>
                  </a:lnTo>
                  <a:lnTo>
                    <a:pt x="3300411" y="937011"/>
                  </a:lnTo>
                  <a:lnTo>
                    <a:pt x="3286415" y="973292"/>
                  </a:lnTo>
                  <a:lnTo>
                    <a:pt x="3264024" y="1005086"/>
                  </a:lnTo>
                  <a:lnTo>
                    <a:pt x="3234564" y="1030498"/>
                  </a:lnTo>
                  <a:lnTo>
                    <a:pt x="3199812" y="1047991"/>
                  </a:lnTo>
                  <a:lnTo>
                    <a:pt x="3161870" y="1056511"/>
                  </a:lnTo>
                  <a:lnTo>
                    <a:pt x="3146297" y="1057274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62412" y="1233487"/>
              <a:ext cx="3305175" cy="1057275"/>
            </a:xfrm>
            <a:custGeom>
              <a:avLst/>
              <a:gdLst/>
              <a:ahLst/>
              <a:cxnLst/>
              <a:rect l="l" t="t" r="r" b="b"/>
              <a:pathLst>
                <a:path w="3305175" h="1057275">
                  <a:moveTo>
                    <a:pt x="0" y="898398"/>
                  </a:moveTo>
                  <a:lnTo>
                    <a:pt x="0" y="158876"/>
                  </a:lnTo>
                  <a:lnTo>
                    <a:pt x="190" y="151071"/>
                  </a:lnTo>
                  <a:lnTo>
                    <a:pt x="6839" y="112756"/>
                  </a:lnTo>
                  <a:lnTo>
                    <a:pt x="22597" y="77205"/>
                  </a:lnTo>
                  <a:lnTo>
                    <a:pt x="46533" y="46533"/>
                  </a:lnTo>
                  <a:lnTo>
                    <a:pt x="77204" y="22597"/>
                  </a:lnTo>
                  <a:lnTo>
                    <a:pt x="112755" y="6839"/>
                  </a:lnTo>
                  <a:lnTo>
                    <a:pt x="151071" y="190"/>
                  </a:lnTo>
                  <a:lnTo>
                    <a:pt x="158876" y="0"/>
                  </a:lnTo>
                  <a:lnTo>
                    <a:pt x="3146297" y="0"/>
                  </a:lnTo>
                  <a:lnTo>
                    <a:pt x="3184910" y="4762"/>
                  </a:lnTo>
                  <a:lnTo>
                    <a:pt x="3221191" y="18758"/>
                  </a:lnTo>
                  <a:lnTo>
                    <a:pt x="3252986" y="41149"/>
                  </a:lnTo>
                  <a:lnTo>
                    <a:pt x="3278399" y="70609"/>
                  </a:lnTo>
                  <a:lnTo>
                    <a:pt x="3295890" y="105361"/>
                  </a:lnTo>
                  <a:lnTo>
                    <a:pt x="3304411" y="143303"/>
                  </a:lnTo>
                  <a:lnTo>
                    <a:pt x="3305174" y="158876"/>
                  </a:lnTo>
                  <a:lnTo>
                    <a:pt x="3305174" y="898398"/>
                  </a:lnTo>
                  <a:lnTo>
                    <a:pt x="3300411" y="937011"/>
                  </a:lnTo>
                  <a:lnTo>
                    <a:pt x="3286415" y="973292"/>
                  </a:lnTo>
                  <a:lnTo>
                    <a:pt x="3264024" y="1005086"/>
                  </a:lnTo>
                  <a:lnTo>
                    <a:pt x="3234564" y="1030498"/>
                  </a:lnTo>
                  <a:lnTo>
                    <a:pt x="3199812" y="1047991"/>
                  </a:lnTo>
                  <a:lnTo>
                    <a:pt x="3161870" y="1056511"/>
                  </a:lnTo>
                  <a:lnTo>
                    <a:pt x="3146297" y="1057274"/>
                  </a:lnTo>
                  <a:lnTo>
                    <a:pt x="158876" y="1057274"/>
                  </a:lnTo>
                  <a:lnTo>
                    <a:pt x="120263" y="1052512"/>
                  </a:lnTo>
                  <a:lnTo>
                    <a:pt x="83981" y="1038516"/>
                  </a:lnTo>
                  <a:lnTo>
                    <a:pt x="52187" y="1016124"/>
                  </a:lnTo>
                  <a:lnTo>
                    <a:pt x="26775" y="986664"/>
                  </a:lnTo>
                  <a:lnTo>
                    <a:pt x="9282" y="951913"/>
                  </a:lnTo>
                  <a:lnTo>
                    <a:pt x="763" y="913970"/>
                  </a:lnTo>
                  <a:lnTo>
                    <a:pt x="0" y="898398"/>
                  </a:lnTo>
                  <a:close/>
                </a:path>
              </a:pathLst>
            </a:custGeom>
            <a:ln w="9524">
              <a:solidFill>
                <a:srgbClr val="008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86336" y="1257916"/>
            <a:ext cx="2854325" cy="8864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200" b="1" spc="55" dirty="0">
                <a:solidFill>
                  <a:srgbClr val="00002E"/>
                </a:solidFill>
                <a:latin typeface="Trebuchet MS"/>
                <a:cs typeface="Trebuchet MS"/>
              </a:rPr>
              <a:t>MIMIC-</a:t>
            </a:r>
            <a:r>
              <a:rPr sz="1200" b="1" dirty="0">
                <a:solidFill>
                  <a:srgbClr val="00002E"/>
                </a:solidFill>
                <a:latin typeface="Trebuchet MS"/>
                <a:cs typeface="Trebuchet MS"/>
              </a:rPr>
              <a:t>IV</a:t>
            </a:r>
            <a:r>
              <a:rPr sz="1200" b="1" spc="4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00002E"/>
                </a:solidFill>
                <a:latin typeface="Trebuchet MS"/>
                <a:cs typeface="Trebuchet MS"/>
              </a:rPr>
              <a:t>Processing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15599"/>
              </a:lnSpc>
              <a:spcBef>
                <a:spcPts val="445"/>
              </a:spcBef>
            </a:pPr>
            <a:r>
              <a:rPr sz="1000" spc="-90" dirty="0">
                <a:solidFill>
                  <a:srgbClr val="00002E"/>
                </a:solidFill>
                <a:latin typeface="Verdana"/>
                <a:cs typeface="Verdana"/>
              </a:rPr>
              <a:t>Processed</a:t>
            </a:r>
            <a:r>
              <a:rPr sz="10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395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75" dirty="0">
                <a:solidFill>
                  <a:srgbClr val="00002E"/>
                </a:solidFill>
                <a:latin typeface="Verdana"/>
                <a:cs typeface="Verdana"/>
              </a:rPr>
              <a:t>patients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0" dirty="0">
                <a:solidFill>
                  <a:srgbClr val="00002E"/>
                </a:solidFill>
                <a:latin typeface="Verdana"/>
                <a:cs typeface="Verdana"/>
              </a:rPr>
              <a:t>through</a:t>
            </a:r>
            <a:r>
              <a:rPr sz="10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7</a:t>
            </a:r>
            <a:r>
              <a:rPr sz="1000" spc="-10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100" dirty="0">
                <a:solidFill>
                  <a:srgbClr val="00002E"/>
                </a:solidFill>
                <a:latin typeface="Verdana"/>
                <a:cs typeface="Verdana"/>
              </a:rPr>
              <a:t>MEDS</a:t>
            </a:r>
            <a:r>
              <a:rPr sz="1000" spc="-50" dirty="0">
                <a:solidFill>
                  <a:srgbClr val="00002E"/>
                </a:solidFill>
                <a:latin typeface="Verdana"/>
                <a:cs typeface="Verdana"/>
              </a:rPr>
              <a:t> extraction </a:t>
            </a:r>
            <a:r>
              <a:rPr sz="1000" spc="-90" dirty="0">
                <a:solidFill>
                  <a:srgbClr val="00002E"/>
                </a:solidFill>
                <a:latin typeface="Verdana"/>
                <a:cs typeface="Verdana"/>
              </a:rPr>
              <a:t>stages</a:t>
            </a:r>
            <a:r>
              <a:rPr sz="10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90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0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17</a:t>
            </a:r>
            <a:r>
              <a:rPr sz="1000" spc="-1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70" dirty="0">
                <a:solidFill>
                  <a:srgbClr val="00002E"/>
                </a:solidFill>
                <a:latin typeface="Verdana"/>
                <a:cs typeface="Verdana"/>
              </a:rPr>
              <a:t>tokenization</a:t>
            </a:r>
            <a:r>
              <a:rPr sz="10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90" dirty="0">
                <a:solidFill>
                  <a:srgbClr val="00002E"/>
                </a:solidFill>
                <a:latin typeface="Verdana"/>
                <a:cs typeface="Verdana"/>
              </a:rPr>
              <a:t>stages</a:t>
            </a:r>
            <a:r>
              <a:rPr sz="10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5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0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00002E"/>
                </a:solidFill>
                <a:latin typeface="Verdana"/>
                <a:cs typeface="Verdana"/>
              </a:rPr>
              <a:t>custom adaptations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67599" y="1228724"/>
            <a:ext cx="3305175" cy="1066800"/>
            <a:chOff x="7467599" y="1228724"/>
            <a:chExt cx="3305175" cy="1066800"/>
          </a:xfrm>
        </p:grpSpPr>
        <p:sp>
          <p:nvSpPr>
            <p:cNvPr id="12" name="object 12"/>
            <p:cNvSpPr/>
            <p:nvPr/>
          </p:nvSpPr>
          <p:spPr>
            <a:xfrm>
              <a:off x="7472361" y="1233487"/>
              <a:ext cx="3295650" cy="1057275"/>
            </a:xfrm>
            <a:custGeom>
              <a:avLst/>
              <a:gdLst/>
              <a:ahLst/>
              <a:cxnLst/>
              <a:rect l="l" t="t" r="r" b="b"/>
              <a:pathLst>
                <a:path w="3295650" h="1057275">
                  <a:moveTo>
                    <a:pt x="3136773" y="1057274"/>
                  </a:moveTo>
                  <a:lnTo>
                    <a:pt x="158876" y="1057274"/>
                  </a:lnTo>
                  <a:lnTo>
                    <a:pt x="151071" y="1057083"/>
                  </a:lnTo>
                  <a:lnTo>
                    <a:pt x="112756" y="1050435"/>
                  </a:lnTo>
                  <a:lnTo>
                    <a:pt x="77204" y="1034676"/>
                  </a:lnTo>
                  <a:lnTo>
                    <a:pt x="46533" y="1010740"/>
                  </a:lnTo>
                  <a:lnTo>
                    <a:pt x="22596" y="980069"/>
                  </a:lnTo>
                  <a:lnTo>
                    <a:pt x="6838" y="944517"/>
                  </a:lnTo>
                  <a:lnTo>
                    <a:pt x="190" y="906203"/>
                  </a:lnTo>
                  <a:lnTo>
                    <a:pt x="0" y="898398"/>
                  </a:lnTo>
                  <a:lnTo>
                    <a:pt x="0" y="158876"/>
                  </a:lnTo>
                  <a:lnTo>
                    <a:pt x="4761" y="120263"/>
                  </a:lnTo>
                  <a:lnTo>
                    <a:pt x="18757" y="83981"/>
                  </a:lnTo>
                  <a:lnTo>
                    <a:pt x="41149" y="52187"/>
                  </a:lnTo>
                  <a:lnTo>
                    <a:pt x="70608" y="26775"/>
                  </a:lnTo>
                  <a:lnTo>
                    <a:pt x="105360" y="9283"/>
                  </a:lnTo>
                  <a:lnTo>
                    <a:pt x="143303" y="763"/>
                  </a:lnTo>
                  <a:lnTo>
                    <a:pt x="158876" y="0"/>
                  </a:lnTo>
                  <a:lnTo>
                    <a:pt x="3136773" y="0"/>
                  </a:lnTo>
                  <a:lnTo>
                    <a:pt x="3175385" y="4762"/>
                  </a:lnTo>
                  <a:lnTo>
                    <a:pt x="3211666" y="18758"/>
                  </a:lnTo>
                  <a:lnTo>
                    <a:pt x="3243460" y="41149"/>
                  </a:lnTo>
                  <a:lnTo>
                    <a:pt x="3268872" y="70609"/>
                  </a:lnTo>
                  <a:lnTo>
                    <a:pt x="3286364" y="105361"/>
                  </a:lnTo>
                  <a:lnTo>
                    <a:pt x="3294886" y="143303"/>
                  </a:lnTo>
                  <a:lnTo>
                    <a:pt x="3295649" y="158876"/>
                  </a:lnTo>
                  <a:lnTo>
                    <a:pt x="3295649" y="898398"/>
                  </a:lnTo>
                  <a:lnTo>
                    <a:pt x="3290886" y="937011"/>
                  </a:lnTo>
                  <a:lnTo>
                    <a:pt x="3276889" y="973292"/>
                  </a:lnTo>
                  <a:lnTo>
                    <a:pt x="3254498" y="1005086"/>
                  </a:lnTo>
                  <a:lnTo>
                    <a:pt x="3225038" y="1030498"/>
                  </a:lnTo>
                  <a:lnTo>
                    <a:pt x="3190287" y="1047991"/>
                  </a:lnTo>
                  <a:lnTo>
                    <a:pt x="3152346" y="1056511"/>
                  </a:lnTo>
                  <a:lnTo>
                    <a:pt x="3136773" y="1057274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72361" y="1233487"/>
              <a:ext cx="3295650" cy="1057275"/>
            </a:xfrm>
            <a:custGeom>
              <a:avLst/>
              <a:gdLst/>
              <a:ahLst/>
              <a:cxnLst/>
              <a:rect l="l" t="t" r="r" b="b"/>
              <a:pathLst>
                <a:path w="3295650" h="1057275">
                  <a:moveTo>
                    <a:pt x="0" y="898398"/>
                  </a:moveTo>
                  <a:lnTo>
                    <a:pt x="0" y="158876"/>
                  </a:lnTo>
                  <a:lnTo>
                    <a:pt x="190" y="151071"/>
                  </a:lnTo>
                  <a:lnTo>
                    <a:pt x="6838" y="112756"/>
                  </a:lnTo>
                  <a:lnTo>
                    <a:pt x="22597" y="77205"/>
                  </a:lnTo>
                  <a:lnTo>
                    <a:pt x="46533" y="46533"/>
                  </a:lnTo>
                  <a:lnTo>
                    <a:pt x="77203" y="22597"/>
                  </a:lnTo>
                  <a:lnTo>
                    <a:pt x="112755" y="6839"/>
                  </a:lnTo>
                  <a:lnTo>
                    <a:pt x="151071" y="190"/>
                  </a:lnTo>
                  <a:lnTo>
                    <a:pt x="158876" y="0"/>
                  </a:lnTo>
                  <a:lnTo>
                    <a:pt x="3136773" y="0"/>
                  </a:lnTo>
                  <a:lnTo>
                    <a:pt x="3175385" y="4762"/>
                  </a:lnTo>
                  <a:lnTo>
                    <a:pt x="3211666" y="18758"/>
                  </a:lnTo>
                  <a:lnTo>
                    <a:pt x="3243460" y="41149"/>
                  </a:lnTo>
                  <a:lnTo>
                    <a:pt x="3268872" y="70609"/>
                  </a:lnTo>
                  <a:lnTo>
                    <a:pt x="3286364" y="105361"/>
                  </a:lnTo>
                  <a:lnTo>
                    <a:pt x="3294886" y="143303"/>
                  </a:lnTo>
                  <a:lnTo>
                    <a:pt x="3295649" y="158876"/>
                  </a:lnTo>
                  <a:lnTo>
                    <a:pt x="3295649" y="898398"/>
                  </a:lnTo>
                  <a:lnTo>
                    <a:pt x="3290886" y="937011"/>
                  </a:lnTo>
                  <a:lnTo>
                    <a:pt x="3276889" y="973292"/>
                  </a:lnTo>
                  <a:lnTo>
                    <a:pt x="3254498" y="1005086"/>
                  </a:lnTo>
                  <a:lnTo>
                    <a:pt x="3225038" y="1030498"/>
                  </a:lnTo>
                  <a:lnTo>
                    <a:pt x="3190287" y="1047991"/>
                  </a:lnTo>
                  <a:lnTo>
                    <a:pt x="3152346" y="1056511"/>
                  </a:lnTo>
                  <a:lnTo>
                    <a:pt x="3136773" y="1057274"/>
                  </a:lnTo>
                  <a:lnTo>
                    <a:pt x="158876" y="1057274"/>
                  </a:lnTo>
                  <a:lnTo>
                    <a:pt x="120262" y="1052512"/>
                  </a:lnTo>
                  <a:lnTo>
                    <a:pt x="83980" y="1038516"/>
                  </a:lnTo>
                  <a:lnTo>
                    <a:pt x="52187" y="1016124"/>
                  </a:lnTo>
                  <a:lnTo>
                    <a:pt x="26774" y="986664"/>
                  </a:lnTo>
                  <a:lnTo>
                    <a:pt x="9282" y="951913"/>
                  </a:lnTo>
                  <a:lnTo>
                    <a:pt x="763" y="913970"/>
                  </a:lnTo>
                  <a:lnTo>
                    <a:pt x="0" y="898398"/>
                  </a:lnTo>
                  <a:close/>
                </a:path>
              </a:pathLst>
            </a:custGeom>
            <a:ln w="9524">
              <a:solidFill>
                <a:srgbClr val="D93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590482" y="1257916"/>
            <a:ext cx="2926080" cy="71501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200" b="1" spc="70" dirty="0">
                <a:solidFill>
                  <a:srgbClr val="00002E"/>
                </a:solidFill>
                <a:latin typeface="Trebuchet MS"/>
                <a:cs typeface="Trebuchet MS"/>
              </a:rPr>
              <a:t>GPU</a:t>
            </a:r>
            <a:r>
              <a:rPr sz="1200" b="1" spc="1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00002E"/>
                </a:solidFill>
                <a:latin typeface="Trebuchet MS"/>
                <a:cs typeface="Trebuchet MS"/>
              </a:rPr>
              <a:t>Model</a:t>
            </a:r>
            <a:r>
              <a:rPr sz="1200" b="1" spc="1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00002E"/>
                </a:solidFill>
                <a:latin typeface="Trebuchet MS"/>
                <a:cs typeface="Trebuchet MS"/>
              </a:rPr>
              <a:t>Training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18800"/>
              </a:lnSpc>
              <a:spcBef>
                <a:spcPts val="409"/>
              </a:spcBef>
            </a:pPr>
            <a:r>
              <a:rPr sz="1000" spc="-90" dirty="0">
                <a:solidFill>
                  <a:srgbClr val="00002E"/>
                </a:solidFill>
                <a:latin typeface="Verdana"/>
                <a:cs typeface="Verdana"/>
              </a:rPr>
              <a:t>Trained</a:t>
            </a:r>
            <a:r>
              <a:rPr sz="100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90" dirty="0">
                <a:solidFill>
                  <a:srgbClr val="00002E"/>
                </a:solidFill>
                <a:latin typeface="Verdana"/>
                <a:cs typeface="Verdana"/>
              </a:rPr>
              <a:t>0.41M</a:t>
            </a:r>
            <a:r>
              <a:rPr sz="100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95" dirty="0">
                <a:solidFill>
                  <a:srgbClr val="00002E"/>
                </a:solidFill>
                <a:latin typeface="Verdana"/>
                <a:cs typeface="Verdana"/>
              </a:rPr>
              <a:t>parameter</a:t>
            </a:r>
            <a:r>
              <a:rPr sz="100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90" dirty="0">
                <a:solidFill>
                  <a:srgbClr val="00002E"/>
                </a:solidFill>
                <a:latin typeface="Verdana"/>
                <a:cs typeface="Verdana"/>
              </a:rPr>
              <a:t>transformer</a:t>
            </a:r>
            <a:r>
              <a:rPr sz="100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00002E"/>
                </a:solidFill>
                <a:latin typeface="Verdana"/>
                <a:cs typeface="Verdana"/>
              </a:rPr>
              <a:t>model </a:t>
            </a:r>
            <a:r>
              <a:rPr sz="1000" spc="-75" dirty="0">
                <a:solidFill>
                  <a:srgbClr val="00002E"/>
                </a:solidFill>
                <a:latin typeface="Verdana"/>
                <a:cs typeface="Verdana"/>
              </a:rPr>
              <a:t>achieving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110" dirty="0">
                <a:solidFill>
                  <a:srgbClr val="00002E"/>
                </a:solidFill>
                <a:latin typeface="Verdana"/>
                <a:cs typeface="Verdana"/>
              </a:rPr>
              <a:t>ICU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70" dirty="0">
                <a:solidFill>
                  <a:srgbClr val="00002E"/>
                </a:solidFill>
                <a:latin typeface="Verdana"/>
                <a:cs typeface="Verdana"/>
              </a:rPr>
              <a:t>mortality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70" dirty="0">
                <a:solidFill>
                  <a:srgbClr val="00002E"/>
                </a:solidFill>
                <a:latin typeface="Verdana"/>
                <a:cs typeface="Verdana"/>
              </a:rPr>
              <a:t>predictions</a:t>
            </a:r>
            <a:r>
              <a:rPr sz="10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75" dirty="0">
                <a:solidFill>
                  <a:srgbClr val="00002E"/>
                </a:solidFill>
                <a:latin typeface="Verdana"/>
                <a:cs typeface="Verdana"/>
              </a:rPr>
              <a:t>on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25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0" dirty="0">
                <a:solidFill>
                  <a:srgbClr val="00002E"/>
                </a:solidFill>
                <a:latin typeface="Verdana"/>
                <a:cs typeface="Verdana"/>
              </a:rPr>
              <a:t>test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cases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7006" y="2510121"/>
            <a:ext cx="5896879" cy="190987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162160" y="3719143"/>
            <a:ext cx="888365" cy="6286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b="1" spc="65" dirty="0">
                <a:solidFill>
                  <a:srgbClr val="00002E"/>
                </a:solidFill>
                <a:latin typeface="Trebuchet MS"/>
                <a:cs typeface="Trebuchet MS"/>
              </a:rPr>
              <a:t>Raw</a:t>
            </a:r>
            <a:r>
              <a:rPr sz="1150" b="1" spc="-3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150" b="1" spc="-20" dirty="0">
                <a:solidFill>
                  <a:srgbClr val="00002E"/>
                </a:solidFill>
                <a:latin typeface="Trebuchet MS"/>
                <a:cs typeface="Trebuchet MS"/>
              </a:rPr>
              <a:t>Data</a:t>
            </a:r>
            <a:endParaRPr sz="1150">
              <a:latin typeface="Trebuchet MS"/>
              <a:cs typeface="Trebuchet MS"/>
            </a:endParaRPr>
          </a:p>
          <a:p>
            <a:pPr marL="12700" marR="5080" algn="ctr">
              <a:lnSpc>
                <a:spcPts val="1060"/>
              </a:lnSpc>
              <a:spcBef>
                <a:spcPts val="650"/>
              </a:spcBef>
            </a:pPr>
            <a:r>
              <a:rPr sz="1000" spc="-65" dirty="0">
                <a:solidFill>
                  <a:srgbClr val="00002E"/>
                </a:solidFill>
                <a:latin typeface="Verdana"/>
                <a:cs typeface="Verdana"/>
              </a:rPr>
              <a:t>Original</a:t>
            </a:r>
            <a:r>
              <a:rPr sz="10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50" dirty="0">
                <a:solidFill>
                  <a:srgbClr val="00002E"/>
                </a:solidFill>
                <a:latin typeface="Verdana"/>
                <a:cs typeface="Verdana"/>
              </a:rPr>
              <a:t>clinical </a:t>
            </a:r>
            <a:r>
              <a:rPr sz="1000" spc="-10" dirty="0">
                <a:solidFill>
                  <a:srgbClr val="00002E"/>
                </a:solidFill>
                <a:latin typeface="Verdana"/>
                <a:cs typeface="Verdana"/>
              </a:rPr>
              <a:t>records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65551" y="3936731"/>
            <a:ext cx="934719" cy="7512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9"/>
              </a:spcBef>
            </a:pPr>
            <a:r>
              <a:rPr sz="1150" b="1" spc="95" dirty="0">
                <a:solidFill>
                  <a:srgbClr val="00002E"/>
                </a:solidFill>
                <a:latin typeface="Trebuchet MS"/>
                <a:cs typeface="Trebuchet MS"/>
              </a:rPr>
              <a:t>MEDS</a:t>
            </a:r>
            <a:endParaRPr sz="11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150" b="1" spc="-10" dirty="0">
                <a:solidFill>
                  <a:srgbClr val="00002E"/>
                </a:solidFill>
                <a:latin typeface="Trebuchet MS"/>
                <a:cs typeface="Trebuchet MS"/>
              </a:rPr>
              <a:t>Extraction</a:t>
            </a:r>
            <a:endParaRPr sz="1150">
              <a:latin typeface="Trebuchet MS"/>
              <a:cs typeface="Trebuchet MS"/>
            </a:endParaRPr>
          </a:p>
          <a:p>
            <a:pPr marL="12700" marR="5080" algn="ctr">
              <a:lnSpc>
                <a:spcPts val="1060"/>
              </a:lnSpc>
              <a:spcBef>
                <a:spcPts val="595"/>
              </a:spcBef>
            </a:pPr>
            <a:r>
              <a:rPr sz="1000" spc="-120" dirty="0">
                <a:solidFill>
                  <a:srgbClr val="00002E"/>
                </a:solidFill>
                <a:latin typeface="Verdana"/>
                <a:cs typeface="Verdana"/>
              </a:rPr>
              <a:t>Seven</a:t>
            </a:r>
            <a:r>
              <a:rPr sz="10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0" dirty="0">
                <a:solidFill>
                  <a:srgbClr val="00002E"/>
                </a:solidFill>
                <a:latin typeface="Verdana"/>
                <a:cs typeface="Verdana"/>
              </a:rPr>
              <a:t>extraction </a:t>
            </a:r>
            <a:r>
              <a:rPr sz="1000" spc="-10" dirty="0">
                <a:solidFill>
                  <a:srgbClr val="00002E"/>
                </a:solidFill>
                <a:latin typeface="Verdana"/>
                <a:cs typeface="Verdana"/>
              </a:rPr>
              <a:t>stages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96505" y="4066277"/>
            <a:ext cx="882650" cy="7632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b="1" spc="-10" dirty="0">
                <a:solidFill>
                  <a:srgbClr val="00002E"/>
                </a:solidFill>
                <a:latin typeface="Trebuchet MS"/>
                <a:cs typeface="Trebuchet MS"/>
              </a:rPr>
              <a:t>Tokenization</a:t>
            </a:r>
            <a:endParaRPr sz="1150">
              <a:latin typeface="Trebuchet MS"/>
              <a:cs typeface="Trebuchet MS"/>
            </a:endParaRPr>
          </a:p>
          <a:p>
            <a:pPr marL="103505" marR="97155" algn="ctr">
              <a:lnSpc>
                <a:spcPts val="1060"/>
              </a:lnSpc>
              <a:spcBef>
                <a:spcPts val="650"/>
              </a:spcBef>
            </a:pPr>
            <a:r>
              <a:rPr sz="1000" spc="-10" dirty="0">
                <a:solidFill>
                  <a:srgbClr val="00002E"/>
                </a:solidFill>
                <a:latin typeface="Verdana"/>
                <a:cs typeface="Verdana"/>
              </a:rPr>
              <a:t>Seventeen </a:t>
            </a:r>
            <a:r>
              <a:rPr sz="1000" spc="-80" dirty="0">
                <a:solidFill>
                  <a:srgbClr val="00002E"/>
                </a:solidFill>
                <a:latin typeface="Verdana"/>
                <a:cs typeface="Verdana"/>
              </a:rPr>
              <a:t>tokenization </a:t>
            </a:r>
            <a:r>
              <a:rPr sz="1000" spc="-10" dirty="0">
                <a:solidFill>
                  <a:srgbClr val="00002E"/>
                </a:solidFill>
                <a:latin typeface="Verdana"/>
                <a:cs typeface="Verdana"/>
              </a:rPr>
              <a:t>steps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10411" y="4326371"/>
            <a:ext cx="737870" cy="885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" marR="85725" indent="-635" algn="ctr">
              <a:lnSpc>
                <a:spcPct val="109100"/>
              </a:lnSpc>
              <a:spcBef>
                <a:spcPts val="95"/>
              </a:spcBef>
            </a:pPr>
            <a:r>
              <a:rPr sz="1150" b="1" spc="-10" dirty="0">
                <a:solidFill>
                  <a:srgbClr val="00002E"/>
                </a:solidFill>
                <a:latin typeface="Trebuchet MS"/>
                <a:cs typeface="Trebuchet MS"/>
              </a:rPr>
              <a:t>Model </a:t>
            </a:r>
            <a:r>
              <a:rPr sz="1150" b="1" spc="-20" dirty="0">
                <a:solidFill>
                  <a:srgbClr val="00002E"/>
                </a:solidFill>
                <a:latin typeface="Trebuchet MS"/>
                <a:cs typeface="Trebuchet MS"/>
              </a:rPr>
              <a:t>Training</a:t>
            </a:r>
            <a:endParaRPr sz="1150">
              <a:latin typeface="Trebuchet MS"/>
              <a:cs typeface="Trebuchet MS"/>
            </a:endParaRPr>
          </a:p>
          <a:p>
            <a:pPr marL="12700" marR="5080" indent="-635" algn="ctr">
              <a:lnSpc>
                <a:spcPts val="1060"/>
              </a:lnSpc>
              <a:spcBef>
                <a:spcPts val="595"/>
              </a:spcBef>
            </a:pPr>
            <a:r>
              <a:rPr sz="1000" spc="-100" dirty="0">
                <a:solidFill>
                  <a:srgbClr val="00002E"/>
                </a:solidFill>
                <a:latin typeface="Verdana"/>
                <a:cs typeface="Verdana"/>
              </a:rPr>
              <a:t>End-</a:t>
            </a:r>
            <a:r>
              <a:rPr sz="1000" spc="-90" dirty="0">
                <a:solidFill>
                  <a:srgbClr val="00002E"/>
                </a:solidFill>
                <a:latin typeface="Verdana"/>
                <a:cs typeface="Verdana"/>
              </a:rPr>
              <a:t>to-</a:t>
            </a:r>
            <a:r>
              <a:rPr sz="1000" spc="-25" dirty="0">
                <a:solidFill>
                  <a:srgbClr val="00002E"/>
                </a:solidFill>
                <a:latin typeface="Verdana"/>
                <a:cs typeface="Verdana"/>
              </a:rPr>
              <a:t>end </a:t>
            </a:r>
            <a:r>
              <a:rPr sz="1000" spc="-105" dirty="0">
                <a:solidFill>
                  <a:srgbClr val="00002E"/>
                </a:solidFill>
                <a:latin typeface="Verdana"/>
                <a:cs typeface="Verdana"/>
              </a:rPr>
              <a:t>ETHOS-</a:t>
            </a:r>
            <a:r>
              <a:rPr sz="1000" spc="-125" dirty="0">
                <a:solidFill>
                  <a:srgbClr val="00002E"/>
                </a:solidFill>
                <a:latin typeface="Verdana"/>
                <a:cs typeface="Verdana"/>
              </a:rPr>
              <a:t>ARES</a:t>
            </a:r>
            <a:endParaRPr sz="1000">
              <a:latin typeface="Verdana"/>
              <a:cs typeface="Verdana"/>
            </a:endParaRPr>
          </a:p>
          <a:p>
            <a:pPr algn="ctr">
              <a:lnSpc>
                <a:spcPts val="1050"/>
              </a:lnSpc>
            </a:pPr>
            <a:r>
              <a:rPr sz="1000" spc="-10" dirty="0">
                <a:solidFill>
                  <a:srgbClr val="00002E"/>
                </a:solidFill>
                <a:latin typeface="Verdana"/>
                <a:cs typeface="Verdana"/>
              </a:rPr>
              <a:t>training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24628" y="4455917"/>
            <a:ext cx="1006475" cy="6286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b="1" spc="-10" dirty="0">
                <a:solidFill>
                  <a:srgbClr val="00002E"/>
                </a:solidFill>
                <a:latin typeface="Trebuchet MS"/>
                <a:cs typeface="Trebuchet MS"/>
              </a:rPr>
              <a:t>Predictions</a:t>
            </a:r>
            <a:endParaRPr sz="1150">
              <a:latin typeface="Trebuchet MS"/>
              <a:cs typeface="Trebuchet MS"/>
            </a:endParaRPr>
          </a:p>
          <a:p>
            <a:pPr marL="12700" marR="5080" algn="ctr">
              <a:lnSpc>
                <a:spcPts val="1060"/>
              </a:lnSpc>
              <a:spcBef>
                <a:spcPts val="650"/>
              </a:spcBef>
            </a:pPr>
            <a:r>
              <a:rPr sz="1000" spc="-105" dirty="0">
                <a:solidFill>
                  <a:srgbClr val="00002E"/>
                </a:solidFill>
                <a:latin typeface="Verdana"/>
                <a:cs typeface="Verdana"/>
              </a:rPr>
              <a:t>Generated</a:t>
            </a:r>
            <a:r>
              <a:rPr sz="100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0" dirty="0">
                <a:solidFill>
                  <a:srgbClr val="00002E"/>
                </a:solidFill>
                <a:latin typeface="Verdana"/>
                <a:cs typeface="Verdana"/>
              </a:rPr>
              <a:t>patient </a:t>
            </a:r>
            <a:r>
              <a:rPr sz="1000" spc="-10" dirty="0">
                <a:solidFill>
                  <a:srgbClr val="00002E"/>
                </a:solidFill>
                <a:latin typeface="Verdana"/>
                <a:cs typeface="Verdana"/>
              </a:rPr>
              <a:t>outcomes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1846" y="5573462"/>
            <a:ext cx="4083050" cy="2032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50" spc="-60" dirty="0">
                <a:solidFill>
                  <a:srgbClr val="00002E"/>
                </a:solidFill>
                <a:latin typeface="Lucida Sans Unicode"/>
                <a:cs typeface="Lucida Sans Unicode"/>
              </a:rPr>
              <a:t>→</a:t>
            </a:r>
            <a:r>
              <a:rPr sz="1150" spc="-55" dirty="0">
                <a:solidFill>
                  <a:srgbClr val="00002E"/>
                </a:solidFill>
                <a:latin typeface="Lucida Sans Unicode"/>
                <a:cs typeface="Lucida Sans Unicode"/>
              </a:rPr>
              <a:t> </a:t>
            </a:r>
            <a:r>
              <a:rPr sz="1000" spc="-75" dirty="0">
                <a:solidFill>
                  <a:srgbClr val="00002E"/>
                </a:solidFill>
                <a:latin typeface="Verdana"/>
                <a:cs typeface="Verdana"/>
              </a:rPr>
              <a:t>Foundation</a:t>
            </a:r>
            <a:r>
              <a:rPr sz="10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75" dirty="0">
                <a:solidFill>
                  <a:srgbClr val="00002E"/>
                </a:solidFill>
                <a:latin typeface="Verdana"/>
                <a:cs typeface="Verdana"/>
              </a:rPr>
              <a:t>established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65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10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65" dirty="0">
                <a:solidFill>
                  <a:srgbClr val="00002E"/>
                </a:solidFill>
                <a:latin typeface="Verdana"/>
                <a:cs typeface="Verdana"/>
              </a:rPr>
              <a:t>scaling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70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0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00002E"/>
                </a:solidFill>
                <a:latin typeface="Verdana"/>
                <a:cs typeface="Verdana"/>
              </a:rPr>
              <a:t>full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85" dirty="0">
                <a:solidFill>
                  <a:srgbClr val="00002E"/>
                </a:solidFill>
                <a:latin typeface="Verdana"/>
                <a:cs typeface="Verdana"/>
              </a:rPr>
              <a:t>dataset</a:t>
            </a:r>
            <a:r>
              <a:rPr sz="10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5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0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135" dirty="0">
                <a:solidFill>
                  <a:srgbClr val="00002E"/>
                </a:solidFill>
                <a:latin typeface="Verdana"/>
                <a:cs typeface="Verdana"/>
              </a:rPr>
              <a:t>300k+</a:t>
            </a:r>
            <a:r>
              <a:rPr sz="10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00002E"/>
                </a:solidFill>
                <a:latin typeface="Verdana"/>
                <a:cs typeface="Verdana"/>
              </a:rPr>
              <a:t>patients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846" y="746823"/>
            <a:ext cx="7179945" cy="474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50" dirty="0"/>
              <a:t>Sample</a:t>
            </a:r>
            <a:r>
              <a:rPr sz="2950" spc="-80" dirty="0"/>
              <a:t> </a:t>
            </a:r>
            <a:r>
              <a:rPr sz="2950" spc="-35" dirty="0"/>
              <a:t>Dataset:</a:t>
            </a:r>
            <a:r>
              <a:rPr sz="2950" spc="-75" dirty="0"/>
              <a:t> </a:t>
            </a:r>
            <a:r>
              <a:rPr sz="2950" spc="-30" dirty="0"/>
              <a:t>Strategic</a:t>
            </a:r>
            <a:r>
              <a:rPr sz="2950" spc="-80" dirty="0"/>
              <a:t> </a:t>
            </a:r>
            <a:r>
              <a:rPr sz="2950" spc="55" dirty="0"/>
              <a:t>Design</a:t>
            </a:r>
            <a:r>
              <a:rPr sz="2950" spc="-75" dirty="0"/>
              <a:t> </a:t>
            </a:r>
            <a:r>
              <a:rPr sz="2950" spc="-10" dirty="0"/>
              <a:t>Choices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641846" y="1485925"/>
            <a:ext cx="98507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250" spc="-170" dirty="0">
                <a:solidFill>
                  <a:srgbClr val="00002E"/>
                </a:solidFill>
                <a:latin typeface="Verdana"/>
                <a:cs typeface="Verdana"/>
              </a:rPr>
              <a:t>I</a:t>
            </a:r>
            <a:r>
              <a:rPr sz="12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85" dirty="0">
                <a:solidFill>
                  <a:srgbClr val="00002E"/>
                </a:solidFill>
                <a:latin typeface="Verdana"/>
                <a:cs typeface="Verdana"/>
              </a:rPr>
              <a:t>intentionally</a:t>
            </a:r>
            <a:r>
              <a:rPr sz="1250" spc="-10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80" dirty="0">
                <a:solidFill>
                  <a:srgbClr val="00002E"/>
                </a:solidFill>
                <a:latin typeface="Verdana"/>
                <a:cs typeface="Verdana"/>
              </a:rPr>
              <a:t>limited</a:t>
            </a:r>
            <a:r>
              <a:rPr sz="12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14" dirty="0">
                <a:solidFill>
                  <a:srgbClr val="00002E"/>
                </a:solidFill>
                <a:latin typeface="Verdana"/>
                <a:cs typeface="Verdana"/>
              </a:rPr>
              <a:t>sample</a:t>
            </a:r>
            <a:r>
              <a:rPr sz="12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05" dirty="0">
                <a:solidFill>
                  <a:srgbClr val="00002E"/>
                </a:solidFill>
                <a:latin typeface="Verdana"/>
                <a:cs typeface="Verdana"/>
              </a:rPr>
              <a:t>size</a:t>
            </a:r>
            <a:r>
              <a:rPr sz="12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00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250" spc="-7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00" dirty="0">
                <a:solidFill>
                  <a:srgbClr val="00002E"/>
                </a:solidFill>
                <a:latin typeface="Verdana"/>
                <a:cs typeface="Verdana"/>
              </a:rPr>
              <a:t>validate</a:t>
            </a:r>
            <a:r>
              <a:rPr sz="12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80" dirty="0">
                <a:solidFill>
                  <a:srgbClr val="00002E"/>
                </a:solidFill>
                <a:latin typeface="Verdana"/>
                <a:cs typeface="Verdana"/>
              </a:rPr>
              <a:t>pipeline</a:t>
            </a:r>
            <a:r>
              <a:rPr sz="12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90" dirty="0">
                <a:solidFill>
                  <a:srgbClr val="00002E"/>
                </a:solidFill>
                <a:latin typeface="Verdana"/>
                <a:cs typeface="Verdana"/>
              </a:rPr>
              <a:t>functionality</a:t>
            </a:r>
            <a:r>
              <a:rPr sz="1250" spc="-10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10" dirty="0">
                <a:solidFill>
                  <a:srgbClr val="00002E"/>
                </a:solidFill>
                <a:latin typeface="Verdana"/>
                <a:cs typeface="Verdana"/>
              </a:rPr>
              <a:t>before</a:t>
            </a:r>
            <a:r>
              <a:rPr sz="12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00" dirty="0">
                <a:solidFill>
                  <a:srgbClr val="00002E"/>
                </a:solidFill>
                <a:latin typeface="Verdana"/>
                <a:cs typeface="Verdana"/>
              </a:rPr>
              <a:t>investing</a:t>
            </a:r>
            <a:r>
              <a:rPr sz="12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05" dirty="0">
                <a:solidFill>
                  <a:srgbClr val="00002E"/>
                </a:solidFill>
                <a:latin typeface="Verdana"/>
                <a:cs typeface="Verdana"/>
              </a:rPr>
              <a:t>computational</a:t>
            </a:r>
            <a:r>
              <a:rPr sz="12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30" dirty="0">
                <a:solidFill>
                  <a:srgbClr val="00002E"/>
                </a:solidFill>
                <a:latin typeface="Verdana"/>
                <a:cs typeface="Verdana"/>
              </a:rPr>
              <a:t>resources</a:t>
            </a:r>
            <a:r>
              <a:rPr sz="12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65" dirty="0">
                <a:solidFill>
                  <a:srgbClr val="00002E"/>
                </a:solidFill>
                <a:latin typeface="Verdana"/>
                <a:cs typeface="Verdana"/>
              </a:rPr>
              <a:t>in</a:t>
            </a:r>
            <a:r>
              <a:rPr sz="12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55" dirty="0">
                <a:solidFill>
                  <a:srgbClr val="00002E"/>
                </a:solidFill>
                <a:latin typeface="Verdana"/>
                <a:cs typeface="Verdana"/>
              </a:rPr>
              <a:t>full-</a:t>
            </a:r>
            <a:r>
              <a:rPr sz="1250" spc="-100" dirty="0">
                <a:solidFill>
                  <a:srgbClr val="00002E"/>
                </a:solidFill>
                <a:latin typeface="Verdana"/>
                <a:cs typeface="Verdana"/>
              </a:rPr>
              <a:t>scale</a:t>
            </a:r>
            <a:r>
              <a:rPr sz="12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05" dirty="0">
                <a:solidFill>
                  <a:srgbClr val="00002E"/>
                </a:solidFill>
                <a:latin typeface="Verdana"/>
                <a:cs typeface="Verdana"/>
              </a:rPr>
              <a:t>training.</a:t>
            </a:r>
            <a:r>
              <a:rPr sz="1250" spc="-2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95" dirty="0">
                <a:solidFill>
                  <a:srgbClr val="00002E"/>
                </a:solidFill>
                <a:latin typeface="Verdana"/>
                <a:cs typeface="Verdana"/>
              </a:rPr>
              <a:t>This</a:t>
            </a:r>
            <a:r>
              <a:rPr sz="12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00002E"/>
                </a:solidFill>
                <a:latin typeface="Verdana"/>
                <a:cs typeface="Verdana"/>
              </a:rPr>
              <a:t>approach </a:t>
            </a:r>
            <a:r>
              <a:rPr sz="1250" spc="-105" dirty="0">
                <a:solidFill>
                  <a:srgbClr val="00002E"/>
                </a:solidFill>
                <a:latin typeface="Verdana"/>
                <a:cs typeface="Verdana"/>
              </a:rPr>
              <a:t>enabled</a:t>
            </a:r>
            <a:r>
              <a:rPr sz="1250" spc="-7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05" dirty="0">
                <a:solidFill>
                  <a:srgbClr val="00002E"/>
                </a:solidFill>
                <a:latin typeface="Verdana"/>
                <a:cs typeface="Verdana"/>
              </a:rPr>
              <a:t>rapid</a:t>
            </a:r>
            <a:r>
              <a:rPr sz="125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05" dirty="0">
                <a:solidFill>
                  <a:srgbClr val="00002E"/>
                </a:solidFill>
                <a:latin typeface="Verdana"/>
                <a:cs typeface="Verdana"/>
              </a:rPr>
              <a:t>prototyping</a:t>
            </a:r>
            <a:r>
              <a:rPr sz="125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30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25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10" dirty="0">
                <a:solidFill>
                  <a:srgbClr val="00002E"/>
                </a:solidFill>
                <a:latin typeface="Verdana"/>
                <a:cs typeface="Verdana"/>
              </a:rPr>
              <a:t>early</a:t>
            </a:r>
            <a:r>
              <a:rPr sz="1250" spc="-12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80" dirty="0">
                <a:solidFill>
                  <a:srgbClr val="00002E"/>
                </a:solidFill>
                <a:latin typeface="Verdana"/>
                <a:cs typeface="Verdana"/>
              </a:rPr>
              <a:t>identification</a:t>
            </a:r>
            <a:r>
              <a:rPr sz="125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85" dirty="0">
                <a:solidFill>
                  <a:srgbClr val="00002E"/>
                </a:solidFill>
                <a:latin typeface="Verdana"/>
                <a:cs typeface="Verdana"/>
              </a:rPr>
              <a:t>of</a:t>
            </a:r>
            <a:r>
              <a:rPr sz="125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90" dirty="0">
                <a:solidFill>
                  <a:srgbClr val="00002E"/>
                </a:solidFill>
                <a:latin typeface="Verdana"/>
                <a:cs typeface="Verdana"/>
              </a:rPr>
              <a:t>technical</a:t>
            </a:r>
            <a:r>
              <a:rPr sz="125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00002E"/>
                </a:solidFill>
                <a:latin typeface="Verdana"/>
                <a:cs typeface="Verdana"/>
              </a:rPr>
              <a:t>challenges.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7224" y="2143124"/>
            <a:ext cx="10115550" cy="2514600"/>
            <a:chOff x="657224" y="2143124"/>
            <a:chExt cx="10115550" cy="2514600"/>
          </a:xfrm>
        </p:grpSpPr>
        <p:sp>
          <p:nvSpPr>
            <p:cNvPr id="5" name="object 5"/>
            <p:cNvSpPr/>
            <p:nvPr/>
          </p:nvSpPr>
          <p:spPr>
            <a:xfrm>
              <a:off x="661987" y="2147887"/>
              <a:ext cx="10106025" cy="2505075"/>
            </a:xfrm>
            <a:custGeom>
              <a:avLst/>
              <a:gdLst/>
              <a:ahLst/>
              <a:cxnLst/>
              <a:rect l="l" t="t" r="r" b="b"/>
              <a:pathLst>
                <a:path w="10106025" h="2505075">
                  <a:moveTo>
                    <a:pt x="0" y="2311132"/>
                  </a:moveTo>
                  <a:lnTo>
                    <a:pt x="0" y="193942"/>
                  </a:lnTo>
                  <a:lnTo>
                    <a:pt x="232" y="184414"/>
                  </a:lnTo>
                  <a:lnTo>
                    <a:pt x="8348" y="137642"/>
                  </a:lnTo>
                  <a:lnTo>
                    <a:pt x="27585" y="94244"/>
                  </a:lnTo>
                  <a:lnTo>
                    <a:pt x="56804" y="56804"/>
                  </a:lnTo>
                  <a:lnTo>
                    <a:pt x="94245" y="27585"/>
                  </a:lnTo>
                  <a:lnTo>
                    <a:pt x="137643" y="8348"/>
                  </a:lnTo>
                  <a:lnTo>
                    <a:pt x="184414" y="232"/>
                  </a:lnTo>
                  <a:lnTo>
                    <a:pt x="193942" y="0"/>
                  </a:lnTo>
                  <a:lnTo>
                    <a:pt x="9912081" y="0"/>
                  </a:lnTo>
                  <a:lnTo>
                    <a:pt x="9959214" y="5813"/>
                  </a:lnTo>
                  <a:lnTo>
                    <a:pt x="10003504" y="22898"/>
                  </a:lnTo>
                  <a:lnTo>
                    <a:pt x="10042317" y="50231"/>
                  </a:lnTo>
                  <a:lnTo>
                    <a:pt x="10073337" y="86193"/>
                  </a:lnTo>
                  <a:lnTo>
                    <a:pt x="10094690" y="128615"/>
                  </a:lnTo>
                  <a:lnTo>
                    <a:pt x="10105092" y="174932"/>
                  </a:lnTo>
                  <a:lnTo>
                    <a:pt x="10106024" y="193942"/>
                  </a:lnTo>
                  <a:lnTo>
                    <a:pt x="10106024" y="2311132"/>
                  </a:lnTo>
                  <a:lnTo>
                    <a:pt x="10100209" y="2358267"/>
                  </a:lnTo>
                  <a:lnTo>
                    <a:pt x="10083124" y="2402556"/>
                  </a:lnTo>
                  <a:lnTo>
                    <a:pt x="10055791" y="2441367"/>
                  </a:lnTo>
                  <a:lnTo>
                    <a:pt x="10019829" y="2472389"/>
                  </a:lnTo>
                  <a:lnTo>
                    <a:pt x="9977406" y="2493742"/>
                  </a:lnTo>
                  <a:lnTo>
                    <a:pt x="9931089" y="2504142"/>
                  </a:lnTo>
                  <a:lnTo>
                    <a:pt x="9912081" y="2505074"/>
                  </a:lnTo>
                  <a:lnTo>
                    <a:pt x="193942" y="2505074"/>
                  </a:lnTo>
                  <a:lnTo>
                    <a:pt x="146806" y="2499260"/>
                  </a:lnTo>
                  <a:lnTo>
                    <a:pt x="102517" y="2482175"/>
                  </a:lnTo>
                  <a:lnTo>
                    <a:pt x="63706" y="2454842"/>
                  </a:lnTo>
                  <a:lnTo>
                    <a:pt x="32685" y="2418880"/>
                  </a:lnTo>
                  <a:lnTo>
                    <a:pt x="11331" y="2376458"/>
                  </a:lnTo>
                  <a:lnTo>
                    <a:pt x="931" y="2330141"/>
                  </a:lnTo>
                  <a:lnTo>
                    <a:pt x="0" y="231113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737" y="2152649"/>
              <a:ext cx="10096500" cy="419100"/>
            </a:xfrm>
            <a:custGeom>
              <a:avLst/>
              <a:gdLst/>
              <a:ahLst/>
              <a:cxnLst/>
              <a:rect l="l" t="t" r="r" b="b"/>
              <a:pathLst>
                <a:path w="10096500" h="419100">
                  <a:moveTo>
                    <a:pt x="2514600" y="0"/>
                  </a:moveTo>
                  <a:lnTo>
                    <a:pt x="198716" y="0"/>
                  </a:lnTo>
                  <a:lnTo>
                    <a:pt x="179133" y="952"/>
                  </a:lnTo>
                  <a:lnTo>
                    <a:pt x="141122" y="8509"/>
                  </a:lnTo>
                  <a:lnTo>
                    <a:pt x="104952" y="23495"/>
                  </a:lnTo>
                  <a:lnTo>
                    <a:pt x="72720" y="45034"/>
                  </a:lnTo>
                  <a:lnTo>
                    <a:pt x="45034" y="72720"/>
                  </a:lnTo>
                  <a:lnTo>
                    <a:pt x="23495" y="104952"/>
                  </a:lnTo>
                  <a:lnTo>
                    <a:pt x="8509" y="141109"/>
                  </a:lnTo>
                  <a:lnTo>
                    <a:pt x="952" y="179133"/>
                  </a:lnTo>
                  <a:lnTo>
                    <a:pt x="0" y="198716"/>
                  </a:lnTo>
                  <a:lnTo>
                    <a:pt x="0" y="419100"/>
                  </a:lnTo>
                  <a:lnTo>
                    <a:pt x="2514600" y="419100"/>
                  </a:lnTo>
                  <a:lnTo>
                    <a:pt x="2514600" y="0"/>
                  </a:lnTo>
                  <a:close/>
                </a:path>
                <a:path w="10096500" h="419100">
                  <a:moveTo>
                    <a:pt x="10096500" y="198716"/>
                  </a:moveTo>
                  <a:lnTo>
                    <a:pt x="10092728" y="159943"/>
                  </a:lnTo>
                  <a:lnTo>
                    <a:pt x="10081374" y="122669"/>
                  </a:lnTo>
                  <a:lnTo>
                    <a:pt x="10063048" y="88290"/>
                  </a:lnTo>
                  <a:lnTo>
                    <a:pt x="10038309" y="58204"/>
                  </a:lnTo>
                  <a:lnTo>
                    <a:pt x="10008210" y="33464"/>
                  </a:lnTo>
                  <a:lnTo>
                    <a:pt x="9973843" y="15125"/>
                  </a:lnTo>
                  <a:lnTo>
                    <a:pt x="9936569" y="3784"/>
                  </a:lnTo>
                  <a:lnTo>
                    <a:pt x="9897796" y="0"/>
                  </a:lnTo>
                  <a:lnTo>
                    <a:pt x="7581900" y="0"/>
                  </a:lnTo>
                  <a:lnTo>
                    <a:pt x="7581900" y="419100"/>
                  </a:lnTo>
                  <a:lnTo>
                    <a:pt x="10096500" y="419100"/>
                  </a:lnTo>
                  <a:lnTo>
                    <a:pt x="10096500" y="198716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749" y="4229099"/>
              <a:ext cx="2514600" cy="419100"/>
            </a:xfrm>
            <a:custGeom>
              <a:avLst/>
              <a:gdLst/>
              <a:ahLst/>
              <a:cxnLst/>
              <a:rect l="l" t="t" r="r" b="b"/>
              <a:pathLst>
                <a:path w="2514600" h="419100">
                  <a:moveTo>
                    <a:pt x="2514599" y="419099"/>
                  </a:moveTo>
                  <a:lnTo>
                    <a:pt x="198704" y="419099"/>
                  </a:lnTo>
                  <a:lnTo>
                    <a:pt x="179130" y="418154"/>
                  </a:lnTo>
                  <a:lnTo>
                    <a:pt x="141109" y="410591"/>
                  </a:lnTo>
                  <a:lnTo>
                    <a:pt x="104941" y="395609"/>
                  </a:lnTo>
                  <a:lnTo>
                    <a:pt x="72708" y="374072"/>
                  </a:lnTo>
                  <a:lnTo>
                    <a:pt x="45026" y="346390"/>
                  </a:lnTo>
                  <a:lnTo>
                    <a:pt x="23489" y="314157"/>
                  </a:lnTo>
                  <a:lnTo>
                    <a:pt x="8508" y="277989"/>
                  </a:lnTo>
                  <a:lnTo>
                    <a:pt x="945" y="239969"/>
                  </a:lnTo>
                  <a:lnTo>
                    <a:pt x="0" y="220395"/>
                  </a:lnTo>
                  <a:lnTo>
                    <a:pt x="0" y="0"/>
                  </a:lnTo>
                  <a:lnTo>
                    <a:pt x="2514599" y="0"/>
                  </a:lnTo>
                  <a:lnTo>
                    <a:pt x="2514599" y="419099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8248649" y="4229099"/>
            <a:ext cx="2514600" cy="419100"/>
          </a:xfrm>
          <a:custGeom>
            <a:avLst/>
            <a:gdLst/>
            <a:ahLst/>
            <a:cxnLst/>
            <a:rect l="l" t="t" r="r" b="b"/>
            <a:pathLst>
              <a:path w="2514600" h="419100">
                <a:moveTo>
                  <a:pt x="2315894" y="419099"/>
                </a:moveTo>
                <a:lnTo>
                  <a:pt x="0" y="419099"/>
                </a:lnTo>
                <a:lnTo>
                  <a:pt x="0" y="0"/>
                </a:lnTo>
                <a:lnTo>
                  <a:pt x="2514599" y="0"/>
                </a:lnTo>
                <a:lnTo>
                  <a:pt x="2514599" y="220395"/>
                </a:lnTo>
                <a:lnTo>
                  <a:pt x="2510817" y="259167"/>
                </a:lnTo>
                <a:lnTo>
                  <a:pt x="2499472" y="296435"/>
                </a:lnTo>
                <a:lnTo>
                  <a:pt x="2481141" y="330809"/>
                </a:lnTo>
                <a:lnTo>
                  <a:pt x="2456399" y="360899"/>
                </a:lnTo>
                <a:lnTo>
                  <a:pt x="2426309" y="385642"/>
                </a:lnTo>
                <a:lnTo>
                  <a:pt x="2391934" y="403974"/>
                </a:lnTo>
                <a:lnTo>
                  <a:pt x="2354666" y="415318"/>
                </a:lnTo>
                <a:lnTo>
                  <a:pt x="2315894" y="419099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66749" y="2152649"/>
          <a:ext cx="10095865" cy="2493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9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9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b="1" spc="-35" dirty="0">
                          <a:solidFill>
                            <a:srgbClr val="00002E"/>
                          </a:solidFill>
                          <a:latin typeface="Tahoma"/>
                          <a:cs typeface="Tahoma"/>
                        </a:rPr>
                        <a:t>Specification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T="98425" marB="0">
                    <a:lnR w="9525">
                      <a:solidFill>
                        <a:srgbClr val="F5F5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b="1" spc="-130" dirty="0">
                          <a:solidFill>
                            <a:srgbClr val="00002E"/>
                          </a:solidFill>
                          <a:latin typeface="Tahoma"/>
                          <a:cs typeface="Tahoma"/>
                        </a:rPr>
                        <a:t>Our</a:t>
                      </a:r>
                      <a:r>
                        <a:rPr sz="1250" b="1" spc="-35" dirty="0">
                          <a:solidFill>
                            <a:srgbClr val="00002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00002E"/>
                          </a:solidFill>
                          <a:latin typeface="Tahoma"/>
                          <a:cs typeface="Tahoma"/>
                        </a:rPr>
                        <a:t>Sample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b="1" spc="-70" dirty="0">
                          <a:solidFill>
                            <a:srgbClr val="00002E"/>
                          </a:solidFill>
                          <a:latin typeface="Tahoma"/>
                          <a:cs typeface="Tahoma"/>
                        </a:rPr>
                        <a:t>Full</a:t>
                      </a:r>
                      <a:r>
                        <a:rPr sz="1250" b="1" spc="30" dirty="0">
                          <a:solidFill>
                            <a:srgbClr val="00002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50" b="1" spc="-190" dirty="0">
                          <a:solidFill>
                            <a:srgbClr val="00002E"/>
                          </a:solidFill>
                          <a:latin typeface="Tahoma"/>
                          <a:cs typeface="Tahoma"/>
                        </a:rPr>
                        <a:t>MIMIC-</a:t>
                      </a:r>
                      <a:r>
                        <a:rPr sz="1250" b="1" spc="-35" dirty="0">
                          <a:solidFill>
                            <a:srgbClr val="00002E"/>
                          </a:solidFill>
                          <a:latin typeface="Tahoma"/>
                          <a:cs typeface="Tahoma"/>
                        </a:rPr>
                        <a:t>IV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b="1" spc="-10" dirty="0">
                          <a:solidFill>
                            <a:srgbClr val="00002E"/>
                          </a:solidFill>
                          <a:latin typeface="Tahoma"/>
                          <a:cs typeface="Tahoma"/>
                        </a:rPr>
                        <a:t>Rationale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Patients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13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395</a:t>
                      </a:r>
                      <a:r>
                        <a:rPr sz="1250" spc="-8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5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(356</a:t>
                      </a:r>
                      <a:r>
                        <a:rPr sz="1250" spc="-8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train,</a:t>
                      </a:r>
                      <a:r>
                        <a:rPr sz="1250" spc="-18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3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39</a:t>
                      </a:r>
                      <a:r>
                        <a:rPr sz="1250" spc="-8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2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test)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5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~300,000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1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Rapid</a:t>
                      </a:r>
                      <a:r>
                        <a:rPr sz="1250" spc="-8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0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prototyping</a:t>
                      </a:r>
                      <a:r>
                        <a:rPr sz="1250" spc="-7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10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sz="1250" spc="-9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validation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Tables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50" spc="-12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r>
                        <a:rPr sz="1250" spc="-9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2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core</a:t>
                      </a:r>
                      <a:r>
                        <a:rPr sz="1250" spc="-9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tables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50" spc="-13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11</a:t>
                      </a:r>
                      <a:r>
                        <a:rPr sz="1250" spc="-10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5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comprehensive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50" spc="-14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Reduced</a:t>
                      </a:r>
                      <a:r>
                        <a:rPr sz="1250" spc="-4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complexity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5F5FF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13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Data</a:t>
                      </a:r>
                      <a:r>
                        <a:rPr sz="1250" spc="-8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2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Size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13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15</a:t>
                      </a:r>
                      <a:r>
                        <a:rPr sz="1250" spc="-10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MB</a:t>
                      </a:r>
                      <a:r>
                        <a:rPr sz="1250" spc="-9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3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compressed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13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45</a:t>
                      </a:r>
                      <a:r>
                        <a:rPr sz="1250" spc="-10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2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GB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9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Local</a:t>
                      </a:r>
                      <a:r>
                        <a:rPr sz="1250" spc="-8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3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development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Processing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22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&lt;30</a:t>
                      </a:r>
                      <a:r>
                        <a:rPr sz="1250" spc="-8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2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minutes</a:t>
                      </a:r>
                      <a:r>
                        <a:rPr sz="1250" spc="-7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2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total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22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24+</a:t>
                      </a:r>
                      <a:r>
                        <a:rPr sz="1250" spc="-8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hours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50" spc="-1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Quick </a:t>
                      </a: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iterations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F5F5FF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Events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5F5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50" spc="-14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14,283</a:t>
                      </a:r>
                      <a:r>
                        <a:rPr sz="1250" spc="-7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events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50" spc="-22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~50</a:t>
                      </a:r>
                      <a:r>
                        <a:rPr sz="1250" spc="-8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10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million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5F5FF"/>
                      </a:solidFill>
                      <a:prstDash val="solid"/>
                    </a:lnL>
                    <a:lnR w="9525">
                      <a:solidFill>
                        <a:srgbClr val="F5F5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50" spc="-10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Methodology</a:t>
                      </a:r>
                      <a:r>
                        <a:rPr sz="1250" spc="-6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50" spc="-35" dirty="0">
                          <a:solidFill>
                            <a:srgbClr val="00002E"/>
                          </a:solidFill>
                          <a:latin typeface="Verdana"/>
                          <a:cs typeface="Verdana"/>
                        </a:rPr>
                        <a:t>demonstration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5F5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657224" y="4810124"/>
            <a:ext cx="10115550" cy="847725"/>
            <a:chOff x="657224" y="4810124"/>
            <a:chExt cx="10115550" cy="847725"/>
          </a:xfrm>
        </p:grpSpPr>
        <p:sp>
          <p:nvSpPr>
            <p:cNvPr id="11" name="object 11"/>
            <p:cNvSpPr/>
            <p:nvPr/>
          </p:nvSpPr>
          <p:spPr>
            <a:xfrm>
              <a:off x="657224" y="4810124"/>
              <a:ext cx="10115550" cy="847725"/>
            </a:xfrm>
            <a:custGeom>
              <a:avLst/>
              <a:gdLst/>
              <a:ahLst/>
              <a:cxnLst/>
              <a:rect l="l" t="t" r="r" b="b"/>
              <a:pathLst>
                <a:path w="10115550" h="847725">
                  <a:moveTo>
                    <a:pt x="9916843" y="847724"/>
                  </a:moveTo>
                  <a:lnTo>
                    <a:pt x="198704" y="847724"/>
                  </a:lnTo>
                  <a:lnTo>
                    <a:pt x="188942" y="847486"/>
                  </a:lnTo>
                  <a:lnTo>
                    <a:pt x="150411" y="841767"/>
                  </a:lnTo>
                  <a:lnTo>
                    <a:pt x="113736" y="828642"/>
                  </a:lnTo>
                  <a:lnTo>
                    <a:pt x="80326" y="808614"/>
                  </a:lnTo>
                  <a:lnTo>
                    <a:pt x="51465" y="782453"/>
                  </a:lnTo>
                  <a:lnTo>
                    <a:pt x="28262" y="751164"/>
                  </a:lnTo>
                  <a:lnTo>
                    <a:pt x="11610" y="715950"/>
                  </a:lnTo>
                  <a:lnTo>
                    <a:pt x="2147" y="678164"/>
                  </a:lnTo>
                  <a:lnTo>
                    <a:pt x="0" y="649020"/>
                  </a:lnTo>
                  <a:lnTo>
                    <a:pt x="0" y="198704"/>
                  </a:lnTo>
                  <a:lnTo>
                    <a:pt x="3818" y="159938"/>
                  </a:lnTo>
                  <a:lnTo>
                    <a:pt x="15125" y="122662"/>
                  </a:lnTo>
                  <a:lnTo>
                    <a:pt x="33487" y="88309"/>
                  </a:lnTo>
                  <a:lnTo>
                    <a:pt x="58199" y="58199"/>
                  </a:lnTo>
                  <a:lnTo>
                    <a:pt x="88310" y="33487"/>
                  </a:lnTo>
                  <a:lnTo>
                    <a:pt x="122663" y="15125"/>
                  </a:lnTo>
                  <a:lnTo>
                    <a:pt x="159939" y="3818"/>
                  </a:lnTo>
                  <a:lnTo>
                    <a:pt x="198704" y="0"/>
                  </a:lnTo>
                  <a:lnTo>
                    <a:pt x="9916843" y="0"/>
                  </a:lnTo>
                  <a:lnTo>
                    <a:pt x="9955607" y="3818"/>
                  </a:lnTo>
                  <a:lnTo>
                    <a:pt x="9992883" y="15125"/>
                  </a:lnTo>
                  <a:lnTo>
                    <a:pt x="10027237" y="33487"/>
                  </a:lnTo>
                  <a:lnTo>
                    <a:pt x="10057349" y="58199"/>
                  </a:lnTo>
                  <a:lnTo>
                    <a:pt x="10082061" y="88309"/>
                  </a:lnTo>
                  <a:lnTo>
                    <a:pt x="10100423" y="122662"/>
                  </a:lnTo>
                  <a:lnTo>
                    <a:pt x="10111730" y="159938"/>
                  </a:lnTo>
                  <a:lnTo>
                    <a:pt x="10115549" y="198704"/>
                  </a:lnTo>
                  <a:lnTo>
                    <a:pt x="10115549" y="649020"/>
                  </a:lnTo>
                  <a:lnTo>
                    <a:pt x="10111730" y="687784"/>
                  </a:lnTo>
                  <a:lnTo>
                    <a:pt x="10100423" y="725060"/>
                  </a:lnTo>
                  <a:lnTo>
                    <a:pt x="10082060" y="759414"/>
                  </a:lnTo>
                  <a:lnTo>
                    <a:pt x="10057349" y="789524"/>
                  </a:lnTo>
                  <a:lnTo>
                    <a:pt x="10027238" y="814236"/>
                  </a:lnTo>
                  <a:lnTo>
                    <a:pt x="9992884" y="832598"/>
                  </a:lnTo>
                  <a:lnTo>
                    <a:pt x="9955608" y="843905"/>
                  </a:lnTo>
                  <a:lnTo>
                    <a:pt x="9916843" y="847724"/>
                  </a:lnTo>
                  <a:close/>
                </a:path>
              </a:pathLst>
            </a:custGeom>
            <a:solidFill>
              <a:srgbClr val="B6C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9427" y="5048659"/>
              <a:ext cx="139079" cy="1390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58428" y="4933975"/>
            <a:ext cx="945896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50" b="1" spc="-114" dirty="0">
                <a:latin typeface="Tahoma"/>
                <a:cs typeface="Tahoma"/>
              </a:rPr>
              <a:t>Tables</a:t>
            </a:r>
            <a:r>
              <a:rPr sz="1250" b="1" spc="-5" dirty="0">
                <a:latin typeface="Tahoma"/>
                <a:cs typeface="Tahoma"/>
              </a:rPr>
              <a:t> </a:t>
            </a:r>
            <a:r>
              <a:rPr sz="1250" b="1" spc="-130" dirty="0">
                <a:latin typeface="Tahoma"/>
                <a:cs typeface="Tahoma"/>
              </a:rPr>
              <a:t>Included:</a:t>
            </a:r>
            <a:r>
              <a:rPr sz="1250" b="1" spc="-20" dirty="0">
                <a:latin typeface="Tahoma"/>
                <a:cs typeface="Tahoma"/>
              </a:rPr>
              <a:t> </a:t>
            </a:r>
            <a:r>
              <a:rPr sz="1250" spc="-114" dirty="0">
                <a:latin typeface="Verdana"/>
                <a:cs typeface="Verdana"/>
              </a:rPr>
              <a:t>Admissions</a:t>
            </a:r>
            <a:r>
              <a:rPr sz="1250" spc="-55" dirty="0">
                <a:latin typeface="Verdana"/>
                <a:cs typeface="Verdana"/>
              </a:rPr>
              <a:t> </a:t>
            </a:r>
            <a:r>
              <a:rPr sz="1250" spc="-105" dirty="0">
                <a:latin typeface="Verdana"/>
                <a:cs typeface="Verdana"/>
              </a:rPr>
              <a:t>(hospital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155" dirty="0">
                <a:latin typeface="Verdana"/>
                <a:cs typeface="Verdana"/>
              </a:rPr>
              <a:t>stays),</a:t>
            </a:r>
            <a:r>
              <a:rPr sz="1250" spc="-165" dirty="0">
                <a:latin typeface="Verdana"/>
                <a:cs typeface="Verdana"/>
              </a:rPr>
              <a:t> </a:t>
            </a:r>
            <a:r>
              <a:rPr sz="1250" spc="-105" dirty="0">
                <a:latin typeface="Verdana"/>
                <a:cs typeface="Verdana"/>
              </a:rPr>
              <a:t>Patients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140" dirty="0">
                <a:latin typeface="Verdana"/>
                <a:cs typeface="Verdana"/>
              </a:rPr>
              <a:t>(demographics),</a:t>
            </a:r>
            <a:r>
              <a:rPr sz="1250" spc="-165" dirty="0">
                <a:latin typeface="Verdana"/>
                <a:cs typeface="Verdana"/>
              </a:rPr>
              <a:t> </a:t>
            </a:r>
            <a:r>
              <a:rPr sz="1250" spc="-120" dirty="0">
                <a:latin typeface="Verdana"/>
                <a:cs typeface="Verdana"/>
              </a:rPr>
              <a:t>Diagnoses</a:t>
            </a:r>
            <a:r>
              <a:rPr sz="1250" spc="-55" dirty="0">
                <a:latin typeface="Verdana"/>
                <a:cs typeface="Verdana"/>
              </a:rPr>
              <a:t> </a:t>
            </a:r>
            <a:r>
              <a:rPr sz="1250" spc="-170" dirty="0">
                <a:latin typeface="Verdana"/>
                <a:cs typeface="Verdana"/>
              </a:rPr>
              <a:t>ICD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130" dirty="0">
                <a:latin typeface="Verdana"/>
                <a:cs typeface="Verdana"/>
              </a:rPr>
              <a:t>(disease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150" dirty="0">
                <a:latin typeface="Verdana"/>
                <a:cs typeface="Verdana"/>
              </a:rPr>
              <a:t>codes),</a:t>
            </a:r>
            <a:r>
              <a:rPr sz="1250" spc="-165" dirty="0">
                <a:latin typeface="Verdana"/>
                <a:cs typeface="Verdana"/>
              </a:rPr>
              <a:t> </a:t>
            </a:r>
            <a:r>
              <a:rPr sz="1250" spc="-125" dirty="0">
                <a:latin typeface="Verdana"/>
                <a:cs typeface="Verdana"/>
              </a:rPr>
              <a:t>Procedures</a:t>
            </a:r>
            <a:r>
              <a:rPr sz="1250" spc="-55" dirty="0">
                <a:latin typeface="Verdana"/>
                <a:cs typeface="Verdana"/>
              </a:rPr>
              <a:t> </a:t>
            </a:r>
            <a:r>
              <a:rPr sz="1250" spc="-170" dirty="0">
                <a:latin typeface="Verdana"/>
                <a:cs typeface="Verdana"/>
              </a:rPr>
              <a:t>ICD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145" dirty="0">
                <a:latin typeface="Verdana"/>
                <a:cs typeface="Verdana"/>
              </a:rPr>
              <a:t>(treatments),</a:t>
            </a:r>
            <a:r>
              <a:rPr sz="1250" spc="-165" dirty="0">
                <a:latin typeface="Verdana"/>
                <a:cs typeface="Verdana"/>
              </a:rPr>
              <a:t> </a:t>
            </a:r>
            <a:r>
              <a:rPr sz="1250" spc="-155" dirty="0">
                <a:latin typeface="Verdana"/>
                <a:cs typeface="Verdana"/>
              </a:rPr>
              <a:t>ICU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Stays </a:t>
            </a:r>
            <a:r>
              <a:rPr sz="1250" spc="-114" dirty="0">
                <a:latin typeface="Verdana"/>
                <a:cs typeface="Verdana"/>
              </a:rPr>
              <a:t>(intensive</a:t>
            </a:r>
            <a:r>
              <a:rPr sz="1250" spc="-65" dirty="0">
                <a:latin typeface="Verdana"/>
                <a:cs typeface="Verdana"/>
              </a:rPr>
              <a:t> </a:t>
            </a:r>
            <a:r>
              <a:rPr sz="1250" spc="-125" dirty="0">
                <a:latin typeface="Verdana"/>
                <a:cs typeface="Verdana"/>
              </a:rPr>
              <a:t>care</a:t>
            </a:r>
            <a:r>
              <a:rPr sz="1250" spc="-65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records)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50" dirty="0"/>
              <a:t>MEDS</a:t>
            </a:r>
            <a:r>
              <a:rPr spc="-65" dirty="0"/>
              <a:t> </a:t>
            </a:r>
            <a:r>
              <a:rPr spc="-95" dirty="0"/>
              <a:t>Extraction:</a:t>
            </a:r>
            <a:r>
              <a:rPr spc="-65" dirty="0"/>
              <a:t> </a:t>
            </a:r>
            <a:r>
              <a:rPr dirty="0"/>
              <a:t>7</a:t>
            </a:r>
            <a:r>
              <a:rPr spc="-60" dirty="0"/>
              <a:t> Critical</a:t>
            </a:r>
            <a:r>
              <a:rPr spc="-65" dirty="0"/>
              <a:t> </a:t>
            </a:r>
            <a:r>
              <a:rPr spc="80" dirty="0"/>
              <a:t>Stages</a:t>
            </a:r>
          </a:p>
        </p:txBody>
      </p:sp>
      <p:sp>
        <p:nvSpPr>
          <p:cNvPr id="3" name="object 3"/>
          <p:cNvSpPr/>
          <p:nvPr/>
        </p:nvSpPr>
        <p:spPr>
          <a:xfrm>
            <a:off x="657224" y="2114549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49" y="19049"/>
                </a:moveTo>
                <a:lnTo>
                  <a:pt x="0" y="19049"/>
                </a:lnTo>
                <a:lnTo>
                  <a:pt x="0" y="0"/>
                </a:lnTo>
                <a:lnTo>
                  <a:pt x="3295649" y="0"/>
                </a:lnTo>
                <a:lnTo>
                  <a:pt x="3295649" y="19049"/>
                </a:lnTo>
                <a:close/>
              </a:path>
            </a:pathLst>
          </a:custGeom>
          <a:solidFill>
            <a:srgbClr val="2D4D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1846" y="2202148"/>
            <a:ext cx="3081655" cy="7366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dirty="0">
                <a:solidFill>
                  <a:srgbClr val="00002E"/>
                </a:solidFill>
                <a:latin typeface="Trebuchet MS"/>
                <a:cs typeface="Trebuchet MS"/>
              </a:rPr>
              <a:t>Shard</a:t>
            </a:r>
            <a:r>
              <a:rPr sz="1350" b="1" spc="7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00002E"/>
                </a:solidFill>
                <a:latin typeface="Trebuchet MS"/>
                <a:cs typeface="Trebuchet MS"/>
              </a:rPr>
              <a:t>Events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19600"/>
              </a:lnSpc>
              <a:spcBef>
                <a:spcPts val="635"/>
              </a:spcBef>
            </a:pP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Split </a:t>
            </a:r>
            <a:r>
              <a:rPr sz="1150" spc="-100" dirty="0">
                <a:solidFill>
                  <a:srgbClr val="00002E"/>
                </a:solidFill>
                <a:latin typeface="Verdana"/>
                <a:cs typeface="Verdana"/>
              </a:rPr>
              <a:t>raw</a:t>
            </a:r>
            <a:r>
              <a:rPr sz="115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50" dirty="0">
                <a:solidFill>
                  <a:srgbClr val="00002E"/>
                </a:solidFill>
                <a:latin typeface="Verdana"/>
                <a:cs typeface="Verdana"/>
              </a:rPr>
              <a:t>CSV</a:t>
            </a:r>
            <a:r>
              <a:rPr sz="1150" spc="-10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files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20" dirty="0">
                <a:solidFill>
                  <a:srgbClr val="00002E"/>
                </a:solidFill>
                <a:latin typeface="Verdana"/>
                <a:cs typeface="Verdana"/>
              </a:rPr>
              <a:t>by</a:t>
            </a:r>
            <a:r>
              <a:rPr sz="1150" spc="-10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patient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0" dirty="0">
                <a:solidFill>
                  <a:srgbClr val="00002E"/>
                </a:solidFill>
                <a:latin typeface="Verdana"/>
                <a:cs typeface="Verdana"/>
              </a:rPr>
              <a:t>groups</a:t>
            </a: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75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25" dirty="0">
                <a:solidFill>
                  <a:srgbClr val="00002E"/>
                </a:solidFill>
                <a:latin typeface="Verdana"/>
                <a:cs typeface="Verdana"/>
              </a:rPr>
              <a:t>parallel </a:t>
            </a:r>
            <a:r>
              <a:rPr sz="1150" spc="-95" dirty="0">
                <a:solidFill>
                  <a:srgbClr val="00002E"/>
                </a:solidFill>
                <a:latin typeface="Verdana"/>
                <a:cs typeface="Verdana"/>
              </a:rPr>
              <a:t>processing</a:t>
            </a:r>
            <a:r>
              <a:rPr sz="1150" spc="-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0002E"/>
                </a:solidFill>
                <a:latin typeface="Verdana"/>
                <a:cs typeface="Verdana"/>
              </a:rPr>
              <a:t>efficiency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7174" y="2114549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49" y="19049"/>
                </a:moveTo>
                <a:lnTo>
                  <a:pt x="0" y="19049"/>
                </a:lnTo>
                <a:lnTo>
                  <a:pt x="0" y="0"/>
                </a:lnTo>
                <a:lnTo>
                  <a:pt x="3295649" y="0"/>
                </a:lnTo>
                <a:lnTo>
                  <a:pt x="3295649" y="19049"/>
                </a:lnTo>
                <a:close/>
              </a:path>
            </a:pathLst>
          </a:custGeom>
          <a:solidFill>
            <a:srgbClr val="008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55367" y="2202148"/>
            <a:ext cx="2974975" cy="7366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dirty="0">
                <a:solidFill>
                  <a:srgbClr val="00002E"/>
                </a:solidFill>
                <a:latin typeface="Trebuchet MS"/>
                <a:cs typeface="Trebuchet MS"/>
              </a:rPr>
              <a:t>Split</a:t>
            </a:r>
            <a:r>
              <a:rPr sz="1350" b="1" spc="6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00002E"/>
                </a:solidFill>
                <a:latin typeface="Trebuchet MS"/>
                <a:cs typeface="Trebuchet MS"/>
              </a:rPr>
              <a:t>Subjects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19600"/>
              </a:lnSpc>
              <a:spcBef>
                <a:spcPts val="635"/>
              </a:spcBef>
            </a:pP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Divide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5" dirty="0">
                <a:solidFill>
                  <a:srgbClr val="00002E"/>
                </a:solidFill>
                <a:latin typeface="Verdana"/>
                <a:cs typeface="Verdana"/>
              </a:rPr>
              <a:t>patients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into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train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90" dirty="0">
                <a:solidFill>
                  <a:srgbClr val="00002E"/>
                </a:solidFill>
                <a:latin typeface="Verdana"/>
                <a:cs typeface="Verdana"/>
              </a:rPr>
              <a:t>(90%)</a:t>
            </a:r>
            <a:r>
              <a:rPr sz="11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5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90" dirty="0">
                <a:solidFill>
                  <a:srgbClr val="00002E"/>
                </a:solidFill>
                <a:latin typeface="Verdana"/>
                <a:cs typeface="Verdana"/>
              </a:rPr>
              <a:t>test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30" dirty="0">
                <a:solidFill>
                  <a:srgbClr val="00002E"/>
                </a:solidFill>
                <a:latin typeface="Verdana"/>
                <a:cs typeface="Verdana"/>
              </a:rPr>
              <a:t>(10%) </a:t>
            </a: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splits </a:t>
            </a:r>
            <a:r>
              <a:rPr sz="1150" spc="-75" dirty="0">
                <a:solidFill>
                  <a:srgbClr val="00002E"/>
                </a:solidFill>
                <a:latin typeface="Verdana"/>
                <a:cs typeface="Verdana"/>
              </a:rPr>
              <a:t>for </a:t>
            </a:r>
            <a:r>
              <a:rPr sz="1150" spc="-10" dirty="0">
                <a:solidFill>
                  <a:srgbClr val="00002E"/>
                </a:solidFill>
                <a:latin typeface="Verdana"/>
                <a:cs typeface="Verdana"/>
              </a:rPr>
              <a:t>validation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6963" y="1274508"/>
            <a:ext cx="971931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05" marR="5080">
              <a:lnSpc>
                <a:spcPct val="125000"/>
              </a:lnSpc>
              <a:spcBef>
                <a:spcPts val="95"/>
              </a:spcBef>
            </a:pP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Medical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0" dirty="0">
                <a:solidFill>
                  <a:srgbClr val="00002E"/>
                </a:solidFill>
                <a:latin typeface="Verdana"/>
                <a:cs typeface="Verdana"/>
              </a:rPr>
              <a:t>Event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10" dirty="0">
                <a:solidFill>
                  <a:srgbClr val="00002E"/>
                </a:solidFill>
                <a:latin typeface="Verdana"/>
                <a:cs typeface="Verdana"/>
              </a:rPr>
              <a:t>Data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10" dirty="0">
                <a:solidFill>
                  <a:srgbClr val="00002E"/>
                </a:solidFill>
                <a:latin typeface="Verdana"/>
                <a:cs typeface="Verdana"/>
              </a:rPr>
              <a:t>Standard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50" dirty="0">
                <a:solidFill>
                  <a:srgbClr val="00002E"/>
                </a:solidFill>
                <a:latin typeface="Verdana"/>
                <a:cs typeface="Verdana"/>
              </a:rPr>
              <a:t>(MEDS)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5" dirty="0">
                <a:solidFill>
                  <a:srgbClr val="00002E"/>
                </a:solidFill>
                <a:latin typeface="Verdana"/>
                <a:cs typeface="Verdana"/>
              </a:rPr>
              <a:t>transforms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0" dirty="0">
                <a:solidFill>
                  <a:srgbClr val="00002E"/>
                </a:solidFill>
                <a:latin typeface="Verdana"/>
                <a:cs typeface="Verdana"/>
              </a:rPr>
              <a:t>raw</a:t>
            </a:r>
            <a:r>
              <a:rPr sz="1150" spc="-7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clinical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tables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into</a:t>
            </a:r>
            <a:r>
              <a:rPr sz="11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95" dirty="0">
                <a:solidFill>
                  <a:srgbClr val="00002E"/>
                </a:solidFill>
                <a:latin typeface="Verdana"/>
                <a:cs typeface="Verdana"/>
              </a:rPr>
              <a:t>standardized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5" dirty="0">
                <a:solidFill>
                  <a:srgbClr val="00002E"/>
                </a:solidFill>
                <a:latin typeface="Verdana"/>
                <a:cs typeface="Verdana"/>
              </a:rPr>
              <a:t>event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5" dirty="0">
                <a:solidFill>
                  <a:srgbClr val="00002E"/>
                </a:solidFill>
                <a:latin typeface="Verdana"/>
                <a:cs typeface="Verdana"/>
              </a:rPr>
              <a:t>sequences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10" dirty="0">
                <a:solidFill>
                  <a:srgbClr val="00002E"/>
                </a:solidFill>
                <a:latin typeface="Verdana"/>
                <a:cs typeface="Verdana"/>
              </a:rPr>
              <a:t>timestamps,</a:t>
            </a:r>
            <a:r>
              <a:rPr sz="1150" spc="-1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75" dirty="0">
                <a:solidFill>
                  <a:srgbClr val="00002E"/>
                </a:solidFill>
                <a:latin typeface="Verdana"/>
                <a:cs typeface="Verdana"/>
              </a:rPr>
              <a:t>enabling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75" dirty="0">
                <a:solidFill>
                  <a:srgbClr val="00002E"/>
                </a:solidFill>
                <a:latin typeface="Verdana"/>
                <a:cs typeface="Verdana"/>
              </a:rPr>
              <a:t>interoperability</a:t>
            </a:r>
            <a:r>
              <a:rPr sz="115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0002E"/>
                </a:solidFill>
                <a:latin typeface="Verdana"/>
                <a:cs typeface="Verdana"/>
              </a:rPr>
              <a:t>across </a:t>
            </a:r>
            <a:r>
              <a:rPr sz="1150" spc="-85" dirty="0">
                <a:solidFill>
                  <a:srgbClr val="00002E"/>
                </a:solidFill>
                <a:latin typeface="Verdana"/>
                <a:cs typeface="Verdana"/>
              </a:rPr>
              <a:t>healthcare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0002E"/>
                </a:solidFill>
                <a:latin typeface="Verdana"/>
                <a:cs typeface="Verdana"/>
              </a:rPr>
              <a:t>systems.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3425825" algn="l"/>
                <a:tab pos="6839584" algn="l"/>
              </a:tabLst>
            </a:pPr>
            <a:r>
              <a:rPr sz="1150" spc="-25" dirty="0">
                <a:solidFill>
                  <a:srgbClr val="00002E"/>
                </a:solidFill>
                <a:latin typeface="Courier New"/>
                <a:cs typeface="Courier New"/>
              </a:rPr>
              <a:t>01</a:t>
            </a:r>
            <a:r>
              <a:rPr sz="1150" dirty="0">
                <a:solidFill>
                  <a:srgbClr val="00002E"/>
                </a:solidFill>
                <a:latin typeface="Courier New"/>
                <a:cs typeface="Courier New"/>
              </a:rPr>
              <a:t>	</a:t>
            </a:r>
            <a:r>
              <a:rPr sz="1150" spc="-25" dirty="0">
                <a:solidFill>
                  <a:srgbClr val="00002E"/>
                </a:solidFill>
                <a:latin typeface="Courier New"/>
                <a:cs typeface="Courier New"/>
              </a:rPr>
              <a:t>02</a:t>
            </a:r>
            <a:r>
              <a:rPr sz="1150" dirty="0">
                <a:solidFill>
                  <a:srgbClr val="00002E"/>
                </a:solidFill>
                <a:latin typeface="Courier New"/>
                <a:cs typeface="Courier New"/>
              </a:rPr>
              <a:t>	</a:t>
            </a:r>
            <a:r>
              <a:rPr sz="1150" spc="-25" dirty="0">
                <a:solidFill>
                  <a:srgbClr val="00002E"/>
                </a:solidFill>
                <a:latin typeface="Courier New"/>
                <a:cs typeface="Courier New"/>
              </a:rPr>
              <a:t>03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77124" y="2114549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49" y="19049"/>
                </a:moveTo>
                <a:lnTo>
                  <a:pt x="0" y="19049"/>
                </a:lnTo>
                <a:lnTo>
                  <a:pt x="0" y="0"/>
                </a:lnTo>
                <a:lnTo>
                  <a:pt x="3295649" y="0"/>
                </a:lnTo>
                <a:lnTo>
                  <a:pt x="3295649" y="19049"/>
                </a:lnTo>
                <a:close/>
              </a:path>
            </a:pathLst>
          </a:custGeom>
          <a:solidFill>
            <a:srgbClr val="D933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68889" y="2202148"/>
            <a:ext cx="3202940" cy="7366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dirty="0">
                <a:solidFill>
                  <a:srgbClr val="00002E"/>
                </a:solidFill>
                <a:latin typeface="Trebuchet MS"/>
                <a:cs typeface="Trebuchet MS"/>
              </a:rPr>
              <a:t>Convert</a:t>
            </a:r>
            <a:r>
              <a:rPr sz="1350" b="1" spc="-4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00002E"/>
                </a:solidFill>
                <a:latin typeface="Trebuchet MS"/>
                <a:cs typeface="Trebuchet MS"/>
              </a:rPr>
              <a:t>to</a:t>
            </a:r>
            <a:r>
              <a:rPr sz="1350" b="1" spc="-3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00002E"/>
                </a:solidFill>
                <a:latin typeface="Trebuchet MS"/>
                <a:cs typeface="Trebuchet MS"/>
              </a:rPr>
              <a:t>Sharded</a:t>
            </a:r>
            <a:r>
              <a:rPr sz="1350" b="1" spc="-4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00002E"/>
                </a:solidFill>
                <a:latin typeface="Trebuchet MS"/>
                <a:cs typeface="Trebuchet MS"/>
              </a:rPr>
              <a:t>Events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19600"/>
              </a:lnSpc>
              <a:spcBef>
                <a:spcPts val="635"/>
              </a:spcBef>
            </a:pPr>
            <a:r>
              <a:rPr sz="1150" spc="-114" dirty="0">
                <a:solidFill>
                  <a:srgbClr val="00002E"/>
                </a:solidFill>
                <a:latin typeface="Verdana"/>
                <a:cs typeface="Verdana"/>
              </a:rPr>
              <a:t>Transform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tables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7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95" dirty="0">
                <a:solidFill>
                  <a:srgbClr val="00002E"/>
                </a:solidFill>
                <a:latin typeface="Verdana"/>
                <a:cs typeface="Verdana"/>
              </a:rPr>
              <a:t>standardized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5" dirty="0">
                <a:solidFill>
                  <a:srgbClr val="00002E"/>
                </a:solidFill>
                <a:latin typeface="Verdana"/>
                <a:cs typeface="Verdana"/>
              </a:rPr>
              <a:t>event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75" dirty="0">
                <a:solidFill>
                  <a:srgbClr val="00002E"/>
                </a:solidFill>
                <a:latin typeface="Verdana"/>
                <a:cs typeface="Verdana"/>
              </a:rPr>
              <a:t>sequences </a:t>
            </a: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90" dirty="0">
                <a:solidFill>
                  <a:srgbClr val="00002E"/>
                </a:solidFill>
                <a:latin typeface="Verdana"/>
                <a:cs typeface="Verdana"/>
              </a:rPr>
              <a:t>precise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0002E"/>
                </a:solidFill>
                <a:latin typeface="Verdana"/>
                <a:cs typeface="Verdana"/>
              </a:rPr>
              <a:t>timestamps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6963" y="3161982"/>
            <a:ext cx="205104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solidFill>
                  <a:srgbClr val="00002E"/>
                </a:solidFill>
                <a:latin typeface="Courier New"/>
                <a:cs typeface="Courier New"/>
              </a:rPr>
              <a:t>04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7224" y="3419474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49" y="19049"/>
                </a:moveTo>
                <a:lnTo>
                  <a:pt x="0" y="19049"/>
                </a:lnTo>
                <a:lnTo>
                  <a:pt x="0" y="0"/>
                </a:lnTo>
                <a:lnTo>
                  <a:pt x="3295649" y="0"/>
                </a:lnTo>
                <a:lnTo>
                  <a:pt x="3295649" y="19049"/>
                </a:lnTo>
                <a:close/>
              </a:path>
            </a:pathLst>
          </a:custGeom>
          <a:solidFill>
            <a:srgbClr val="2D4D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1846" y="3388227"/>
            <a:ext cx="2863215" cy="855344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350" b="1" dirty="0">
                <a:solidFill>
                  <a:srgbClr val="00002E"/>
                </a:solidFill>
                <a:latin typeface="Trebuchet MS"/>
                <a:cs typeface="Trebuchet MS"/>
              </a:rPr>
              <a:t>Merge</a:t>
            </a:r>
            <a:r>
              <a:rPr sz="1350" b="1" spc="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00002E"/>
                </a:solidFill>
                <a:latin typeface="Trebuchet MS"/>
                <a:cs typeface="Trebuchet MS"/>
              </a:rPr>
              <a:t>to</a:t>
            </a:r>
            <a:r>
              <a:rPr sz="1350" b="1" spc="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spc="140" dirty="0">
                <a:solidFill>
                  <a:srgbClr val="00002E"/>
                </a:solidFill>
                <a:latin typeface="Trebuchet MS"/>
                <a:cs typeface="Trebuchet MS"/>
              </a:rPr>
              <a:t>MEDS</a:t>
            </a:r>
            <a:r>
              <a:rPr sz="1350" b="1" spc="1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00002E"/>
                </a:solidFill>
                <a:latin typeface="Trebuchet MS"/>
                <a:cs typeface="Trebuchet MS"/>
              </a:rPr>
              <a:t>Cohort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  <a:spcBef>
                <a:spcPts val="484"/>
              </a:spcBef>
            </a:pPr>
            <a:r>
              <a:rPr sz="1150" spc="-85" dirty="0">
                <a:solidFill>
                  <a:srgbClr val="00002E"/>
                </a:solidFill>
                <a:latin typeface="Verdana"/>
                <a:cs typeface="Verdana"/>
              </a:rPr>
              <a:t>Consolidate</a:t>
            </a:r>
            <a:r>
              <a:rPr sz="11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individual</a:t>
            </a:r>
            <a:r>
              <a:rPr sz="11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patient</a:t>
            </a:r>
            <a:r>
              <a:rPr sz="11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75" dirty="0">
                <a:solidFill>
                  <a:srgbClr val="00002E"/>
                </a:solidFill>
                <a:latin typeface="Verdana"/>
                <a:cs typeface="Verdana"/>
              </a:rPr>
              <a:t>timelines</a:t>
            </a:r>
            <a:r>
              <a:rPr sz="11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20" dirty="0">
                <a:solidFill>
                  <a:srgbClr val="00002E"/>
                </a:solidFill>
                <a:latin typeface="Verdana"/>
                <a:cs typeface="Verdana"/>
              </a:rPr>
              <a:t>into </a:t>
            </a: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unified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0" dirty="0">
                <a:solidFill>
                  <a:srgbClr val="00002E"/>
                </a:solidFill>
                <a:latin typeface="Verdana"/>
                <a:cs typeface="Verdana"/>
              </a:rPr>
              <a:t>dataset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0002E"/>
                </a:solidFill>
                <a:latin typeface="Verdana"/>
                <a:cs typeface="Verdana"/>
              </a:rPr>
              <a:t>structure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40485" y="3161982"/>
            <a:ext cx="205104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solidFill>
                  <a:srgbClr val="00002E"/>
                </a:solidFill>
                <a:latin typeface="Courier New"/>
                <a:cs typeface="Courier New"/>
              </a:rPr>
              <a:t>05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67174" y="3419474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49" y="19049"/>
                </a:moveTo>
                <a:lnTo>
                  <a:pt x="0" y="19049"/>
                </a:lnTo>
                <a:lnTo>
                  <a:pt x="0" y="0"/>
                </a:lnTo>
                <a:lnTo>
                  <a:pt x="3295649" y="0"/>
                </a:lnTo>
                <a:lnTo>
                  <a:pt x="3295649" y="19049"/>
                </a:lnTo>
                <a:close/>
              </a:path>
            </a:pathLst>
          </a:custGeom>
          <a:solidFill>
            <a:srgbClr val="008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55367" y="3388227"/>
            <a:ext cx="3296920" cy="855344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350" b="1" spc="-20" dirty="0">
                <a:solidFill>
                  <a:srgbClr val="00002E"/>
                </a:solidFill>
                <a:latin typeface="Trebuchet MS"/>
                <a:cs typeface="Trebuchet MS"/>
              </a:rPr>
              <a:t>Extract</a:t>
            </a:r>
            <a:r>
              <a:rPr sz="1350" b="1" spc="-1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00002E"/>
                </a:solidFill>
                <a:latin typeface="Trebuchet MS"/>
                <a:cs typeface="Trebuchet MS"/>
              </a:rPr>
              <a:t>Code</a:t>
            </a:r>
            <a:r>
              <a:rPr sz="1350" b="1" spc="-1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00002E"/>
                </a:solidFill>
                <a:latin typeface="Trebuchet MS"/>
                <a:cs typeface="Trebuchet MS"/>
              </a:rPr>
              <a:t>Metadata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  <a:spcBef>
                <a:spcPts val="484"/>
              </a:spcBef>
            </a:pP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Build </a:t>
            </a:r>
            <a:r>
              <a:rPr sz="1150" spc="-100" dirty="0">
                <a:solidFill>
                  <a:srgbClr val="00002E"/>
                </a:solidFill>
                <a:latin typeface="Verdana"/>
                <a:cs typeface="Verdana"/>
              </a:rPr>
              <a:t>comprehensive</a:t>
            </a:r>
            <a:r>
              <a:rPr sz="11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dictionary</a:t>
            </a:r>
            <a:r>
              <a:rPr sz="1150" spc="-10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of</a:t>
            </a:r>
            <a:r>
              <a:rPr sz="11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25" dirty="0">
                <a:solidFill>
                  <a:srgbClr val="00002E"/>
                </a:solidFill>
                <a:latin typeface="Verdana"/>
                <a:cs typeface="Verdana"/>
              </a:rPr>
              <a:t>all</a:t>
            </a:r>
            <a:r>
              <a:rPr sz="11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clinical</a:t>
            </a:r>
            <a:r>
              <a:rPr sz="11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35" dirty="0">
                <a:solidFill>
                  <a:srgbClr val="00002E"/>
                </a:solidFill>
                <a:latin typeface="Verdana"/>
                <a:cs typeface="Verdana"/>
              </a:rPr>
              <a:t>codes </a:t>
            </a: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0" dirty="0">
                <a:solidFill>
                  <a:srgbClr val="00002E"/>
                </a:solidFill>
                <a:latin typeface="Verdana"/>
                <a:cs typeface="Verdana"/>
              </a:rPr>
              <a:t>frequency</a:t>
            </a:r>
            <a:r>
              <a:rPr sz="1150" spc="-8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0002E"/>
                </a:solidFill>
                <a:latin typeface="Verdana"/>
                <a:cs typeface="Verdana"/>
              </a:rPr>
              <a:t>counts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54007" y="3161982"/>
            <a:ext cx="205104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solidFill>
                  <a:srgbClr val="00002E"/>
                </a:solidFill>
                <a:latin typeface="Courier New"/>
                <a:cs typeface="Courier New"/>
              </a:rPr>
              <a:t>06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77124" y="3419474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49" y="19049"/>
                </a:moveTo>
                <a:lnTo>
                  <a:pt x="0" y="19049"/>
                </a:lnTo>
                <a:lnTo>
                  <a:pt x="0" y="0"/>
                </a:lnTo>
                <a:lnTo>
                  <a:pt x="3295649" y="0"/>
                </a:lnTo>
                <a:lnTo>
                  <a:pt x="3295649" y="19049"/>
                </a:lnTo>
                <a:close/>
              </a:path>
            </a:pathLst>
          </a:custGeom>
          <a:solidFill>
            <a:srgbClr val="D933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68889" y="3388227"/>
            <a:ext cx="2776855" cy="855344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350" b="1" spc="-25" dirty="0">
                <a:solidFill>
                  <a:srgbClr val="00002E"/>
                </a:solidFill>
                <a:latin typeface="Trebuchet MS"/>
                <a:cs typeface="Trebuchet MS"/>
              </a:rPr>
              <a:t>Finalize</a:t>
            </a:r>
            <a:r>
              <a:rPr sz="1350" b="1" spc="-5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spc="140" dirty="0">
                <a:solidFill>
                  <a:srgbClr val="00002E"/>
                </a:solidFill>
                <a:latin typeface="Trebuchet MS"/>
                <a:cs typeface="Trebuchet MS"/>
              </a:rPr>
              <a:t>MEDS</a:t>
            </a:r>
            <a:r>
              <a:rPr sz="1350" b="1" spc="-4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00002E"/>
                </a:solidFill>
                <a:latin typeface="Trebuchet MS"/>
                <a:cs typeface="Trebuchet MS"/>
              </a:rPr>
              <a:t>Metadata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  <a:spcBef>
                <a:spcPts val="484"/>
              </a:spcBef>
            </a:pPr>
            <a:r>
              <a:rPr sz="1150" spc="-110" dirty="0">
                <a:solidFill>
                  <a:srgbClr val="00002E"/>
                </a:solidFill>
                <a:latin typeface="Verdana"/>
                <a:cs typeface="Verdana"/>
              </a:rPr>
              <a:t>Create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0" dirty="0">
                <a:solidFill>
                  <a:srgbClr val="00002E"/>
                </a:solidFill>
                <a:latin typeface="Verdana"/>
                <a:cs typeface="Verdana"/>
              </a:rPr>
              <a:t>dataset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catalog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6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comprehensive statistics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5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0002E"/>
                </a:solidFill>
                <a:latin typeface="Verdana"/>
                <a:cs typeface="Verdana"/>
              </a:rPr>
              <a:t>documentation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7224" y="4724399"/>
            <a:ext cx="10115550" cy="19050"/>
          </a:xfrm>
          <a:custGeom>
            <a:avLst/>
            <a:gdLst/>
            <a:ahLst/>
            <a:cxnLst/>
            <a:rect l="l" t="t" r="r" b="b"/>
            <a:pathLst>
              <a:path w="10115550" h="19050">
                <a:moveTo>
                  <a:pt x="10115549" y="19049"/>
                </a:moveTo>
                <a:lnTo>
                  <a:pt x="0" y="19049"/>
                </a:lnTo>
                <a:lnTo>
                  <a:pt x="0" y="0"/>
                </a:lnTo>
                <a:lnTo>
                  <a:pt x="10115549" y="0"/>
                </a:lnTo>
                <a:lnTo>
                  <a:pt x="10115549" y="19049"/>
                </a:lnTo>
                <a:close/>
              </a:path>
            </a:pathLst>
          </a:custGeom>
          <a:solidFill>
            <a:srgbClr val="2D4D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6963" y="4457382"/>
            <a:ext cx="6155690" cy="13385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solidFill>
                  <a:srgbClr val="00002E"/>
                </a:solidFill>
                <a:latin typeface="Courier New"/>
                <a:cs typeface="Courier New"/>
              </a:rPr>
              <a:t>07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ourier New"/>
              <a:cs typeface="Courier New"/>
            </a:endParaRPr>
          </a:p>
          <a:p>
            <a:pPr marL="27305">
              <a:lnSpc>
                <a:spcPct val="100000"/>
              </a:lnSpc>
              <a:spcBef>
                <a:spcPts val="5"/>
              </a:spcBef>
            </a:pPr>
            <a:r>
              <a:rPr sz="1350" b="1" spc="-25" dirty="0">
                <a:solidFill>
                  <a:srgbClr val="00002E"/>
                </a:solidFill>
                <a:latin typeface="Trebuchet MS"/>
                <a:cs typeface="Trebuchet MS"/>
              </a:rPr>
              <a:t>Finalize</a:t>
            </a:r>
            <a:r>
              <a:rPr sz="1350" b="1" spc="-5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spc="140" dirty="0">
                <a:solidFill>
                  <a:srgbClr val="00002E"/>
                </a:solidFill>
                <a:latin typeface="Trebuchet MS"/>
                <a:cs typeface="Trebuchet MS"/>
              </a:rPr>
              <a:t>MEDS</a:t>
            </a:r>
            <a:r>
              <a:rPr sz="1350" b="1" spc="-4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50" b="1" spc="-20" dirty="0">
                <a:solidFill>
                  <a:srgbClr val="00002E"/>
                </a:solidFill>
                <a:latin typeface="Trebuchet MS"/>
                <a:cs typeface="Trebuchet MS"/>
              </a:rPr>
              <a:t>Data</a:t>
            </a:r>
            <a:endParaRPr sz="1350">
              <a:latin typeface="Trebuchet MS"/>
              <a:cs typeface="Trebuchet MS"/>
            </a:endParaRPr>
          </a:p>
          <a:p>
            <a:pPr marL="27305">
              <a:lnSpc>
                <a:spcPct val="100000"/>
              </a:lnSpc>
              <a:spcBef>
                <a:spcPts val="905"/>
              </a:spcBef>
            </a:pPr>
            <a:r>
              <a:rPr sz="1150" spc="-85" dirty="0">
                <a:solidFill>
                  <a:srgbClr val="00002E"/>
                </a:solidFill>
                <a:latin typeface="Verdana"/>
                <a:cs typeface="Verdana"/>
              </a:rPr>
              <a:t>Validate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5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seal</a:t>
            </a:r>
            <a:r>
              <a:rPr sz="11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final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20" dirty="0">
                <a:solidFill>
                  <a:srgbClr val="00002E"/>
                </a:solidFill>
                <a:latin typeface="Verdana"/>
                <a:cs typeface="Verdana"/>
              </a:rPr>
              <a:t>MEDS-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compliant</a:t>
            </a:r>
            <a:r>
              <a:rPr sz="11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95" dirty="0">
                <a:solidFill>
                  <a:srgbClr val="00002E"/>
                </a:solidFill>
                <a:latin typeface="Verdana"/>
                <a:cs typeface="Verdana"/>
              </a:rPr>
              <a:t>parquet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files</a:t>
            </a:r>
            <a:r>
              <a:rPr sz="11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10" dirty="0">
                <a:solidFill>
                  <a:srgbClr val="00002E"/>
                </a:solidFill>
                <a:latin typeface="Verdana"/>
                <a:cs typeface="Verdana"/>
              </a:rPr>
              <a:t>ready</a:t>
            </a:r>
            <a:r>
              <a:rPr sz="1150" spc="-10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75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11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0002E"/>
                </a:solidFill>
                <a:latin typeface="Verdana"/>
                <a:cs typeface="Verdana"/>
              </a:rPr>
              <a:t>tokenization</a:t>
            </a: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150">
              <a:latin typeface="Verdana"/>
              <a:cs typeface="Verdana"/>
            </a:endParaRPr>
          </a:p>
          <a:p>
            <a:pPr marL="27305">
              <a:lnSpc>
                <a:spcPct val="100000"/>
              </a:lnSpc>
            </a:pPr>
            <a:r>
              <a:rPr sz="1150" b="1" spc="-105" dirty="0">
                <a:solidFill>
                  <a:srgbClr val="00002E"/>
                </a:solidFill>
                <a:latin typeface="Tahoma"/>
                <a:cs typeface="Tahoma"/>
              </a:rPr>
              <a:t>Output:</a:t>
            </a:r>
            <a:r>
              <a:rPr sz="1150" b="1" spc="2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50" spc="-95" dirty="0">
                <a:solidFill>
                  <a:srgbClr val="00002E"/>
                </a:solidFill>
                <a:latin typeface="Verdana"/>
                <a:cs typeface="Verdana"/>
              </a:rPr>
              <a:t>356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train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5" dirty="0">
                <a:solidFill>
                  <a:srgbClr val="00002E"/>
                </a:solidFill>
                <a:latin typeface="Verdana"/>
                <a:cs typeface="Verdana"/>
              </a:rPr>
              <a:t>patients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35" dirty="0">
                <a:solidFill>
                  <a:srgbClr val="00002E"/>
                </a:solidFill>
                <a:latin typeface="Verdana"/>
                <a:cs typeface="Verdana"/>
              </a:rPr>
              <a:t>(115KB),</a:t>
            </a:r>
            <a:r>
              <a:rPr sz="1150" spc="-1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95" dirty="0">
                <a:solidFill>
                  <a:srgbClr val="00002E"/>
                </a:solidFill>
                <a:latin typeface="Verdana"/>
                <a:cs typeface="Verdana"/>
              </a:rPr>
              <a:t>39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90" dirty="0">
                <a:solidFill>
                  <a:srgbClr val="00002E"/>
                </a:solidFill>
                <a:latin typeface="Verdana"/>
                <a:cs typeface="Verdana"/>
              </a:rPr>
              <a:t>test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5" dirty="0">
                <a:solidFill>
                  <a:srgbClr val="00002E"/>
                </a:solidFill>
                <a:latin typeface="Verdana"/>
                <a:cs typeface="Verdana"/>
              </a:rPr>
              <a:t>patients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40" dirty="0">
                <a:solidFill>
                  <a:srgbClr val="00002E"/>
                </a:solidFill>
                <a:latin typeface="Verdana"/>
                <a:cs typeface="Verdana"/>
              </a:rPr>
              <a:t>(23KB)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in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95" dirty="0">
                <a:solidFill>
                  <a:srgbClr val="00002E"/>
                </a:solidFill>
                <a:latin typeface="Verdana"/>
                <a:cs typeface="Verdana"/>
              </a:rPr>
              <a:t>standardized</a:t>
            </a:r>
            <a:r>
              <a:rPr sz="11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80" dirty="0">
                <a:solidFill>
                  <a:srgbClr val="00002E"/>
                </a:solidFill>
                <a:latin typeface="Verdana"/>
                <a:cs typeface="Verdana"/>
              </a:rPr>
              <a:t>interoperable</a:t>
            </a:r>
            <a:r>
              <a:rPr sz="11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0002E"/>
                </a:solidFill>
                <a:latin typeface="Verdana"/>
                <a:cs typeface="Verdana"/>
              </a:rPr>
              <a:t>format</a:t>
            </a:r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643915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3F3FF">
              <a:alpha val="7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50" y="9524"/>
            <a:ext cx="4286250" cy="64293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1846" y="514604"/>
            <a:ext cx="5657215" cy="831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80"/>
              </a:spcBef>
            </a:pPr>
            <a:r>
              <a:rPr sz="2600" dirty="0"/>
              <a:t>Multi-</a:t>
            </a:r>
            <a:r>
              <a:rPr sz="2600" spc="-60" dirty="0"/>
              <a:t>Environment</a:t>
            </a:r>
            <a:r>
              <a:rPr sz="2600" spc="-5" dirty="0"/>
              <a:t> </a:t>
            </a:r>
            <a:r>
              <a:rPr sz="2600" spc="-90" dirty="0"/>
              <a:t>Pipeline:</a:t>
            </a:r>
            <a:r>
              <a:rPr sz="2600" spc="-5" dirty="0"/>
              <a:t> </a:t>
            </a:r>
            <a:r>
              <a:rPr sz="2600" spc="-10" dirty="0"/>
              <a:t>Strategic </a:t>
            </a:r>
            <a:r>
              <a:rPr sz="2600" spc="-40" dirty="0"/>
              <a:t>Resource</a:t>
            </a:r>
            <a:r>
              <a:rPr sz="2600" spc="-155" dirty="0"/>
              <a:t> </a:t>
            </a:r>
            <a:r>
              <a:rPr sz="2600" spc="-10" dirty="0"/>
              <a:t>Allocation</a:t>
            </a:r>
            <a:endParaRPr sz="2600"/>
          </a:p>
        </p:txBody>
      </p:sp>
      <p:grpSp>
        <p:nvGrpSpPr>
          <p:cNvPr id="8" name="object 8"/>
          <p:cNvGrpSpPr/>
          <p:nvPr/>
        </p:nvGrpSpPr>
        <p:grpSpPr>
          <a:xfrm>
            <a:off x="648458" y="1515233"/>
            <a:ext cx="719455" cy="3684270"/>
            <a:chOff x="648458" y="1515233"/>
            <a:chExt cx="719455" cy="3684270"/>
          </a:xfrm>
        </p:grpSpPr>
        <p:sp>
          <p:nvSpPr>
            <p:cNvPr id="9" name="object 9"/>
            <p:cNvSpPr/>
            <p:nvPr/>
          </p:nvSpPr>
          <p:spPr>
            <a:xfrm>
              <a:off x="657224" y="1523999"/>
              <a:ext cx="701675" cy="942340"/>
            </a:xfrm>
            <a:custGeom>
              <a:avLst/>
              <a:gdLst/>
              <a:ahLst/>
              <a:cxnLst/>
              <a:rect l="l" t="t" r="r" b="b"/>
              <a:pathLst>
                <a:path w="701675" h="942339">
                  <a:moveTo>
                    <a:pt x="701306" y="0"/>
                  </a:moveTo>
                  <a:lnTo>
                    <a:pt x="350653" y="140258"/>
                  </a:lnTo>
                  <a:lnTo>
                    <a:pt x="0" y="0"/>
                  </a:lnTo>
                  <a:lnTo>
                    <a:pt x="0" y="801814"/>
                  </a:lnTo>
                  <a:lnTo>
                    <a:pt x="350653" y="942086"/>
                  </a:lnTo>
                  <a:lnTo>
                    <a:pt x="701306" y="801814"/>
                  </a:lnTo>
                  <a:lnTo>
                    <a:pt x="701306" y="0"/>
                  </a:lnTo>
                  <a:close/>
                </a:path>
              </a:pathLst>
            </a:custGeom>
            <a:solidFill>
              <a:srgbClr val="F3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7224" y="1523999"/>
              <a:ext cx="701675" cy="942340"/>
            </a:xfrm>
            <a:custGeom>
              <a:avLst/>
              <a:gdLst/>
              <a:ahLst/>
              <a:cxnLst/>
              <a:rect l="l" t="t" r="r" b="b"/>
              <a:pathLst>
                <a:path w="701675" h="942339">
                  <a:moveTo>
                    <a:pt x="0" y="801814"/>
                  </a:moveTo>
                  <a:lnTo>
                    <a:pt x="350653" y="942086"/>
                  </a:lnTo>
                  <a:lnTo>
                    <a:pt x="701306" y="801814"/>
                  </a:lnTo>
                  <a:lnTo>
                    <a:pt x="701306" y="0"/>
                  </a:lnTo>
                  <a:lnTo>
                    <a:pt x="350653" y="140258"/>
                  </a:lnTo>
                  <a:lnTo>
                    <a:pt x="0" y="0"/>
                  </a:lnTo>
                  <a:lnTo>
                    <a:pt x="0" y="801814"/>
                  </a:lnTo>
                  <a:close/>
                </a:path>
              </a:pathLst>
            </a:custGeom>
            <a:ln w="17532">
              <a:solidFill>
                <a:srgbClr val="2D4D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690" y="1888732"/>
              <a:ext cx="219608" cy="20473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57224" y="2466974"/>
              <a:ext cx="701675" cy="842010"/>
            </a:xfrm>
            <a:custGeom>
              <a:avLst/>
              <a:gdLst/>
              <a:ahLst/>
              <a:cxnLst/>
              <a:rect l="l" t="t" r="r" b="b"/>
              <a:pathLst>
                <a:path w="701675" h="842010">
                  <a:moveTo>
                    <a:pt x="701306" y="0"/>
                  </a:moveTo>
                  <a:lnTo>
                    <a:pt x="350653" y="140258"/>
                  </a:lnTo>
                  <a:lnTo>
                    <a:pt x="0" y="0"/>
                  </a:lnTo>
                  <a:lnTo>
                    <a:pt x="0" y="701205"/>
                  </a:lnTo>
                  <a:lnTo>
                    <a:pt x="350653" y="841476"/>
                  </a:lnTo>
                  <a:lnTo>
                    <a:pt x="701306" y="701205"/>
                  </a:lnTo>
                  <a:lnTo>
                    <a:pt x="701306" y="0"/>
                  </a:lnTo>
                  <a:close/>
                </a:path>
              </a:pathLst>
            </a:custGeom>
            <a:solidFill>
              <a:srgbClr val="F3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7224" y="2466974"/>
              <a:ext cx="701675" cy="842010"/>
            </a:xfrm>
            <a:custGeom>
              <a:avLst/>
              <a:gdLst/>
              <a:ahLst/>
              <a:cxnLst/>
              <a:rect l="l" t="t" r="r" b="b"/>
              <a:pathLst>
                <a:path w="701675" h="842010">
                  <a:moveTo>
                    <a:pt x="0" y="701205"/>
                  </a:moveTo>
                  <a:lnTo>
                    <a:pt x="350653" y="841476"/>
                  </a:lnTo>
                  <a:lnTo>
                    <a:pt x="701306" y="701205"/>
                  </a:lnTo>
                  <a:lnTo>
                    <a:pt x="701306" y="0"/>
                  </a:lnTo>
                  <a:lnTo>
                    <a:pt x="350653" y="140258"/>
                  </a:lnTo>
                  <a:lnTo>
                    <a:pt x="0" y="0"/>
                  </a:lnTo>
                  <a:lnTo>
                    <a:pt x="0" y="701205"/>
                  </a:lnTo>
                  <a:close/>
                </a:path>
              </a:pathLst>
            </a:custGeom>
            <a:ln w="17532">
              <a:solidFill>
                <a:srgbClr val="008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0596" y="2776973"/>
              <a:ext cx="219707" cy="21895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57224" y="3305174"/>
              <a:ext cx="701675" cy="942340"/>
            </a:xfrm>
            <a:custGeom>
              <a:avLst/>
              <a:gdLst/>
              <a:ahLst/>
              <a:cxnLst/>
              <a:rect l="l" t="t" r="r" b="b"/>
              <a:pathLst>
                <a:path w="701675" h="942339">
                  <a:moveTo>
                    <a:pt x="701306" y="0"/>
                  </a:moveTo>
                  <a:lnTo>
                    <a:pt x="350653" y="140258"/>
                  </a:lnTo>
                  <a:lnTo>
                    <a:pt x="0" y="0"/>
                  </a:lnTo>
                  <a:lnTo>
                    <a:pt x="0" y="801814"/>
                  </a:lnTo>
                  <a:lnTo>
                    <a:pt x="350653" y="942086"/>
                  </a:lnTo>
                  <a:lnTo>
                    <a:pt x="701306" y="801814"/>
                  </a:lnTo>
                  <a:lnTo>
                    <a:pt x="701306" y="0"/>
                  </a:lnTo>
                  <a:close/>
                </a:path>
              </a:pathLst>
            </a:custGeom>
            <a:solidFill>
              <a:srgbClr val="F3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7224" y="3305174"/>
              <a:ext cx="701675" cy="942340"/>
            </a:xfrm>
            <a:custGeom>
              <a:avLst/>
              <a:gdLst/>
              <a:ahLst/>
              <a:cxnLst/>
              <a:rect l="l" t="t" r="r" b="b"/>
              <a:pathLst>
                <a:path w="701675" h="942339">
                  <a:moveTo>
                    <a:pt x="0" y="801814"/>
                  </a:moveTo>
                  <a:lnTo>
                    <a:pt x="350653" y="942086"/>
                  </a:lnTo>
                  <a:lnTo>
                    <a:pt x="701306" y="801814"/>
                  </a:lnTo>
                  <a:lnTo>
                    <a:pt x="701306" y="0"/>
                  </a:lnTo>
                  <a:lnTo>
                    <a:pt x="350653" y="140258"/>
                  </a:lnTo>
                  <a:lnTo>
                    <a:pt x="0" y="0"/>
                  </a:lnTo>
                  <a:lnTo>
                    <a:pt x="0" y="801814"/>
                  </a:lnTo>
                  <a:close/>
                </a:path>
              </a:pathLst>
            </a:custGeom>
            <a:ln w="17532">
              <a:solidFill>
                <a:srgbClr val="DA32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697" y="3678901"/>
              <a:ext cx="219598" cy="20579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7224" y="4248149"/>
              <a:ext cx="701675" cy="942340"/>
            </a:xfrm>
            <a:custGeom>
              <a:avLst/>
              <a:gdLst/>
              <a:ahLst/>
              <a:cxnLst/>
              <a:rect l="l" t="t" r="r" b="b"/>
              <a:pathLst>
                <a:path w="701675" h="942339">
                  <a:moveTo>
                    <a:pt x="701306" y="0"/>
                  </a:moveTo>
                  <a:lnTo>
                    <a:pt x="350653" y="140258"/>
                  </a:lnTo>
                  <a:lnTo>
                    <a:pt x="0" y="0"/>
                  </a:lnTo>
                  <a:lnTo>
                    <a:pt x="0" y="801814"/>
                  </a:lnTo>
                  <a:lnTo>
                    <a:pt x="350653" y="942083"/>
                  </a:lnTo>
                  <a:lnTo>
                    <a:pt x="701306" y="801814"/>
                  </a:lnTo>
                  <a:lnTo>
                    <a:pt x="701306" y="0"/>
                  </a:lnTo>
                  <a:close/>
                </a:path>
              </a:pathLst>
            </a:custGeom>
            <a:solidFill>
              <a:srgbClr val="F3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7224" y="4248149"/>
              <a:ext cx="701675" cy="942340"/>
            </a:xfrm>
            <a:custGeom>
              <a:avLst/>
              <a:gdLst/>
              <a:ahLst/>
              <a:cxnLst/>
              <a:rect l="l" t="t" r="r" b="b"/>
              <a:pathLst>
                <a:path w="701675" h="942339">
                  <a:moveTo>
                    <a:pt x="0" y="801814"/>
                  </a:moveTo>
                  <a:lnTo>
                    <a:pt x="350653" y="942083"/>
                  </a:lnTo>
                  <a:lnTo>
                    <a:pt x="701306" y="801814"/>
                  </a:lnTo>
                  <a:lnTo>
                    <a:pt x="701306" y="0"/>
                  </a:lnTo>
                  <a:lnTo>
                    <a:pt x="350653" y="140258"/>
                  </a:lnTo>
                  <a:lnTo>
                    <a:pt x="0" y="0"/>
                  </a:lnTo>
                  <a:lnTo>
                    <a:pt x="0" y="801814"/>
                  </a:lnTo>
                  <a:close/>
                </a:path>
              </a:pathLst>
            </a:custGeom>
            <a:ln w="17532">
              <a:solidFill>
                <a:srgbClr val="2D4D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5349" y="4619625"/>
              <a:ext cx="219074" cy="15784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41842" y="1542797"/>
            <a:ext cx="5816600" cy="434657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818515">
              <a:lnSpc>
                <a:spcPct val="100000"/>
              </a:lnSpc>
              <a:spcBef>
                <a:spcPts val="875"/>
              </a:spcBef>
            </a:pP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HyperGator</a:t>
            </a:r>
            <a:r>
              <a:rPr sz="1300" b="1" spc="-8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Cluster</a:t>
            </a:r>
            <a:endParaRPr sz="1300">
              <a:latin typeface="Trebuchet MS"/>
              <a:cs typeface="Trebuchet MS"/>
            </a:endParaRPr>
          </a:p>
          <a:p>
            <a:pPr marL="818515" marR="180975">
              <a:lnSpc>
                <a:spcPct val="119300"/>
              </a:lnSpc>
              <a:spcBef>
                <a:spcPts val="409"/>
              </a:spcBef>
            </a:pP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Full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5" dirty="0">
                <a:solidFill>
                  <a:srgbClr val="00002E"/>
                </a:solidFill>
                <a:latin typeface="Verdana"/>
                <a:cs typeface="Verdana"/>
              </a:rPr>
              <a:t>MIMIC-</a:t>
            </a:r>
            <a:r>
              <a:rPr sz="1100" spc="-145" dirty="0">
                <a:solidFill>
                  <a:srgbClr val="00002E"/>
                </a:solidFill>
                <a:latin typeface="Verdana"/>
                <a:cs typeface="Verdana"/>
              </a:rPr>
              <a:t>IV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dataset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55" dirty="0">
                <a:solidFill>
                  <a:srgbClr val="00002E"/>
                </a:solidFill>
                <a:latin typeface="Verdana"/>
                <a:cs typeface="Verdana"/>
              </a:rPr>
              <a:t>(45GB).</a:t>
            </a:r>
            <a:r>
              <a:rPr sz="1100" spc="-1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Created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395-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patient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subset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completed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45" dirty="0">
                <a:solidFill>
                  <a:srgbClr val="00002E"/>
                </a:solidFill>
                <a:latin typeface="Verdana"/>
                <a:cs typeface="Verdana"/>
              </a:rPr>
              <a:t>7-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stage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MEDS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extraction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100">
              <a:latin typeface="Verdana"/>
              <a:cs typeface="Verdana"/>
            </a:endParaRPr>
          </a:p>
          <a:p>
            <a:pPr marL="818515">
              <a:lnSpc>
                <a:spcPct val="100000"/>
              </a:lnSpc>
            </a:pPr>
            <a:r>
              <a:rPr sz="1300" b="1" spc="90" dirty="0">
                <a:solidFill>
                  <a:srgbClr val="00002E"/>
                </a:solidFill>
                <a:latin typeface="Trebuchet MS"/>
                <a:cs typeface="Trebuchet MS"/>
              </a:rPr>
              <a:t>SCP</a:t>
            </a:r>
            <a:r>
              <a:rPr sz="1300" b="1" spc="-4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Download</a:t>
            </a:r>
            <a:endParaRPr sz="1300">
              <a:latin typeface="Trebuchet MS"/>
              <a:cs typeface="Trebuchet MS"/>
            </a:endParaRPr>
          </a:p>
          <a:p>
            <a:pPr marL="818515">
              <a:lnSpc>
                <a:spcPct val="100000"/>
              </a:lnSpc>
              <a:spcBef>
                <a:spcPts val="665"/>
              </a:spcBef>
            </a:pP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Transferred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138KB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MEDS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files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local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environment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development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testing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100">
              <a:latin typeface="Verdana"/>
              <a:cs typeface="Verdana"/>
            </a:endParaRPr>
          </a:p>
          <a:p>
            <a:pPr marL="818515">
              <a:lnSpc>
                <a:spcPct val="100000"/>
              </a:lnSpc>
            </a:pPr>
            <a:r>
              <a:rPr sz="1300" b="1" spc="135" dirty="0">
                <a:solidFill>
                  <a:srgbClr val="00002E"/>
                </a:solidFill>
                <a:latin typeface="Trebuchet MS"/>
                <a:cs typeface="Trebuchet MS"/>
              </a:rPr>
              <a:t>WSL</a:t>
            </a:r>
            <a:r>
              <a:rPr sz="1300" b="1" spc="-5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Ubuntu</a:t>
            </a:r>
            <a:endParaRPr sz="1300">
              <a:latin typeface="Trebuchet MS"/>
              <a:cs typeface="Trebuchet MS"/>
            </a:endParaRPr>
          </a:p>
          <a:p>
            <a:pPr marL="818515" marR="291465">
              <a:lnSpc>
                <a:spcPct val="119300"/>
              </a:lnSpc>
              <a:spcBef>
                <a:spcPts val="409"/>
              </a:spcBef>
            </a:pP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Linux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compatibility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tokenization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40" dirty="0">
                <a:solidFill>
                  <a:srgbClr val="00002E"/>
                </a:solidFill>
                <a:latin typeface="Verdana"/>
                <a:cs typeface="Verdana"/>
              </a:rPr>
              <a:t>(17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stages)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vocabulary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building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due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to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filename</a:t>
            </a:r>
            <a:r>
              <a:rPr sz="110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limitations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100">
              <a:latin typeface="Verdana"/>
              <a:cs typeface="Verdana"/>
            </a:endParaRPr>
          </a:p>
          <a:p>
            <a:pPr marL="818515">
              <a:lnSpc>
                <a:spcPct val="100000"/>
              </a:lnSpc>
            </a:pP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Local</a:t>
            </a:r>
            <a:r>
              <a:rPr sz="1300" b="1" spc="-5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45" dirty="0">
                <a:solidFill>
                  <a:srgbClr val="00002E"/>
                </a:solidFill>
                <a:latin typeface="Trebuchet MS"/>
                <a:cs typeface="Trebuchet MS"/>
              </a:rPr>
              <a:t>Windows</a:t>
            </a:r>
            <a:r>
              <a:rPr sz="1300" b="1" spc="-5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40" dirty="0">
                <a:solidFill>
                  <a:srgbClr val="00002E"/>
                </a:solidFill>
                <a:latin typeface="Trebuchet MS"/>
                <a:cs typeface="Trebuchet MS"/>
              </a:rPr>
              <a:t>GPU</a:t>
            </a:r>
            <a:endParaRPr sz="1300">
              <a:latin typeface="Trebuchet MS"/>
              <a:cs typeface="Trebuchet MS"/>
            </a:endParaRPr>
          </a:p>
          <a:p>
            <a:pPr marL="818515" marR="5080">
              <a:lnSpc>
                <a:spcPct val="119300"/>
              </a:lnSpc>
              <a:spcBef>
                <a:spcPts val="409"/>
              </a:spcBef>
            </a:pP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GTX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1650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55" dirty="0">
                <a:solidFill>
                  <a:srgbClr val="00002E"/>
                </a:solidFill>
                <a:latin typeface="Verdana"/>
                <a:cs typeface="Verdana"/>
              </a:rPr>
              <a:t>(4GB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5" dirty="0">
                <a:solidFill>
                  <a:srgbClr val="00002E"/>
                </a:solidFill>
                <a:latin typeface="Verdana"/>
                <a:cs typeface="Verdana"/>
              </a:rPr>
              <a:t>VRAM)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model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training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(5000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iterations,</a:t>
            </a:r>
            <a:r>
              <a:rPr sz="1100" spc="-1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6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minutes)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inference </a:t>
            </a:r>
            <a:r>
              <a:rPr sz="1100" spc="-140" dirty="0">
                <a:solidFill>
                  <a:srgbClr val="00002E"/>
                </a:solidFill>
                <a:latin typeface="Verdana"/>
                <a:cs typeface="Verdana"/>
              </a:rPr>
              <a:t>(25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cases,</a:t>
            </a:r>
            <a:r>
              <a:rPr sz="1100" spc="-1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24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seconds)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100">
              <a:latin typeface="Verdana"/>
              <a:cs typeface="Verdana"/>
            </a:endParaRPr>
          </a:p>
          <a:p>
            <a:pPr marL="12700" marR="74930" algn="just">
              <a:lnSpc>
                <a:spcPct val="119300"/>
              </a:lnSpc>
            </a:pP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This</a:t>
            </a:r>
            <a:r>
              <a:rPr sz="1100" spc="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architecture</a:t>
            </a:r>
            <a:r>
              <a:rPr sz="1100" spc="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leverages</a:t>
            </a:r>
            <a:r>
              <a:rPr sz="1100" spc="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40" dirty="0">
                <a:solidFill>
                  <a:srgbClr val="00002E"/>
                </a:solidFill>
                <a:latin typeface="Verdana"/>
                <a:cs typeface="Verdana"/>
              </a:rPr>
              <a:t>each</a:t>
            </a:r>
            <a:r>
              <a:rPr sz="1100" spc="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environment's</a:t>
            </a:r>
            <a:r>
              <a:rPr sz="1100" spc="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strengths:</a:t>
            </a:r>
            <a:r>
              <a:rPr sz="1100" spc="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HyperGator</a:t>
            </a:r>
            <a:r>
              <a:rPr sz="1100" spc="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1100" spc="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protected</a:t>
            </a:r>
            <a:r>
              <a:rPr sz="1100" spc="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health</a:t>
            </a:r>
            <a:r>
              <a:rPr sz="1100" spc="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data </a:t>
            </a:r>
            <a:r>
              <a:rPr sz="1100" spc="-155" dirty="0">
                <a:solidFill>
                  <a:srgbClr val="00002E"/>
                </a:solidFill>
                <a:latin typeface="Verdana"/>
                <a:cs typeface="Verdana"/>
              </a:rPr>
              <a:t>access,</a:t>
            </a:r>
            <a:r>
              <a:rPr sz="1100" spc="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Windows</a:t>
            </a:r>
            <a:r>
              <a:rPr sz="1100" spc="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1100" spc="2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65" dirty="0">
                <a:solidFill>
                  <a:srgbClr val="00002E"/>
                </a:solidFill>
                <a:latin typeface="Verdana"/>
                <a:cs typeface="Verdana"/>
              </a:rPr>
              <a:t>GPU</a:t>
            </a:r>
            <a:r>
              <a:rPr sz="1100" spc="7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acceleration,</a:t>
            </a:r>
            <a:r>
              <a:rPr sz="1100" spc="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70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00" spc="7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29" dirty="0">
                <a:solidFill>
                  <a:srgbClr val="00002E"/>
                </a:solidFill>
                <a:latin typeface="Verdana"/>
                <a:cs typeface="Verdana"/>
              </a:rPr>
              <a:t>WSL</a:t>
            </a:r>
            <a:r>
              <a:rPr sz="1100" spc="1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1100" spc="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Linux</a:t>
            </a:r>
            <a:r>
              <a:rPr sz="1100" spc="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compatibility—enabling</a:t>
            </a:r>
            <a:r>
              <a:rPr sz="1100" spc="1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seamless</a:t>
            </a:r>
            <a:r>
              <a:rPr sz="1100" spc="1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data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transfer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efficient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resource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utilization.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8869" y="559847"/>
            <a:ext cx="4225290" cy="367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50" spc="-85" dirty="0"/>
              <a:t>Tokenization</a:t>
            </a:r>
            <a:r>
              <a:rPr sz="2250" spc="-50" dirty="0"/>
              <a:t> </a:t>
            </a:r>
            <a:r>
              <a:rPr sz="2250" spc="-85" dirty="0"/>
              <a:t>Pipeline:</a:t>
            </a:r>
            <a:r>
              <a:rPr sz="2250" spc="-60" dirty="0"/>
              <a:t> </a:t>
            </a:r>
            <a:r>
              <a:rPr sz="2250" dirty="0"/>
              <a:t>17</a:t>
            </a:r>
            <a:r>
              <a:rPr sz="2250" spc="-50" dirty="0"/>
              <a:t> </a:t>
            </a:r>
            <a:r>
              <a:rPr sz="2250" spc="50" dirty="0"/>
              <a:t>Stages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638869" y="1076007"/>
            <a:ext cx="485330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Transforming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5" dirty="0">
                <a:solidFill>
                  <a:srgbClr val="00002E"/>
                </a:solidFill>
                <a:latin typeface="Verdana"/>
                <a:cs typeface="Verdana"/>
              </a:rPr>
              <a:t>14,283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55" dirty="0">
                <a:solidFill>
                  <a:srgbClr val="00002E"/>
                </a:solidFill>
                <a:latin typeface="Verdana"/>
                <a:cs typeface="Verdana"/>
              </a:rPr>
              <a:t>clinical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events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65" dirty="0">
                <a:solidFill>
                  <a:srgbClr val="00002E"/>
                </a:solidFill>
                <a:latin typeface="Verdana"/>
                <a:cs typeface="Verdana"/>
              </a:rPr>
              <a:t>into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20" dirty="0">
                <a:solidFill>
                  <a:srgbClr val="00002E"/>
                </a:solidFill>
                <a:latin typeface="Verdana"/>
                <a:cs typeface="Verdana"/>
              </a:rPr>
              <a:t>17,429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0" dirty="0">
                <a:solidFill>
                  <a:srgbClr val="00002E"/>
                </a:solidFill>
                <a:latin typeface="Verdana"/>
                <a:cs typeface="Verdana"/>
              </a:rPr>
              <a:t>model-</a:t>
            </a:r>
            <a:r>
              <a:rPr sz="950" spc="-105" dirty="0">
                <a:solidFill>
                  <a:srgbClr val="00002E"/>
                </a:solidFill>
                <a:latin typeface="Verdana"/>
                <a:cs typeface="Verdana"/>
              </a:rPr>
              <a:t>ready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tokens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6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72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5" dirty="0">
                <a:solidFill>
                  <a:srgbClr val="00002E"/>
                </a:solidFill>
                <a:latin typeface="Verdana"/>
                <a:cs typeface="Verdana"/>
              </a:rPr>
              <a:t>unique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token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00002E"/>
                </a:solidFill>
                <a:latin typeface="Verdana"/>
                <a:cs typeface="Verdana"/>
              </a:rPr>
              <a:t>IDs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7699" y="1438274"/>
            <a:ext cx="4924425" cy="723900"/>
            <a:chOff x="647699" y="1438274"/>
            <a:chExt cx="4924425" cy="723900"/>
          </a:xfrm>
        </p:grpSpPr>
        <p:sp>
          <p:nvSpPr>
            <p:cNvPr id="5" name="object 5"/>
            <p:cNvSpPr/>
            <p:nvPr/>
          </p:nvSpPr>
          <p:spPr>
            <a:xfrm>
              <a:off x="657224" y="1447799"/>
              <a:ext cx="4905375" cy="704850"/>
            </a:xfrm>
            <a:custGeom>
              <a:avLst/>
              <a:gdLst/>
              <a:ahLst/>
              <a:cxnLst/>
              <a:rect l="l" t="t" r="r" b="b"/>
              <a:pathLst>
                <a:path w="4905375" h="704850">
                  <a:moveTo>
                    <a:pt x="4763621" y="704849"/>
                  </a:moveTo>
                  <a:lnTo>
                    <a:pt x="141753" y="704849"/>
                  </a:lnTo>
                  <a:lnTo>
                    <a:pt x="134789" y="704679"/>
                  </a:lnTo>
                  <a:lnTo>
                    <a:pt x="94005" y="696567"/>
                  </a:lnTo>
                  <a:lnTo>
                    <a:pt x="57303" y="676949"/>
                  </a:lnTo>
                  <a:lnTo>
                    <a:pt x="27900" y="647546"/>
                  </a:lnTo>
                  <a:lnTo>
                    <a:pt x="8282" y="610844"/>
                  </a:lnTo>
                  <a:lnTo>
                    <a:pt x="170" y="570060"/>
                  </a:lnTo>
                  <a:lnTo>
                    <a:pt x="0" y="563096"/>
                  </a:lnTo>
                  <a:lnTo>
                    <a:pt x="0" y="141753"/>
                  </a:lnTo>
                  <a:lnTo>
                    <a:pt x="6102" y="100603"/>
                  </a:lnTo>
                  <a:lnTo>
                    <a:pt x="23889" y="62999"/>
                  </a:lnTo>
                  <a:lnTo>
                    <a:pt x="51824" y="32175"/>
                  </a:lnTo>
                  <a:lnTo>
                    <a:pt x="87506" y="10790"/>
                  </a:lnTo>
                  <a:lnTo>
                    <a:pt x="127858" y="680"/>
                  </a:lnTo>
                  <a:lnTo>
                    <a:pt x="141753" y="0"/>
                  </a:lnTo>
                  <a:lnTo>
                    <a:pt x="4763621" y="0"/>
                  </a:lnTo>
                  <a:lnTo>
                    <a:pt x="4804769" y="6102"/>
                  </a:lnTo>
                  <a:lnTo>
                    <a:pt x="4842374" y="23889"/>
                  </a:lnTo>
                  <a:lnTo>
                    <a:pt x="4873198" y="51824"/>
                  </a:lnTo>
                  <a:lnTo>
                    <a:pt x="4894583" y="87506"/>
                  </a:lnTo>
                  <a:lnTo>
                    <a:pt x="4904693" y="127858"/>
                  </a:lnTo>
                  <a:lnTo>
                    <a:pt x="4905374" y="141753"/>
                  </a:lnTo>
                  <a:lnTo>
                    <a:pt x="4905374" y="563096"/>
                  </a:lnTo>
                  <a:lnTo>
                    <a:pt x="4899271" y="604245"/>
                  </a:lnTo>
                  <a:lnTo>
                    <a:pt x="4881483" y="641850"/>
                  </a:lnTo>
                  <a:lnTo>
                    <a:pt x="4853548" y="672674"/>
                  </a:lnTo>
                  <a:lnTo>
                    <a:pt x="4817867" y="694059"/>
                  </a:lnTo>
                  <a:lnTo>
                    <a:pt x="4777515" y="704169"/>
                  </a:lnTo>
                  <a:lnTo>
                    <a:pt x="4763621" y="704849"/>
                  </a:lnTo>
                  <a:close/>
                </a:path>
              </a:pathLst>
            </a:custGeom>
            <a:solidFill>
              <a:srgbClr val="F2F2FF">
                <a:alpha val="7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224" y="1447799"/>
              <a:ext cx="4905375" cy="704850"/>
            </a:xfrm>
            <a:custGeom>
              <a:avLst/>
              <a:gdLst/>
              <a:ahLst/>
              <a:cxnLst/>
              <a:rect l="l" t="t" r="r" b="b"/>
              <a:pathLst>
                <a:path w="4905375" h="704850">
                  <a:moveTo>
                    <a:pt x="0" y="563096"/>
                  </a:moveTo>
                  <a:lnTo>
                    <a:pt x="0" y="141753"/>
                  </a:lnTo>
                  <a:lnTo>
                    <a:pt x="170" y="134789"/>
                  </a:lnTo>
                  <a:lnTo>
                    <a:pt x="8282" y="94005"/>
                  </a:lnTo>
                  <a:lnTo>
                    <a:pt x="27900" y="57303"/>
                  </a:lnTo>
                  <a:lnTo>
                    <a:pt x="57303" y="27900"/>
                  </a:lnTo>
                  <a:lnTo>
                    <a:pt x="94005" y="8282"/>
                  </a:lnTo>
                  <a:lnTo>
                    <a:pt x="134789" y="170"/>
                  </a:lnTo>
                  <a:lnTo>
                    <a:pt x="141753" y="0"/>
                  </a:lnTo>
                  <a:lnTo>
                    <a:pt x="4763621" y="0"/>
                  </a:lnTo>
                  <a:lnTo>
                    <a:pt x="4804769" y="6102"/>
                  </a:lnTo>
                  <a:lnTo>
                    <a:pt x="4842374" y="23889"/>
                  </a:lnTo>
                  <a:lnTo>
                    <a:pt x="4873198" y="51824"/>
                  </a:lnTo>
                  <a:lnTo>
                    <a:pt x="4894583" y="87506"/>
                  </a:lnTo>
                  <a:lnTo>
                    <a:pt x="4904693" y="127858"/>
                  </a:lnTo>
                  <a:lnTo>
                    <a:pt x="4905374" y="141753"/>
                  </a:lnTo>
                  <a:lnTo>
                    <a:pt x="4905374" y="563096"/>
                  </a:lnTo>
                  <a:lnTo>
                    <a:pt x="4899271" y="604245"/>
                  </a:lnTo>
                  <a:lnTo>
                    <a:pt x="4881483" y="641850"/>
                  </a:lnTo>
                  <a:lnTo>
                    <a:pt x="4853548" y="672674"/>
                  </a:lnTo>
                  <a:lnTo>
                    <a:pt x="4817867" y="694059"/>
                  </a:lnTo>
                  <a:lnTo>
                    <a:pt x="4777515" y="704169"/>
                  </a:lnTo>
                  <a:lnTo>
                    <a:pt x="4763621" y="704849"/>
                  </a:lnTo>
                  <a:lnTo>
                    <a:pt x="141753" y="704849"/>
                  </a:lnTo>
                  <a:lnTo>
                    <a:pt x="100603" y="698747"/>
                  </a:lnTo>
                  <a:lnTo>
                    <a:pt x="62999" y="680960"/>
                  </a:lnTo>
                  <a:lnTo>
                    <a:pt x="32175" y="653024"/>
                  </a:lnTo>
                  <a:lnTo>
                    <a:pt x="10790" y="617343"/>
                  </a:lnTo>
                  <a:lnTo>
                    <a:pt x="680" y="576990"/>
                  </a:lnTo>
                  <a:lnTo>
                    <a:pt x="0" y="563096"/>
                  </a:lnTo>
                  <a:close/>
                </a:path>
              </a:pathLst>
            </a:custGeom>
            <a:ln w="19049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749" y="1457324"/>
              <a:ext cx="481330" cy="685800"/>
            </a:xfrm>
            <a:custGeom>
              <a:avLst/>
              <a:gdLst/>
              <a:ahLst/>
              <a:cxnLst/>
              <a:rect l="l" t="t" r="r" b="b"/>
              <a:pathLst>
                <a:path w="481330" h="685800">
                  <a:moveTo>
                    <a:pt x="481012" y="685799"/>
                  </a:moveTo>
                  <a:lnTo>
                    <a:pt x="132228" y="685799"/>
                  </a:lnTo>
                  <a:lnTo>
                    <a:pt x="125732" y="685641"/>
                  </a:lnTo>
                  <a:lnTo>
                    <a:pt x="87689" y="678073"/>
                  </a:lnTo>
                  <a:lnTo>
                    <a:pt x="53453" y="659774"/>
                  </a:lnTo>
                  <a:lnTo>
                    <a:pt x="26025" y="632346"/>
                  </a:lnTo>
                  <a:lnTo>
                    <a:pt x="7725" y="598110"/>
                  </a:lnTo>
                  <a:lnTo>
                    <a:pt x="158" y="560067"/>
                  </a:lnTo>
                  <a:lnTo>
                    <a:pt x="0" y="553571"/>
                  </a:lnTo>
                  <a:lnTo>
                    <a:pt x="0" y="132228"/>
                  </a:lnTo>
                  <a:lnTo>
                    <a:pt x="5692" y="93843"/>
                  </a:lnTo>
                  <a:lnTo>
                    <a:pt x="22284" y="58765"/>
                  </a:lnTo>
                  <a:lnTo>
                    <a:pt x="48342" y="30013"/>
                  </a:lnTo>
                  <a:lnTo>
                    <a:pt x="81626" y="10065"/>
                  </a:lnTo>
                  <a:lnTo>
                    <a:pt x="119267" y="635"/>
                  </a:lnTo>
                  <a:lnTo>
                    <a:pt x="132228" y="0"/>
                  </a:lnTo>
                  <a:lnTo>
                    <a:pt x="481012" y="0"/>
                  </a:lnTo>
                  <a:lnTo>
                    <a:pt x="481012" y="685799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2999" y="1457324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9524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685799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40531" y="1653698"/>
            <a:ext cx="1346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0" dirty="0">
                <a:solidFill>
                  <a:srgbClr val="00002E"/>
                </a:solidFill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0192" y="1549971"/>
            <a:ext cx="4211955" cy="430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1" spc="-10" dirty="0">
                <a:solidFill>
                  <a:srgbClr val="00002E"/>
                </a:solidFill>
                <a:latin typeface="Trebuchet MS"/>
                <a:cs typeface="Trebuchet MS"/>
              </a:rPr>
              <a:t>Filtering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950" spc="-120" dirty="0">
                <a:solidFill>
                  <a:srgbClr val="00002E"/>
                </a:solidFill>
                <a:latin typeface="Verdana"/>
                <a:cs typeface="Verdana"/>
              </a:rPr>
              <a:t>Remove</a:t>
            </a:r>
            <a:r>
              <a:rPr sz="9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rare</a:t>
            </a:r>
            <a:r>
              <a:rPr sz="9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codes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0" dirty="0">
                <a:solidFill>
                  <a:srgbClr val="00002E"/>
                </a:solidFill>
                <a:latin typeface="Verdana"/>
                <a:cs typeface="Verdana"/>
              </a:rPr>
              <a:t>appearing</a:t>
            </a:r>
            <a:r>
              <a:rPr sz="9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200" dirty="0">
                <a:solidFill>
                  <a:srgbClr val="00002E"/>
                </a:solidFill>
                <a:latin typeface="Verdana"/>
                <a:cs typeface="Verdana"/>
              </a:rPr>
              <a:t>&lt;5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times.</a:t>
            </a:r>
            <a:r>
              <a:rPr sz="950" spc="-1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5" dirty="0">
                <a:solidFill>
                  <a:srgbClr val="00002E"/>
                </a:solidFill>
                <a:latin typeface="Verdana"/>
                <a:cs typeface="Verdana"/>
              </a:rPr>
              <a:t>Reduced</a:t>
            </a:r>
            <a:r>
              <a:rPr sz="9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892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codes</a:t>
            </a:r>
            <a:r>
              <a:rPr sz="9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245</a:t>
            </a:r>
            <a:r>
              <a:rPr sz="9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0" dirty="0">
                <a:solidFill>
                  <a:srgbClr val="00002E"/>
                </a:solidFill>
                <a:latin typeface="Verdana"/>
                <a:cs typeface="Verdana"/>
              </a:rPr>
              <a:t>retained</a:t>
            </a:r>
            <a:r>
              <a:rPr sz="9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00002E"/>
                </a:solidFill>
                <a:latin typeface="Verdana"/>
                <a:cs typeface="Verdana"/>
              </a:rPr>
              <a:t>codes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7699" y="2238374"/>
            <a:ext cx="4924425" cy="857250"/>
            <a:chOff x="647699" y="2238374"/>
            <a:chExt cx="4924425" cy="857250"/>
          </a:xfrm>
        </p:grpSpPr>
        <p:sp>
          <p:nvSpPr>
            <p:cNvPr id="12" name="object 12"/>
            <p:cNvSpPr/>
            <p:nvPr/>
          </p:nvSpPr>
          <p:spPr>
            <a:xfrm>
              <a:off x="657224" y="2247899"/>
              <a:ext cx="4905375" cy="838200"/>
            </a:xfrm>
            <a:custGeom>
              <a:avLst/>
              <a:gdLst/>
              <a:ahLst/>
              <a:cxnLst/>
              <a:rect l="l" t="t" r="r" b="b"/>
              <a:pathLst>
                <a:path w="4905375" h="838200">
                  <a:moveTo>
                    <a:pt x="4763621" y="838199"/>
                  </a:moveTo>
                  <a:lnTo>
                    <a:pt x="141753" y="838199"/>
                  </a:lnTo>
                  <a:lnTo>
                    <a:pt x="134789" y="838029"/>
                  </a:lnTo>
                  <a:lnTo>
                    <a:pt x="94005" y="829916"/>
                  </a:lnTo>
                  <a:lnTo>
                    <a:pt x="57303" y="810299"/>
                  </a:lnTo>
                  <a:lnTo>
                    <a:pt x="27900" y="780895"/>
                  </a:lnTo>
                  <a:lnTo>
                    <a:pt x="8282" y="744193"/>
                  </a:lnTo>
                  <a:lnTo>
                    <a:pt x="170" y="703410"/>
                  </a:lnTo>
                  <a:lnTo>
                    <a:pt x="0" y="696446"/>
                  </a:lnTo>
                  <a:lnTo>
                    <a:pt x="0" y="141753"/>
                  </a:lnTo>
                  <a:lnTo>
                    <a:pt x="6102" y="100603"/>
                  </a:lnTo>
                  <a:lnTo>
                    <a:pt x="23889" y="62999"/>
                  </a:lnTo>
                  <a:lnTo>
                    <a:pt x="51824" y="32175"/>
                  </a:lnTo>
                  <a:lnTo>
                    <a:pt x="87506" y="10790"/>
                  </a:lnTo>
                  <a:lnTo>
                    <a:pt x="127858" y="680"/>
                  </a:lnTo>
                  <a:lnTo>
                    <a:pt x="141753" y="0"/>
                  </a:lnTo>
                  <a:lnTo>
                    <a:pt x="4763621" y="0"/>
                  </a:lnTo>
                  <a:lnTo>
                    <a:pt x="4804769" y="6102"/>
                  </a:lnTo>
                  <a:lnTo>
                    <a:pt x="4842374" y="23889"/>
                  </a:lnTo>
                  <a:lnTo>
                    <a:pt x="4873198" y="51824"/>
                  </a:lnTo>
                  <a:lnTo>
                    <a:pt x="4894583" y="87506"/>
                  </a:lnTo>
                  <a:lnTo>
                    <a:pt x="4904693" y="127858"/>
                  </a:lnTo>
                  <a:lnTo>
                    <a:pt x="4905374" y="141753"/>
                  </a:lnTo>
                  <a:lnTo>
                    <a:pt x="4905374" y="696446"/>
                  </a:lnTo>
                  <a:lnTo>
                    <a:pt x="4899271" y="737595"/>
                  </a:lnTo>
                  <a:lnTo>
                    <a:pt x="4881483" y="775199"/>
                  </a:lnTo>
                  <a:lnTo>
                    <a:pt x="4853548" y="806024"/>
                  </a:lnTo>
                  <a:lnTo>
                    <a:pt x="4817867" y="827409"/>
                  </a:lnTo>
                  <a:lnTo>
                    <a:pt x="4777515" y="837518"/>
                  </a:lnTo>
                  <a:lnTo>
                    <a:pt x="4763621" y="838199"/>
                  </a:lnTo>
                  <a:close/>
                </a:path>
              </a:pathLst>
            </a:custGeom>
            <a:solidFill>
              <a:srgbClr val="F2F2FF">
                <a:alpha val="7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7224" y="2247899"/>
              <a:ext cx="4905375" cy="838200"/>
            </a:xfrm>
            <a:custGeom>
              <a:avLst/>
              <a:gdLst/>
              <a:ahLst/>
              <a:cxnLst/>
              <a:rect l="l" t="t" r="r" b="b"/>
              <a:pathLst>
                <a:path w="4905375" h="838200">
                  <a:moveTo>
                    <a:pt x="0" y="696446"/>
                  </a:moveTo>
                  <a:lnTo>
                    <a:pt x="0" y="141753"/>
                  </a:lnTo>
                  <a:lnTo>
                    <a:pt x="170" y="134789"/>
                  </a:lnTo>
                  <a:lnTo>
                    <a:pt x="8282" y="94005"/>
                  </a:lnTo>
                  <a:lnTo>
                    <a:pt x="27900" y="57303"/>
                  </a:lnTo>
                  <a:lnTo>
                    <a:pt x="57303" y="27900"/>
                  </a:lnTo>
                  <a:lnTo>
                    <a:pt x="94005" y="8282"/>
                  </a:lnTo>
                  <a:lnTo>
                    <a:pt x="134789" y="170"/>
                  </a:lnTo>
                  <a:lnTo>
                    <a:pt x="141753" y="0"/>
                  </a:lnTo>
                  <a:lnTo>
                    <a:pt x="4763621" y="0"/>
                  </a:lnTo>
                  <a:lnTo>
                    <a:pt x="4804769" y="6102"/>
                  </a:lnTo>
                  <a:lnTo>
                    <a:pt x="4842374" y="23889"/>
                  </a:lnTo>
                  <a:lnTo>
                    <a:pt x="4873198" y="51824"/>
                  </a:lnTo>
                  <a:lnTo>
                    <a:pt x="4894583" y="87506"/>
                  </a:lnTo>
                  <a:lnTo>
                    <a:pt x="4904693" y="127858"/>
                  </a:lnTo>
                  <a:lnTo>
                    <a:pt x="4905374" y="141753"/>
                  </a:lnTo>
                  <a:lnTo>
                    <a:pt x="4905374" y="696446"/>
                  </a:lnTo>
                  <a:lnTo>
                    <a:pt x="4899271" y="737595"/>
                  </a:lnTo>
                  <a:lnTo>
                    <a:pt x="4881483" y="775199"/>
                  </a:lnTo>
                  <a:lnTo>
                    <a:pt x="4853548" y="806024"/>
                  </a:lnTo>
                  <a:lnTo>
                    <a:pt x="4817867" y="827409"/>
                  </a:lnTo>
                  <a:lnTo>
                    <a:pt x="4777515" y="837518"/>
                  </a:lnTo>
                  <a:lnTo>
                    <a:pt x="4763621" y="838199"/>
                  </a:lnTo>
                  <a:lnTo>
                    <a:pt x="141753" y="838199"/>
                  </a:lnTo>
                  <a:lnTo>
                    <a:pt x="100603" y="832097"/>
                  </a:lnTo>
                  <a:lnTo>
                    <a:pt x="62999" y="814309"/>
                  </a:lnTo>
                  <a:lnTo>
                    <a:pt x="32175" y="786374"/>
                  </a:lnTo>
                  <a:lnTo>
                    <a:pt x="10790" y="750692"/>
                  </a:lnTo>
                  <a:lnTo>
                    <a:pt x="680" y="710340"/>
                  </a:lnTo>
                  <a:lnTo>
                    <a:pt x="0" y="696446"/>
                  </a:lnTo>
                  <a:close/>
                </a:path>
              </a:pathLst>
            </a:custGeom>
            <a:ln w="19049">
              <a:solidFill>
                <a:srgbClr val="008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6749" y="2257424"/>
              <a:ext cx="481330" cy="819150"/>
            </a:xfrm>
            <a:custGeom>
              <a:avLst/>
              <a:gdLst/>
              <a:ahLst/>
              <a:cxnLst/>
              <a:rect l="l" t="t" r="r" b="b"/>
              <a:pathLst>
                <a:path w="481330" h="819150">
                  <a:moveTo>
                    <a:pt x="481012" y="819149"/>
                  </a:moveTo>
                  <a:lnTo>
                    <a:pt x="132228" y="819149"/>
                  </a:lnTo>
                  <a:lnTo>
                    <a:pt x="125732" y="818991"/>
                  </a:lnTo>
                  <a:lnTo>
                    <a:pt x="87689" y="811423"/>
                  </a:lnTo>
                  <a:lnTo>
                    <a:pt x="53453" y="793123"/>
                  </a:lnTo>
                  <a:lnTo>
                    <a:pt x="26025" y="765696"/>
                  </a:lnTo>
                  <a:lnTo>
                    <a:pt x="7725" y="731460"/>
                  </a:lnTo>
                  <a:lnTo>
                    <a:pt x="158" y="693417"/>
                  </a:lnTo>
                  <a:lnTo>
                    <a:pt x="0" y="686921"/>
                  </a:lnTo>
                  <a:lnTo>
                    <a:pt x="0" y="132228"/>
                  </a:lnTo>
                  <a:lnTo>
                    <a:pt x="5692" y="93843"/>
                  </a:lnTo>
                  <a:lnTo>
                    <a:pt x="22284" y="58765"/>
                  </a:lnTo>
                  <a:lnTo>
                    <a:pt x="48342" y="30012"/>
                  </a:lnTo>
                  <a:lnTo>
                    <a:pt x="81626" y="10065"/>
                  </a:lnTo>
                  <a:lnTo>
                    <a:pt x="119267" y="635"/>
                  </a:lnTo>
                  <a:lnTo>
                    <a:pt x="132228" y="0"/>
                  </a:lnTo>
                  <a:lnTo>
                    <a:pt x="481012" y="0"/>
                  </a:lnTo>
                  <a:lnTo>
                    <a:pt x="481012" y="819149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42999" y="2257424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9524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819149"/>
                  </a:lnTo>
                  <a:close/>
                </a:path>
              </a:pathLst>
            </a:custGeom>
            <a:solidFill>
              <a:srgbClr val="008B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0531" y="2520473"/>
            <a:ext cx="1346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0" dirty="0">
                <a:solidFill>
                  <a:srgbClr val="00002E"/>
                </a:solidFill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20192" y="2359596"/>
            <a:ext cx="4064000" cy="582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1" spc="-10" dirty="0">
                <a:solidFill>
                  <a:srgbClr val="00002E"/>
                </a:solidFill>
                <a:latin typeface="Trebuchet MS"/>
                <a:cs typeface="Trebuchet MS"/>
              </a:rPr>
              <a:t>Preprocessing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05300"/>
              </a:lnSpc>
              <a:spcBef>
                <a:spcPts val="645"/>
              </a:spcBef>
            </a:pPr>
            <a:r>
              <a:rPr sz="950" spc="-110" dirty="0">
                <a:solidFill>
                  <a:srgbClr val="00002E"/>
                </a:solidFill>
                <a:latin typeface="Verdana"/>
                <a:cs typeface="Verdana"/>
              </a:rPr>
              <a:t>Transform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30" dirty="0">
                <a:solidFill>
                  <a:srgbClr val="00002E"/>
                </a:solidFill>
                <a:latin typeface="Verdana"/>
                <a:cs typeface="Verdana"/>
              </a:rPr>
              <a:t>ICD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codes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hierarchical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format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process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diagnoses,</a:t>
            </a:r>
            <a:r>
              <a:rPr sz="950" spc="-1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65" dirty="0">
                <a:solidFill>
                  <a:srgbClr val="00002E"/>
                </a:solidFill>
                <a:latin typeface="Verdana"/>
                <a:cs typeface="Verdana"/>
              </a:rPr>
              <a:t>procedures, </a:t>
            </a:r>
            <a:r>
              <a:rPr sz="950" spc="-10" dirty="0">
                <a:solidFill>
                  <a:srgbClr val="00002E"/>
                </a:solidFill>
                <a:latin typeface="Verdana"/>
                <a:cs typeface="Verdana"/>
              </a:rPr>
              <a:t>demographics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7699" y="3171824"/>
            <a:ext cx="4924425" cy="857250"/>
            <a:chOff x="647699" y="3171824"/>
            <a:chExt cx="4924425" cy="857250"/>
          </a:xfrm>
        </p:grpSpPr>
        <p:sp>
          <p:nvSpPr>
            <p:cNvPr id="19" name="object 19"/>
            <p:cNvSpPr/>
            <p:nvPr/>
          </p:nvSpPr>
          <p:spPr>
            <a:xfrm>
              <a:off x="657224" y="3181349"/>
              <a:ext cx="4905375" cy="838200"/>
            </a:xfrm>
            <a:custGeom>
              <a:avLst/>
              <a:gdLst/>
              <a:ahLst/>
              <a:cxnLst/>
              <a:rect l="l" t="t" r="r" b="b"/>
              <a:pathLst>
                <a:path w="4905375" h="838200">
                  <a:moveTo>
                    <a:pt x="4763621" y="838199"/>
                  </a:moveTo>
                  <a:lnTo>
                    <a:pt x="141753" y="838199"/>
                  </a:lnTo>
                  <a:lnTo>
                    <a:pt x="134789" y="838029"/>
                  </a:lnTo>
                  <a:lnTo>
                    <a:pt x="94005" y="829916"/>
                  </a:lnTo>
                  <a:lnTo>
                    <a:pt x="57303" y="810298"/>
                  </a:lnTo>
                  <a:lnTo>
                    <a:pt x="27900" y="780895"/>
                  </a:lnTo>
                  <a:lnTo>
                    <a:pt x="8282" y="744193"/>
                  </a:lnTo>
                  <a:lnTo>
                    <a:pt x="170" y="703410"/>
                  </a:lnTo>
                  <a:lnTo>
                    <a:pt x="0" y="696446"/>
                  </a:lnTo>
                  <a:lnTo>
                    <a:pt x="0" y="141753"/>
                  </a:lnTo>
                  <a:lnTo>
                    <a:pt x="6102" y="100603"/>
                  </a:lnTo>
                  <a:lnTo>
                    <a:pt x="23889" y="62999"/>
                  </a:lnTo>
                  <a:lnTo>
                    <a:pt x="51824" y="32175"/>
                  </a:lnTo>
                  <a:lnTo>
                    <a:pt x="87506" y="10790"/>
                  </a:lnTo>
                  <a:lnTo>
                    <a:pt x="127858" y="681"/>
                  </a:lnTo>
                  <a:lnTo>
                    <a:pt x="141753" y="0"/>
                  </a:lnTo>
                  <a:lnTo>
                    <a:pt x="4763621" y="0"/>
                  </a:lnTo>
                  <a:lnTo>
                    <a:pt x="4804769" y="6102"/>
                  </a:lnTo>
                  <a:lnTo>
                    <a:pt x="4842374" y="23889"/>
                  </a:lnTo>
                  <a:lnTo>
                    <a:pt x="4873198" y="51824"/>
                  </a:lnTo>
                  <a:lnTo>
                    <a:pt x="4894583" y="87505"/>
                  </a:lnTo>
                  <a:lnTo>
                    <a:pt x="4904693" y="127858"/>
                  </a:lnTo>
                  <a:lnTo>
                    <a:pt x="4905374" y="141753"/>
                  </a:lnTo>
                  <a:lnTo>
                    <a:pt x="4905374" y="696446"/>
                  </a:lnTo>
                  <a:lnTo>
                    <a:pt x="4899271" y="737595"/>
                  </a:lnTo>
                  <a:lnTo>
                    <a:pt x="4881483" y="775199"/>
                  </a:lnTo>
                  <a:lnTo>
                    <a:pt x="4853548" y="806023"/>
                  </a:lnTo>
                  <a:lnTo>
                    <a:pt x="4817867" y="827408"/>
                  </a:lnTo>
                  <a:lnTo>
                    <a:pt x="4777515" y="837518"/>
                  </a:lnTo>
                  <a:lnTo>
                    <a:pt x="4763621" y="838199"/>
                  </a:lnTo>
                  <a:close/>
                </a:path>
              </a:pathLst>
            </a:custGeom>
            <a:solidFill>
              <a:srgbClr val="F2F2FF">
                <a:alpha val="7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7224" y="3181349"/>
              <a:ext cx="4905375" cy="838200"/>
            </a:xfrm>
            <a:custGeom>
              <a:avLst/>
              <a:gdLst/>
              <a:ahLst/>
              <a:cxnLst/>
              <a:rect l="l" t="t" r="r" b="b"/>
              <a:pathLst>
                <a:path w="4905375" h="838200">
                  <a:moveTo>
                    <a:pt x="0" y="696446"/>
                  </a:moveTo>
                  <a:lnTo>
                    <a:pt x="0" y="141753"/>
                  </a:lnTo>
                  <a:lnTo>
                    <a:pt x="170" y="134789"/>
                  </a:lnTo>
                  <a:lnTo>
                    <a:pt x="8282" y="94005"/>
                  </a:lnTo>
                  <a:lnTo>
                    <a:pt x="27900" y="57303"/>
                  </a:lnTo>
                  <a:lnTo>
                    <a:pt x="57303" y="27900"/>
                  </a:lnTo>
                  <a:lnTo>
                    <a:pt x="94005" y="8282"/>
                  </a:lnTo>
                  <a:lnTo>
                    <a:pt x="134789" y="170"/>
                  </a:lnTo>
                  <a:lnTo>
                    <a:pt x="141753" y="0"/>
                  </a:lnTo>
                  <a:lnTo>
                    <a:pt x="4763621" y="0"/>
                  </a:lnTo>
                  <a:lnTo>
                    <a:pt x="4804769" y="6102"/>
                  </a:lnTo>
                  <a:lnTo>
                    <a:pt x="4842374" y="23889"/>
                  </a:lnTo>
                  <a:lnTo>
                    <a:pt x="4873198" y="51824"/>
                  </a:lnTo>
                  <a:lnTo>
                    <a:pt x="4894583" y="87505"/>
                  </a:lnTo>
                  <a:lnTo>
                    <a:pt x="4904693" y="127858"/>
                  </a:lnTo>
                  <a:lnTo>
                    <a:pt x="4905374" y="141753"/>
                  </a:lnTo>
                  <a:lnTo>
                    <a:pt x="4905374" y="696446"/>
                  </a:lnTo>
                  <a:lnTo>
                    <a:pt x="4899271" y="737595"/>
                  </a:lnTo>
                  <a:lnTo>
                    <a:pt x="4881483" y="775199"/>
                  </a:lnTo>
                  <a:lnTo>
                    <a:pt x="4853548" y="806023"/>
                  </a:lnTo>
                  <a:lnTo>
                    <a:pt x="4817867" y="827408"/>
                  </a:lnTo>
                  <a:lnTo>
                    <a:pt x="4777515" y="837518"/>
                  </a:lnTo>
                  <a:lnTo>
                    <a:pt x="4763621" y="838199"/>
                  </a:lnTo>
                  <a:lnTo>
                    <a:pt x="141753" y="838199"/>
                  </a:lnTo>
                  <a:lnTo>
                    <a:pt x="100603" y="832097"/>
                  </a:lnTo>
                  <a:lnTo>
                    <a:pt x="62999" y="814309"/>
                  </a:lnTo>
                  <a:lnTo>
                    <a:pt x="32175" y="786374"/>
                  </a:lnTo>
                  <a:lnTo>
                    <a:pt x="10790" y="750692"/>
                  </a:lnTo>
                  <a:lnTo>
                    <a:pt x="680" y="710340"/>
                  </a:lnTo>
                  <a:lnTo>
                    <a:pt x="0" y="696446"/>
                  </a:lnTo>
                  <a:close/>
                </a:path>
              </a:pathLst>
            </a:custGeom>
            <a:ln w="19049">
              <a:solidFill>
                <a:srgbClr val="D93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6749" y="3190874"/>
              <a:ext cx="481330" cy="819150"/>
            </a:xfrm>
            <a:custGeom>
              <a:avLst/>
              <a:gdLst/>
              <a:ahLst/>
              <a:cxnLst/>
              <a:rect l="l" t="t" r="r" b="b"/>
              <a:pathLst>
                <a:path w="481330" h="819150">
                  <a:moveTo>
                    <a:pt x="481012" y="819149"/>
                  </a:moveTo>
                  <a:lnTo>
                    <a:pt x="132228" y="819149"/>
                  </a:lnTo>
                  <a:lnTo>
                    <a:pt x="125732" y="818990"/>
                  </a:lnTo>
                  <a:lnTo>
                    <a:pt x="87689" y="811423"/>
                  </a:lnTo>
                  <a:lnTo>
                    <a:pt x="53453" y="793123"/>
                  </a:lnTo>
                  <a:lnTo>
                    <a:pt x="26025" y="765696"/>
                  </a:lnTo>
                  <a:lnTo>
                    <a:pt x="7725" y="731460"/>
                  </a:lnTo>
                  <a:lnTo>
                    <a:pt x="158" y="693417"/>
                  </a:lnTo>
                  <a:lnTo>
                    <a:pt x="0" y="686921"/>
                  </a:lnTo>
                  <a:lnTo>
                    <a:pt x="0" y="132228"/>
                  </a:lnTo>
                  <a:lnTo>
                    <a:pt x="5692" y="93843"/>
                  </a:lnTo>
                  <a:lnTo>
                    <a:pt x="22284" y="58766"/>
                  </a:lnTo>
                  <a:lnTo>
                    <a:pt x="48342" y="30013"/>
                  </a:lnTo>
                  <a:lnTo>
                    <a:pt x="81626" y="10065"/>
                  </a:lnTo>
                  <a:lnTo>
                    <a:pt x="119267" y="635"/>
                  </a:lnTo>
                  <a:lnTo>
                    <a:pt x="132228" y="0"/>
                  </a:lnTo>
                  <a:lnTo>
                    <a:pt x="481012" y="0"/>
                  </a:lnTo>
                  <a:lnTo>
                    <a:pt x="481012" y="819149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42999" y="3190874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9524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819149"/>
                  </a:lnTo>
                  <a:close/>
                </a:path>
              </a:pathLst>
            </a:custGeom>
            <a:solidFill>
              <a:srgbClr val="D93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40531" y="3453923"/>
            <a:ext cx="1346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0" dirty="0">
                <a:solidFill>
                  <a:srgbClr val="00002E"/>
                </a:solidFill>
                <a:latin typeface="Trebuchet MS"/>
                <a:cs typeface="Trebuchet MS"/>
              </a:rPr>
              <a:t>3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20192" y="3293046"/>
            <a:ext cx="4128770" cy="582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1" spc="-10" dirty="0">
                <a:solidFill>
                  <a:srgbClr val="00002E"/>
                </a:solidFill>
                <a:latin typeface="Trebuchet MS"/>
                <a:cs typeface="Trebuchet MS"/>
              </a:rPr>
              <a:t>Quantization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05300"/>
              </a:lnSpc>
              <a:spcBef>
                <a:spcPts val="645"/>
              </a:spcBef>
            </a:pP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Convert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numeric</a:t>
            </a:r>
            <a:r>
              <a:rPr sz="9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65" dirty="0">
                <a:solidFill>
                  <a:srgbClr val="00002E"/>
                </a:solidFill>
                <a:latin typeface="Verdana"/>
                <a:cs typeface="Verdana"/>
              </a:rPr>
              <a:t>lab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0" dirty="0">
                <a:solidFill>
                  <a:srgbClr val="00002E"/>
                </a:solidFill>
                <a:latin typeface="Verdana"/>
                <a:cs typeface="Verdana"/>
              </a:rPr>
              <a:t>values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0" dirty="0">
                <a:solidFill>
                  <a:srgbClr val="00002E"/>
                </a:solidFill>
                <a:latin typeface="Verdana"/>
                <a:cs typeface="Verdana"/>
              </a:rPr>
              <a:t>categorical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0" dirty="0">
                <a:solidFill>
                  <a:srgbClr val="00002E"/>
                </a:solidFill>
                <a:latin typeface="Verdana"/>
                <a:cs typeface="Verdana"/>
              </a:rPr>
              <a:t>bins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5" dirty="0">
                <a:solidFill>
                  <a:srgbClr val="00002E"/>
                </a:solidFill>
                <a:latin typeface="Verdana"/>
                <a:cs typeface="Verdana"/>
              </a:rPr>
              <a:t>(not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5" dirty="0">
                <a:solidFill>
                  <a:srgbClr val="00002E"/>
                </a:solidFill>
                <a:latin typeface="Verdana"/>
                <a:cs typeface="Verdana"/>
              </a:rPr>
              <a:t>applicable: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sample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5" dirty="0">
                <a:solidFill>
                  <a:srgbClr val="00002E"/>
                </a:solidFill>
                <a:latin typeface="Verdana"/>
                <a:cs typeface="Verdana"/>
              </a:rPr>
              <a:t>lacks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00002E"/>
                </a:solidFill>
                <a:latin typeface="Verdana"/>
                <a:cs typeface="Verdana"/>
              </a:rPr>
              <a:t>lab </a:t>
            </a:r>
            <a:r>
              <a:rPr sz="950" spc="-10" dirty="0">
                <a:solidFill>
                  <a:srgbClr val="00002E"/>
                </a:solidFill>
                <a:latin typeface="Verdana"/>
                <a:cs typeface="Verdana"/>
              </a:rPr>
              <a:t>data)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7699" y="4105274"/>
            <a:ext cx="4924425" cy="857250"/>
            <a:chOff x="647699" y="4105274"/>
            <a:chExt cx="4924425" cy="857250"/>
          </a:xfrm>
        </p:grpSpPr>
        <p:sp>
          <p:nvSpPr>
            <p:cNvPr id="26" name="object 26"/>
            <p:cNvSpPr/>
            <p:nvPr/>
          </p:nvSpPr>
          <p:spPr>
            <a:xfrm>
              <a:off x="657224" y="4114799"/>
              <a:ext cx="4905375" cy="838200"/>
            </a:xfrm>
            <a:custGeom>
              <a:avLst/>
              <a:gdLst/>
              <a:ahLst/>
              <a:cxnLst/>
              <a:rect l="l" t="t" r="r" b="b"/>
              <a:pathLst>
                <a:path w="4905375" h="838200">
                  <a:moveTo>
                    <a:pt x="4763621" y="838199"/>
                  </a:moveTo>
                  <a:lnTo>
                    <a:pt x="141753" y="838199"/>
                  </a:lnTo>
                  <a:lnTo>
                    <a:pt x="134789" y="838029"/>
                  </a:lnTo>
                  <a:lnTo>
                    <a:pt x="94005" y="829917"/>
                  </a:lnTo>
                  <a:lnTo>
                    <a:pt x="57303" y="810299"/>
                  </a:lnTo>
                  <a:lnTo>
                    <a:pt x="27900" y="780895"/>
                  </a:lnTo>
                  <a:lnTo>
                    <a:pt x="8282" y="744193"/>
                  </a:lnTo>
                  <a:lnTo>
                    <a:pt x="170" y="703410"/>
                  </a:lnTo>
                  <a:lnTo>
                    <a:pt x="0" y="696446"/>
                  </a:lnTo>
                  <a:lnTo>
                    <a:pt x="0" y="141753"/>
                  </a:lnTo>
                  <a:lnTo>
                    <a:pt x="6102" y="100603"/>
                  </a:lnTo>
                  <a:lnTo>
                    <a:pt x="23889" y="62999"/>
                  </a:lnTo>
                  <a:lnTo>
                    <a:pt x="51824" y="32174"/>
                  </a:lnTo>
                  <a:lnTo>
                    <a:pt x="87506" y="10790"/>
                  </a:lnTo>
                  <a:lnTo>
                    <a:pt x="127858" y="680"/>
                  </a:lnTo>
                  <a:lnTo>
                    <a:pt x="141753" y="0"/>
                  </a:lnTo>
                  <a:lnTo>
                    <a:pt x="4763621" y="0"/>
                  </a:lnTo>
                  <a:lnTo>
                    <a:pt x="4804769" y="6101"/>
                  </a:lnTo>
                  <a:lnTo>
                    <a:pt x="4842374" y="23889"/>
                  </a:lnTo>
                  <a:lnTo>
                    <a:pt x="4873198" y="51824"/>
                  </a:lnTo>
                  <a:lnTo>
                    <a:pt x="4894583" y="87506"/>
                  </a:lnTo>
                  <a:lnTo>
                    <a:pt x="4904693" y="127858"/>
                  </a:lnTo>
                  <a:lnTo>
                    <a:pt x="4905374" y="141753"/>
                  </a:lnTo>
                  <a:lnTo>
                    <a:pt x="4905374" y="696446"/>
                  </a:lnTo>
                  <a:lnTo>
                    <a:pt x="4899271" y="737595"/>
                  </a:lnTo>
                  <a:lnTo>
                    <a:pt x="4881483" y="775199"/>
                  </a:lnTo>
                  <a:lnTo>
                    <a:pt x="4853548" y="806024"/>
                  </a:lnTo>
                  <a:lnTo>
                    <a:pt x="4817867" y="827409"/>
                  </a:lnTo>
                  <a:lnTo>
                    <a:pt x="4777515" y="837518"/>
                  </a:lnTo>
                  <a:lnTo>
                    <a:pt x="4763621" y="838199"/>
                  </a:lnTo>
                  <a:close/>
                </a:path>
              </a:pathLst>
            </a:custGeom>
            <a:solidFill>
              <a:srgbClr val="F2F2FF">
                <a:alpha val="7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7224" y="4114799"/>
              <a:ext cx="4905375" cy="838200"/>
            </a:xfrm>
            <a:custGeom>
              <a:avLst/>
              <a:gdLst/>
              <a:ahLst/>
              <a:cxnLst/>
              <a:rect l="l" t="t" r="r" b="b"/>
              <a:pathLst>
                <a:path w="4905375" h="838200">
                  <a:moveTo>
                    <a:pt x="0" y="696446"/>
                  </a:moveTo>
                  <a:lnTo>
                    <a:pt x="0" y="141753"/>
                  </a:lnTo>
                  <a:lnTo>
                    <a:pt x="170" y="134789"/>
                  </a:lnTo>
                  <a:lnTo>
                    <a:pt x="8282" y="94005"/>
                  </a:lnTo>
                  <a:lnTo>
                    <a:pt x="27900" y="57303"/>
                  </a:lnTo>
                  <a:lnTo>
                    <a:pt x="57303" y="27899"/>
                  </a:lnTo>
                  <a:lnTo>
                    <a:pt x="94005" y="8282"/>
                  </a:lnTo>
                  <a:lnTo>
                    <a:pt x="134789" y="170"/>
                  </a:lnTo>
                  <a:lnTo>
                    <a:pt x="141753" y="0"/>
                  </a:lnTo>
                  <a:lnTo>
                    <a:pt x="4763621" y="0"/>
                  </a:lnTo>
                  <a:lnTo>
                    <a:pt x="4804769" y="6101"/>
                  </a:lnTo>
                  <a:lnTo>
                    <a:pt x="4842374" y="23889"/>
                  </a:lnTo>
                  <a:lnTo>
                    <a:pt x="4873198" y="51824"/>
                  </a:lnTo>
                  <a:lnTo>
                    <a:pt x="4894583" y="87506"/>
                  </a:lnTo>
                  <a:lnTo>
                    <a:pt x="4904693" y="127858"/>
                  </a:lnTo>
                  <a:lnTo>
                    <a:pt x="4905374" y="141753"/>
                  </a:lnTo>
                  <a:lnTo>
                    <a:pt x="4905374" y="696446"/>
                  </a:lnTo>
                  <a:lnTo>
                    <a:pt x="4899271" y="737595"/>
                  </a:lnTo>
                  <a:lnTo>
                    <a:pt x="4881483" y="775199"/>
                  </a:lnTo>
                  <a:lnTo>
                    <a:pt x="4853548" y="806024"/>
                  </a:lnTo>
                  <a:lnTo>
                    <a:pt x="4817867" y="827409"/>
                  </a:lnTo>
                  <a:lnTo>
                    <a:pt x="4777515" y="837518"/>
                  </a:lnTo>
                  <a:lnTo>
                    <a:pt x="4763621" y="838199"/>
                  </a:lnTo>
                  <a:lnTo>
                    <a:pt x="141753" y="838199"/>
                  </a:lnTo>
                  <a:lnTo>
                    <a:pt x="100603" y="832097"/>
                  </a:lnTo>
                  <a:lnTo>
                    <a:pt x="62999" y="814310"/>
                  </a:lnTo>
                  <a:lnTo>
                    <a:pt x="32175" y="786374"/>
                  </a:lnTo>
                  <a:lnTo>
                    <a:pt x="10790" y="750692"/>
                  </a:lnTo>
                  <a:lnTo>
                    <a:pt x="680" y="710340"/>
                  </a:lnTo>
                  <a:lnTo>
                    <a:pt x="0" y="696446"/>
                  </a:lnTo>
                  <a:close/>
                </a:path>
              </a:pathLst>
            </a:custGeom>
            <a:ln w="19049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6749" y="4124324"/>
              <a:ext cx="481330" cy="819150"/>
            </a:xfrm>
            <a:custGeom>
              <a:avLst/>
              <a:gdLst/>
              <a:ahLst/>
              <a:cxnLst/>
              <a:rect l="l" t="t" r="r" b="b"/>
              <a:pathLst>
                <a:path w="481330" h="819150">
                  <a:moveTo>
                    <a:pt x="481012" y="819149"/>
                  </a:moveTo>
                  <a:lnTo>
                    <a:pt x="132228" y="819149"/>
                  </a:lnTo>
                  <a:lnTo>
                    <a:pt x="125732" y="818991"/>
                  </a:lnTo>
                  <a:lnTo>
                    <a:pt x="87689" y="811422"/>
                  </a:lnTo>
                  <a:lnTo>
                    <a:pt x="53453" y="793123"/>
                  </a:lnTo>
                  <a:lnTo>
                    <a:pt x="26025" y="765695"/>
                  </a:lnTo>
                  <a:lnTo>
                    <a:pt x="7725" y="731460"/>
                  </a:lnTo>
                  <a:lnTo>
                    <a:pt x="158" y="693417"/>
                  </a:lnTo>
                  <a:lnTo>
                    <a:pt x="0" y="686921"/>
                  </a:lnTo>
                  <a:lnTo>
                    <a:pt x="0" y="132228"/>
                  </a:lnTo>
                  <a:lnTo>
                    <a:pt x="5692" y="93843"/>
                  </a:lnTo>
                  <a:lnTo>
                    <a:pt x="22284" y="58765"/>
                  </a:lnTo>
                  <a:lnTo>
                    <a:pt x="48342" y="30013"/>
                  </a:lnTo>
                  <a:lnTo>
                    <a:pt x="81626" y="10065"/>
                  </a:lnTo>
                  <a:lnTo>
                    <a:pt x="119267" y="635"/>
                  </a:lnTo>
                  <a:lnTo>
                    <a:pt x="132228" y="0"/>
                  </a:lnTo>
                  <a:lnTo>
                    <a:pt x="481012" y="0"/>
                  </a:lnTo>
                  <a:lnTo>
                    <a:pt x="481012" y="819149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42999" y="4124324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9524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819149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40531" y="4387373"/>
            <a:ext cx="1346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0" dirty="0">
                <a:solidFill>
                  <a:srgbClr val="00002E"/>
                </a:solidFill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0192" y="4226496"/>
            <a:ext cx="3797300" cy="582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1" spc="-20" dirty="0">
                <a:solidFill>
                  <a:srgbClr val="00002E"/>
                </a:solidFill>
                <a:latin typeface="Trebuchet MS"/>
                <a:cs typeface="Trebuchet MS"/>
              </a:rPr>
              <a:t>Temporal</a:t>
            </a:r>
            <a:r>
              <a:rPr sz="1100" b="1" spc="-3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00002E"/>
                </a:solidFill>
                <a:latin typeface="Trebuchet MS"/>
                <a:cs typeface="Trebuchet MS"/>
              </a:rPr>
              <a:t>Modeling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05300"/>
              </a:lnSpc>
              <a:spcBef>
                <a:spcPts val="645"/>
              </a:spcBef>
            </a:pP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Inject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5" dirty="0">
                <a:solidFill>
                  <a:srgbClr val="00002E"/>
                </a:solidFill>
                <a:latin typeface="Verdana"/>
                <a:cs typeface="Verdana"/>
              </a:rPr>
              <a:t>time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interval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tokens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65" dirty="0">
                <a:solidFill>
                  <a:srgbClr val="00002E"/>
                </a:solidFill>
                <a:latin typeface="Verdana"/>
                <a:cs typeface="Verdana"/>
              </a:rPr>
              <a:t>(=2d,</a:t>
            </a:r>
            <a:r>
              <a:rPr sz="950" spc="-1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60" dirty="0">
                <a:solidFill>
                  <a:srgbClr val="00002E"/>
                </a:solidFill>
                <a:latin typeface="Verdana"/>
                <a:cs typeface="Verdana"/>
              </a:rPr>
              <a:t>=6h,</a:t>
            </a:r>
            <a:r>
              <a:rPr sz="950" spc="-1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65" dirty="0">
                <a:solidFill>
                  <a:srgbClr val="00002E"/>
                </a:solidFill>
                <a:latin typeface="Verdana"/>
                <a:cs typeface="Verdana"/>
              </a:rPr>
              <a:t>=1mt)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0" dirty="0">
                <a:solidFill>
                  <a:srgbClr val="00002E"/>
                </a:solidFill>
                <a:latin typeface="Verdana"/>
                <a:cs typeface="Verdana"/>
              </a:rPr>
              <a:t>between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5" dirty="0">
                <a:solidFill>
                  <a:srgbClr val="00002E"/>
                </a:solidFill>
                <a:latin typeface="Verdana"/>
                <a:cs typeface="Verdana"/>
              </a:rPr>
              <a:t>events,</a:t>
            </a:r>
            <a:r>
              <a:rPr sz="950" spc="-1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0" dirty="0">
                <a:solidFill>
                  <a:srgbClr val="00002E"/>
                </a:solidFill>
                <a:latin typeface="Verdana"/>
                <a:cs typeface="Verdana"/>
              </a:rPr>
              <a:t>adding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5,777 </a:t>
            </a:r>
            <a:r>
              <a:rPr sz="950" spc="-90" dirty="0">
                <a:solidFill>
                  <a:srgbClr val="00002E"/>
                </a:solidFill>
                <a:latin typeface="Verdana"/>
                <a:cs typeface="Verdana"/>
              </a:rPr>
              <a:t>temporal</a:t>
            </a:r>
            <a:r>
              <a:rPr sz="95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00002E"/>
                </a:solidFill>
                <a:latin typeface="Verdana"/>
                <a:cs typeface="Verdana"/>
              </a:rPr>
              <a:t>markers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47699" y="5038724"/>
            <a:ext cx="4924425" cy="723900"/>
            <a:chOff x="647699" y="5038724"/>
            <a:chExt cx="4924425" cy="723900"/>
          </a:xfrm>
        </p:grpSpPr>
        <p:sp>
          <p:nvSpPr>
            <p:cNvPr id="33" name="object 33"/>
            <p:cNvSpPr/>
            <p:nvPr/>
          </p:nvSpPr>
          <p:spPr>
            <a:xfrm>
              <a:off x="657224" y="5048249"/>
              <a:ext cx="4905375" cy="704850"/>
            </a:xfrm>
            <a:custGeom>
              <a:avLst/>
              <a:gdLst/>
              <a:ahLst/>
              <a:cxnLst/>
              <a:rect l="l" t="t" r="r" b="b"/>
              <a:pathLst>
                <a:path w="4905375" h="704850">
                  <a:moveTo>
                    <a:pt x="4763621" y="704849"/>
                  </a:moveTo>
                  <a:lnTo>
                    <a:pt x="141753" y="704849"/>
                  </a:lnTo>
                  <a:lnTo>
                    <a:pt x="134789" y="704679"/>
                  </a:lnTo>
                  <a:lnTo>
                    <a:pt x="94005" y="696566"/>
                  </a:lnTo>
                  <a:lnTo>
                    <a:pt x="57303" y="676949"/>
                  </a:lnTo>
                  <a:lnTo>
                    <a:pt x="27900" y="647545"/>
                  </a:lnTo>
                  <a:lnTo>
                    <a:pt x="8282" y="610843"/>
                  </a:lnTo>
                  <a:lnTo>
                    <a:pt x="170" y="570060"/>
                  </a:lnTo>
                  <a:lnTo>
                    <a:pt x="0" y="563096"/>
                  </a:lnTo>
                  <a:lnTo>
                    <a:pt x="0" y="141753"/>
                  </a:lnTo>
                  <a:lnTo>
                    <a:pt x="6102" y="100603"/>
                  </a:lnTo>
                  <a:lnTo>
                    <a:pt x="23889" y="62999"/>
                  </a:lnTo>
                  <a:lnTo>
                    <a:pt x="51824" y="32174"/>
                  </a:lnTo>
                  <a:lnTo>
                    <a:pt x="87506" y="10789"/>
                  </a:lnTo>
                  <a:lnTo>
                    <a:pt x="127858" y="681"/>
                  </a:lnTo>
                  <a:lnTo>
                    <a:pt x="141753" y="0"/>
                  </a:lnTo>
                  <a:lnTo>
                    <a:pt x="4763621" y="0"/>
                  </a:lnTo>
                  <a:lnTo>
                    <a:pt x="4804769" y="6101"/>
                  </a:lnTo>
                  <a:lnTo>
                    <a:pt x="4842374" y="23889"/>
                  </a:lnTo>
                  <a:lnTo>
                    <a:pt x="4873198" y="51824"/>
                  </a:lnTo>
                  <a:lnTo>
                    <a:pt x="4894583" y="87506"/>
                  </a:lnTo>
                  <a:lnTo>
                    <a:pt x="4904693" y="127858"/>
                  </a:lnTo>
                  <a:lnTo>
                    <a:pt x="4905374" y="141753"/>
                  </a:lnTo>
                  <a:lnTo>
                    <a:pt x="4905374" y="563096"/>
                  </a:lnTo>
                  <a:lnTo>
                    <a:pt x="4899271" y="604244"/>
                  </a:lnTo>
                  <a:lnTo>
                    <a:pt x="4881483" y="641850"/>
                  </a:lnTo>
                  <a:lnTo>
                    <a:pt x="4853548" y="672674"/>
                  </a:lnTo>
                  <a:lnTo>
                    <a:pt x="4817867" y="694058"/>
                  </a:lnTo>
                  <a:lnTo>
                    <a:pt x="4777515" y="704168"/>
                  </a:lnTo>
                  <a:lnTo>
                    <a:pt x="4763621" y="704849"/>
                  </a:lnTo>
                  <a:close/>
                </a:path>
              </a:pathLst>
            </a:custGeom>
            <a:solidFill>
              <a:srgbClr val="F2F2FF">
                <a:alpha val="7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7224" y="5048249"/>
              <a:ext cx="4905375" cy="704850"/>
            </a:xfrm>
            <a:custGeom>
              <a:avLst/>
              <a:gdLst/>
              <a:ahLst/>
              <a:cxnLst/>
              <a:rect l="l" t="t" r="r" b="b"/>
              <a:pathLst>
                <a:path w="4905375" h="704850">
                  <a:moveTo>
                    <a:pt x="0" y="563096"/>
                  </a:moveTo>
                  <a:lnTo>
                    <a:pt x="0" y="141753"/>
                  </a:lnTo>
                  <a:lnTo>
                    <a:pt x="170" y="134789"/>
                  </a:lnTo>
                  <a:lnTo>
                    <a:pt x="8282" y="94005"/>
                  </a:lnTo>
                  <a:lnTo>
                    <a:pt x="27900" y="57303"/>
                  </a:lnTo>
                  <a:lnTo>
                    <a:pt x="57303" y="27899"/>
                  </a:lnTo>
                  <a:lnTo>
                    <a:pt x="94005" y="8282"/>
                  </a:lnTo>
                  <a:lnTo>
                    <a:pt x="134789" y="170"/>
                  </a:lnTo>
                  <a:lnTo>
                    <a:pt x="141753" y="0"/>
                  </a:lnTo>
                  <a:lnTo>
                    <a:pt x="4763621" y="0"/>
                  </a:lnTo>
                  <a:lnTo>
                    <a:pt x="4804769" y="6101"/>
                  </a:lnTo>
                  <a:lnTo>
                    <a:pt x="4842374" y="23889"/>
                  </a:lnTo>
                  <a:lnTo>
                    <a:pt x="4873198" y="51824"/>
                  </a:lnTo>
                  <a:lnTo>
                    <a:pt x="4894583" y="87506"/>
                  </a:lnTo>
                  <a:lnTo>
                    <a:pt x="4904693" y="127858"/>
                  </a:lnTo>
                  <a:lnTo>
                    <a:pt x="4905374" y="141753"/>
                  </a:lnTo>
                  <a:lnTo>
                    <a:pt x="4905374" y="563096"/>
                  </a:lnTo>
                  <a:lnTo>
                    <a:pt x="4899271" y="604244"/>
                  </a:lnTo>
                  <a:lnTo>
                    <a:pt x="4881483" y="641850"/>
                  </a:lnTo>
                  <a:lnTo>
                    <a:pt x="4853548" y="672674"/>
                  </a:lnTo>
                  <a:lnTo>
                    <a:pt x="4817867" y="694058"/>
                  </a:lnTo>
                  <a:lnTo>
                    <a:pt x="4777515" y="704168"/>
                  </a:lnTo>
                  <a:lnTo>
                    <a:pt x="4763621" y="704849"/>
                  </a:lnTo>
                  <a:lnTo>
                    <a:pt x="141753" y="704849"/>
                  </a:lnTo>
                  <a:lnTo>
                    <a:pt x="100603" y="698747"/>
                  </a:lnTo>
                  <a:lnTo>
                    <a:pt x="62999" y="680959"/>
                  </a:lnTo>
                  <a:lnTo>
                    <a:pt x="32175" y="653024"/>
                  </a:lnTo>
                  <a:lnTo>
                    <a:pt x="10790" y="617342"/>
                  </a:lnTo>
                  <a:lnTo>
                    <a:pt x="680" y="576990"/>
                  </a:lnTo>
                  <a:lnTo>
                    <a:pt x="0" y="563096"/>
                  </a:lnTo>
                  <a:close/>
                </a:path>
              </a:pathLst>
            </a:custGeom>
            <a:ln w="19049">
              <a:solidFill>
                <a:srgbClr val="008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6749" y="5057774"/>
              <a:ext cx="481330" cy="685800"/>
            </a:xfrm>
            <a:custGeom>
              <a:avLst/>
              <a:gdLst/>
              <a:ahLst/>
              <a:cxnLst/>
              <a:rect l="l" t="t" r="r" b="b"/>
              <a:pathLst>
                <a:path w="481330" h="685800">
                  <a:moveTo>
                    <a:pt x="481012" y="685799"/>
                  </a:moveTo>
                  <a:lnTo>
                    <a:pt x="132228" y="685799"/>
                  </a:lnTo>
                  <a:lnTo>
                    <a:pt x="125732" y="685640"/>
                  </a:lnTo>
                  <a:lnTo>
                    <a:pt x="87689" y="678072"/>
                  </a:lnTo>
                  <a:lnTo>
                    <a:pt x="53453" y="659773"/>
                  </a:lnTo>
                  <a:lnTo>
                    <a:pt x="26025" y="632345"/>
                  </a:lnTo>
                  <a:lnTo>
                    <a:pt x="7725" y="598109"/>
                  </a:lnTo>
                  <a:lnTo>
                    <a:pt x="158" y="560067"/>
                  </a:lnTo>
                  <a:lnTo>
                    <a:pt x="0" y="553571"/>
                  </a:lnTo>
                  <a:lnTo>
                    <a:pt x="0" y="132228"/>
                  </a:lnTo>
                  <a:lnTo>
                    <a:pt x="5692" y="93844"/>
                  </a:lnTo>
                  <a:lnTo>
                    <a:pt x="22284" y="58765"/>
                  </a:lnTo>
                  <a:lnTo>
                    <a:pt x="48342" y="30012"/>
                  </a:lnTo>
                  <a:lnTo>
                    <a:pt x="81626" y="10065"/>
                  </a:lnTo>
                  <a:lnTo>
                    <a:pt x="119267" y="635"/>
                  </a:lnTo>
                  <a:lnTo>
                    <a:pt x="132228" y="0"/>
                  </a:lnTo>
                  <a:lnTo>
                    <a:pt x="481012" y="0"/>
                  </a:lnTo>
                  <a:lnTo>
                    <a:pt x="481012" y="685799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42999" y="5057774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9524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685799"/>
                  </a:lnTo>
                  <a:close/>
                </a:path>
              </a:pathLst>
            </a:custGeom>
            <a:solidFill>
              <a:srgbClr val="008B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40531" y="5263673"/>
            <a:ext cx="1346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0" dirty="0">
                <a:solidFill>
                  <a:srgbClr val="00002E"/>
                </a:solidFill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20192" y="5159946"/>
            <a:ext cx="4142740" cy="430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1" dirty="0">
                <a:solidFill>
                  <a:srgbClr val="00002E"/>
                </a:solidFill>
                <a:latin typeface="Trebuchet MS"/>
                <a:cs typeface="Trebuchet MS"/>
              </a:rPr>
              <a:t>Vocabulary</a:t>
            </a:r>
            <a:r>
              <a:rPr sz="1100" b="1" spc="-7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00002E"/>
                </a:solidFill>
                <a:latin typeface="Trebuchet MS"/>
                <a:cs typeface="Trebuchet MS"/>
              </a:rPr>
              <a:t>Building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Count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0" dirty="0">
                <a:solidFill>
                  <a:srgbClr val="00002E"/>
                </a:solidFill>
                <a:latin typeface="Verdana"/>
                <a:cs typeface="Verdana"/>
              </a:rPr>
              <a:t>code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5" dirty="0">
                <a:solidFill>
                  <a:srgbClr val="00002E"/>
                </a:solidFill>
                <a:latin typeface="Verdana"/>
                <a:cs typeface="Verdana"/>
              </a:rPr>
              <a:t>frequencies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across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65" dirty="0">
                <a:solidFill>
                  <a:srgbClr val="00002E"/>
                </a:solidFill>
                <a:latin typeface="Verdana"/>
                <a:cs typeface="Verdana"/>
              </a:rPr>
              <a:t>splits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0" dirty="0">
                <a:solidFill>
                  <a:srgbClr val="00002E"/>
                </a:solidFill>
                <a:latin typeface="Verdana"/>
                <a:cs typeface="Verdana"/>
              </a:rPr>
              <a:t>assign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5" dirty="0">
                <a:solidFill>
                  <a:srgbClr val="00002E"/>
                </a:solidFill>
                <a:latin typeface="Verdana"/>
                <a:cs typeface="Verdana"/>
              </a:rPr>
              <a:t>unique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0" dirty="0">
                <a:solidFill>
                  <a:srgbClr val="00002E"/>
                </a:solidFill>
                <a:latin typeface="Verdana"/>
                <a:cs typeface="Verdana"/>
              </a:rPr>
              <a:t>integer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25" dirty="0">
                <a:solidFill>
                  <a:srgbClr val="00002E"/>
                </a:solidFill>
                <a:latin typeface="Verdana"/>
                <a:cs typeface="Verdana"/>
              </a:rPr>
              <a:t>IDs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each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00002E"/>
                </a:solidFill>
                <a:latin typeface="Verdana"/>
                <a:cs typeface="Verdana"/>
              </a:rPr>
              <a:t>code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76912" y="1924049"/>
            <a:ext cx="4914900" cy="342900"/>
          </a:xfrm>
          <a:custGeom>
            <a:avLst/>
            <a:gdLst/>
            <a:ahLst/>
            <a:cxnLst/>
            <a:rect l="l" t="t" r="r" b="b"/>
            <a:pathLst>
              <a:path w="4914900" h="342900">
                <a:moveTo>
                  <a:pt x="4914900" y="151282"/>
                </a:moveTo>
                <a:lnTo>
                  <a:pt x="4914722" y="143852"/>
                </a:lnTo>
                <a:lnTo>
                  <a:pt x="4914214" y="137096"/>
                </a:lnTo>
                <a:lnTo>
                  <a:pt x="4914189" y="136385"/>
                </a:lnTo>
                <a:lnTo>
                  <a:pt x="4914049" y="135521"/>
                </a:lnTo>
                <a:lnTo>
                  <a:pt x="4913274" y="129095"/>
                </a:lnTo>
                <a:lnTo>
                  <a:pt x="4912233" y="123164"/>
                </a:lnTo>
                <a:lnTo>
                  <a:pt x="4912030" y="121767"/>
                </a:lnTo>
                <a:lnTo>
                  <a:pt x="4911674" y="120396"/>
                </a:lnTo>
                <a:lnTo>
                  <a:pt x="4910366" y="114515"/>
                </a:lnTo>
                <a:lnTo>
                  <a:pt x="4908461" y="107632"/>
                </a:lnTo>
                <a:lnTo>
                  <a:pt x="4908423" y="107442"/>
                </a:lnTo>
                <a:lnTo>
                  <a:pt x="4906061" y="100330"/>
                </a:lnTo>
                <a:lnTo>
                  <a:pt x="4903394" y="93395"/>
                </a:lnTo>
                <a:lnTo>
                  <a:pt x="4900384" y="86601"/>
                </a:lnTo>
                <a:lnTo>
                  <a:pt x="4897209" y="80314"/>
                </a:lnTo>
                <a:lnTo>
                  <a:pt x="4897044" y="79971"/>
                </a:lnTo>
                <a:lnTo>
                  <a:pt x="4896675" y="79336"/>
                </a:lnTo>
                <a:lnTo>
                  <a:pt x="4893386" y="73520"/>
                </a:lnTo>
                <a:lnTo>
                  <a:pt x="4890020" y="68211"/>
                </a:lnTo>
                <a:lnTo>
                  <a:pt x="4889436" y="67221"/>
                </a:lnTo>
                <a:lnTo>
                  <a:pt x="4888763" y="66319"/>
                </a:lnTo>
                <a:lnTo>
                  <a:pt x="4885131" y="61163"/>
                </a:lnTo>
                <a:lnTo>
                  <a:pt x="4880851" y="55676"/>
                </a:lnTo>
                <a:lnTo>
                  <a:pt x="4880622" y="55359"/>
                </a:lnTo>
                <a:lnTo>
                  <a:pt x="4880470" y="55206"/>
                </a:lnTo>
                <a:lnTo>
                  <a:pt x="4875720" y="49695"/>
                </a:lnTo>
                <a:lnTo>
                  <a:pt x="4870602" y="44310"/>
                </a:lnTo>
                <a:lnTo>
                  <a:pt x="4865217" y="39192"/>
                </a:lnTo>
                <a:lnTo>
                  <a:pt x="4859934" y="34658"/>
                </a:lnTo>
                <a:lnTo>
                  <a:pt x="4859591" y="34340"/>
                </a:lnTo>
                <a:lnTo>
                  <a:pt x="4858982" y="33883"/>
                </a:lnTo>
                <a:lnTo>
                  <a:pt x="4853749" y="29781"/>
                </a:lnTo>
                <a:lnTo>
                  <a:pt x="4848784" y="26301"/>
                </a:lnTo>
                <a:lnTo>
                  <a:pt x="4847691" y="25476"/>
                </a:lnTo>
                <a:lnTo>
                  <a:pt x="4846536" y="24790"/>
                </a:lnTo>
                <a:lnTo>
                  <a:pt x="4841392" y="21526"/>
                </a:lnTo>
                <a:lnTo>
                  <a:pt x="4835347" y="18110"/>
                </a:lnTo>
                <a:lnTo>
                  <a:pt x="4835004" y="17894"/>
                </a:lnTo>
                <a:lnTo>
                  <a:pt x="4834788" y="17805"/>
                </a:lnTo>
                <a:lnTo>
                  <a:pt x="4828311" y="14528"/>
                </a:lnTo>
                <a:lnTo>
                  <a:pt x="4821517" y="11518"/>
                </a:lnTo>
                <a:lnTo>
                  <a:pt x="4814582" y="8839"/>
                </a:lnTo>
                <a:lnTo>
                  <a:pt x="4807547" y="6515"/>
                </a:lnTo>
                <a:lnTo>
                  <a:pt x="4807280" y="6451"/>
                </a:lnTo>
                <a:lnTo>
                  <a:pt x="4800397" y="4546"/>
                </a:lnTo>
                <a:lnTo>
                  <a:pt x="4794123" y="3136"/>
                </a:lnTo>
                <a:lnTo>
                  <a:pt x="4793145" y="2882"/>
                </a:lnTo>
                <a:lnTo>
                  <a:pt x="4792142" y="2743"/>
                </a:lnTo>
                <a:lnTo>
                  <a:pt x="4785817" y="1638"/>
                </a:lnTo>
                <a:lnTo>
                  <a:pt x="4779391" y="863"/>
                </a:lnTo>
                <a:lnTo>
                  <a:pt x="4778527" y="723"/>
                </a:lnTo>
                <a:lnTo>
                  <a:pt x="4777791" y="698"/>
                </a:lnTo>
                <a:lnTo>
                  <a:pt x="4771060" y="190"/>
                </a:lnTo>
                <a:lnTo>
                  <a:pt x="4763630" y="0"/>
                </a:lnTo>
                <a:lnTo>
                  <a:pt x="151282" y="0"/>
                </a:lnTo>
                <a:lnTo>
                  <a:pt x="143852" y="190"/>
                </a:lnTo>
                <a:lnTo>
                  <a:pt x="137109" y="698"/>
                </a:lnTo>
                <a:lnTo>
                  <a:pt x="136385" y="723"/>
                </a:lnTo>
                <a:lnTo>
                  <a:pt x="135509" y="863"/>
                </a:lnTo>
                <a:lnTo>
                  <a:pt x="129095" y="1638"/>
                </a:lnTo>
                <a:lnTo>
                  <a:pt x="122758" y="2743"/>
                </a:lnTo>
                <a:lnTo>
                  <a:pt x="121767" y="2882"/>
                </a:lnTo>
                <a:lnTo>
                  <a:pt x="120764" y="3136"/>
                </a:lnTo>
                <a:lnTo>
                  <a:pt x="114515" y="4546"/>
                </a:lnTo>
                <a:lnTo>
                  <a:pt x="107759" y="6413"/>
                </a:lnTo>
                <a:lnTo>
                  <a:pt x="107429" y="6489"/>
                </a:lnTo>
                <a:lnTo>
                  <a:pt x="107264" y="6553"/>
                </a:lnTo>
                <a:lnTo>
                  <a:pt x="100330" y="8839"/>
                </a:lnTo>
                <a:lnTo>
                  <a:pt x="93395" y="11518"/>
                </a:lnTo>
                <a:lnTo>
                  <a:pt x="86601" y="14528"/>
                </a:lnTo>
                <a:lnTo>
                  <a:pt x="80302" y="17703"/>
                </a:lnTo>
                <a:lnTo>
                  <a:pt x="79971" y="17868"/>
                </a:lnTo>
                <a:lnTo>
                  <a:pt x="79324" y="18237"/>
                </a:lnTo>
                <a:lnTo>
                  <a:pt x="73520" y="21526"/>
                </a:lnTo>
                <a:lnTo>
                  <a:pt x="68199" y="24892"/>
                </a:lnTo>
                <a:lnTo>
                  <a:pt x="67221" y="25476"/>
                </a:lnTo>
                <a:lnTo>
                  <a:pt x="66306" y="26149"/>
                </a:lnTo>
                <a:lnTo>
                  <a:pt x="61163" y="29781"/>
                </a:lnTo>
                <a:lnTo>
                  <a:pt x="55664" y="34061"/>
                </a:lnTo>
                <a:lnTo>
                  <a:pt x="55359" y="34290"/>
                </a:lnTo>
                <a:lnTo>
                  <a:pt x="55194" y="34442"/>
                </a:lnTo>
                <a:lnTo>
                  <a:pt x="49695" y="39192"/>
                </a:lnTo>
                <a:lnTo>
                  <a:pt x="44310" y="44310"/>
                </a:lnTo>
                <a:lnTo>
                  <a:pt x="39192" y="49695"/>
                </a:lnTo>
                <a:lnTo>
                  <a:pt x="34429" y="55206"/>
                </a:lnTo>
                <a:lnTo>
                  <a:pt x="34290" y="55359"/>
                </a:lnTo>
                <a:lnTo>
                  <a:pt x="34048" y="55676"/>
                </a:lnTo>
                <a:lnTo>
                  <a:pt x="29781" y="61163"/>
                </a:lnTo>
                <a:lnTo>
                  <a:pt x="26136" y="66319"/>
                </a:lnTo>
                <a:lnTo>
                  <a:pt x="25476" y="67221"/>
                </a:lnTo>
                <a:lnTo>
                  <a:pt x="24879" y="68211"/>
                </a:lnTo>
                <a:lnTo>
                  <a:pt x="21526" y="73520"/>
                </a:lnTo>
                <a:lnTo>
                  <a:pt x="18224" y="79336"/>
                </a:lnTo>
                <a:lnTo>
                  <a:pt x="17894" y="79895"/>
                </a:lnTo>
                <a:lnTo>
                  <a:pt x="17691" y="80314"/>
                </a:lnTo>
                <a:lnTo>
                  <a:pt x="14528" y="86601"/>
                </a:lnTo>
                <a:lnTo>
                  <a:pt x="11518" y="93395"/>
                </a:lnTo>
                <a:lnTo>
                  <a:pt x="8839" y="100330"/>
                </a:lnTo>
                <a:lnTo>
                  <a:pt x="6629" y="106997"/>
                </a:lnTo>
                <a:lnTo>
                  <a:pt x="6477" y="107442"/>
                </a:lnTo>
                <a:lnTo>
                  <a:pt x="6311" y="108102"/>
                </a:lnTo>
                <a:lnTo>
                  <a:pt x="4533" y="114515"/>
                </a:lnTo>
                <a:lnTo>
                  <a:pt x="3111" y="120827"/>
                </a:lnTo>
                <a:lnTo>
                  <a:pt x="2882" y="121767"/>
                </a:lnTo>
                <a:lnTo>
                  <a:pt x="2730" y="122770"/>
                </a:lnTo>
                <a:lnTo>
                  <a:pt x="1638" y="129095"/>
                </a:lnTo>
                <a:lnTo>
                  <a:pt x="850" y="135521"/>
                </a:lnTo>
                <a:lnTo>
                  <a:pt x="723" y="136385"/>
                </a:lnTo>
                <a:lnTo>
                  <a:pt x="685" y="137121"/>
                </a:lnTo>
                <a:lnTo>
                  <a:pt x="190" y="143852"/>
                </a:lnTo>
                <a:lnTo>
                  <a:pt x="0" y="151282"/>
                </a:lnTo>
                <a:lnTo>
                  <a:pt x="0" y="191630"/>
                </a:lnTo>
                <a:lnTo>
                  <a:pt x="190" y="199059"/>
                </a:lnTo>
                <a:lnTo>
                  <a:pt x="685" y="205803"/>
                </a:lnTo>
                <a:lnTo>
                  <a:pt x="723" y="206527"/>
                </a:lnTo>
                <a:lnTo>
                  <a:pt x="850" y="207403"/>
                </a:lnTo>
                <a:lnTo>
                  <a:pt x="1638" y="213817"/>
                </a:lnTo>
                <a:lnTo>
                  <a:pt x="2730" y="220154"/>
                </a:lnTo>
                <a:lnTo>
                  <a:pt x="2882" y="221145"/>
                </a:lnTo>
                <a:lnTo>
                  <a:pt x="3111" y="222097"/>
                </a:lnTo>
                <a:lnTo>
                  <a:pt x="4533" y="228396"/>
                </a:lnTo>
                <a:lnTo>
                  <a:pt x="6311" y="234823"/>
                </a:lnTo>
                <a:lnTo>
                  <a:pt x="6477" y="235470"/>
                </a:lnTo>
                <a:lnTo>
                  <a:pt x="6629" y="235927"/>
                </a:lnTo>
                <a:lnTo>
                  <a:pt x="8839" y="242582"/>
                </a:lnTo>
                <a:lnTo>
                  <a:pt x="11518" y="249516"/>
                </a:lnTo>
                <a:lnTo>
                  <a:pt x="14528" y="256311"/>
                </a:lnTo>
                <a:lnTo>
                  <a:pt x="17691" y="262610"/>
                </a:lnTo>
                <a:lnTo>
                  <a:pt x="17894" y="263017"/>
                </a:lnTo>
                <a:lnTo>
                  <a:pt x="18224" y="263588"/>
                </a:lnTo>
                <a:lnTo>
                  <a:pt x="21526" y="269392"/>
                </a:lnTo>
                <a:lnTo>
                  <a:pt x="24879" y="274713"/>
                </a:lnTo>
                <a:lnTo>
                  <a:pt x="25476" y="275691"/>
                </a:lnTo>
                <a:lnTo>
                  <a:pt x="26136" y="276606"/>
                </a:lnTo>
                <a:lnTo>
                  <a:pt x="29781" y="281749"/>
                </a:lnTo>
                <a:lnTo>
                  <a:pt x="61163" y="313131"/>
                </a:lnTo>
                <a:lnTo>
                  <a:pt x="66306" y="316776"/>
                </a:lnTo>
                <a:lnTo>
                  <a:pt x="67221" y="317436"/>
                </a:lnTo>
                <a:lnTo>
                  <a:pt x="68199" y="318033"/>
                </a:lnTo>
                <a:lnTo>
                  <a:pt x="73520" y="321386"/>
                </a:lnTo>
                <a:lnTo>
                  <a:pt x="79324" y="324688"/>
                </a:lnTo>
                <a:lnTo>
                  <a:pt x="79895" y="325018"/>
                </a:lnTo>
                <a:lnTo>
                  <a:pt x="80302" y="325221"/>
                </a:lnTo>
                <a:lnTo>
                  <a:pt x="86601" y="328383"/>
                </a:lnTo>
                <a:lnTo>
                  <a:pt x="107759" y="336511"/>
                </a:lnTo>
                <a:lnTo>
                  <a:pt x="114515" y="338366"/>
                </a:lnTo>
                <a:lnTo>
                  <a:pt x="120764" y="339788"/>
                </a:lnTo>
                <a:lnTo>
                  <a:pt x="121767" y="340029"/>
                </a:lnTo>
                <a:lnTo>
                  <a:pt x="122758" y="340182"/>
                </a:lnTo>
                <a:lnTo>
                  <a:pt x="129095" y="341274"/>
                </a:lnTo>
                <a:lnTo>
                  <a:pt x="135509" y="342061"/>
                </a:lnTo>
                <a:lnTo>
                  <a:pt x="136385" y="342188"/>
                </a:lnTo>
                <a:lnTo>
                  <a:pt x="137083" y="342226"/>
                </a:lnTo>
                <a:lnTo>
                  <a:pt x="143852" y="342722"/>
                </a:lnTo>
                <a:lnTo>
                  <a:pt x="151282" y="342900"/>
                </a:lnTo>
                <a:lnTo>
                  <a:pt x="4763630" y="342900"/>
                </a:lnTo>
                <a:lnTo>
                  <a:pt x="4771060" y="342722"/>
                </a:lnTo>
                <a:lnTo>
                  <a:pt x="4777816" y="342226"/>
                </a:lnTo>
                <a:lnTo>
                  <a:pt x="4778527" y="342188"/>
                </a:lnTo>
                <a:lnTo>
                  <a:pt x="4779391" y="342061"/>
                </a:lnTo>
                <a:lnTo>
                  <a:pt x="4785817" y="341274"/>
                </a:lnTo>
                <a:lnTo>
                  <a:pt x="4792142" y="340182"/>
                </a:lnTo>
                <a:lnTo>
                  <a:pt x="4793145" y="340029"/>
                </a:lnTo>
                <a:lnTo>
                  <a:pt x="4794123" y="339788"/>
                </a:lnTo>
                <a:lnTo>
                  <a:pt x="4800397" y="338366"/>
                </a:lnTo>
                <a:lnTo>
                  <a:pt x="4807280" y="336473"/>
                </a:lnTo>
                <a:lnTo>
                  <a:pt x="4807470" y="336423"/>
                </a:lnTo>
                <a:lnTo>
                  <a:pt x="4814582" y="334060"/>
                </a:lnTo>
                <a:lnTo>
                  <a:pt x="4821517" y="331393"/>
                </a:lnTo>
                <a:lnTo>
                  <a:pt x="4828311" y="328383"/>
                </a:lnTo>
                <a:lnTo>
                  <a:pt x="4834788" y="325120"/>
                </a:lnTo>
                <a:lnTo>
                  <a:pt x="4834941" y="325043"/>
                </a:lnTo>
                <a:lnTo>
                  <a:pt x="4835347" y="324815"/>
                </a:lnTo>
                <a:lnTo>
                  <a:pt x="4841392" y="321386"/>
                </a:lnTo>
                <a:lnTo>
                  <a:pt x="4846536" y="318135"/>
                </a:lnTo>
                <a:lnTo>
                  <a:pt x="4847691" y="317436"/>
                </a:lnTo>
                <a:lnTo>
                  <a:pt x="4848784" y="316623"/>
                </a:lnTo>
                <a:lnTo>
                  <a:pt x="4853749" y="313131"/>
                </a:lnTo>
                <a:lnTo>
                  <a:pt x="4858982" y="309041"/>
                </a:lnTo>
                <a:lnTo>
                  <a:pt x="4859553" y="308622"/>
                </a:lnTo>
                <a:lnTo>
                  <a:pt x="4859934" y="308267"/>
                </a:lnTo>
                <a:lnTo>
                  <a:pt x="4865217" y="303720"/>
                </a:lnTo>
                <a:lnTo>
                  <a:pt x="4870602" y="298602"/>
                </a:lnTo>
                <a:lnTo>
                  <a:pt x="4875720" y="293217"/>
                </a:lnTo>
                <a:lnTo>
                  <a:pt x="4880470" y="287718"/>
                </a:lnTo>
                <a:lnTo>
                  <a:pt x="4880622" y="287553"/>
                </a:lnTo>
                <a:lnTo>
                  <a:pt x="4880851" y="287248"/>
                </a:lnTo>
                <a:lnTo>
                  <a:pt x="4885131" y="281749"/>
                </a:lnTo>
                <a:lnTo>
                  <a:pt x="4888763" y="276606"/>
                </a:lnTo>
                <a:lnTo>
                  <a:pt x="4889436" y="275691"/>
                </a:lnTo>
                <a:lnTo>
                  <a:pt x="4890020" y="274713"/>
                </a:lnTo>
                <a:lnTo>
                  <a:pt x="4893386" y="269392"/>
                </a:lnTo>
                <a:lnTo>
                  <a:pt x="4896675" y="263588"/>
                </a:lnTo>
                <a:lnTo>
                  <a:pt x="4897018" y="263017"/>
                </a:lnTo>
                <a:lnTo>
                  <a:pt x="4897209" y="262610"/>
                </a:lnTo>
                <a:lnTo>
                  <a:pt x="4900384" y="256311"/>
                </a:lnTo>
                <a:lnTo>
                  <a:pt x="4903394" y="249516"/>
                </a:lnTo>
                <a:lnTo>
                  <a:pt x="4906061" y="242582"/>
                </a:lnTo>
                <a:lnTo>
                  <a:pt x="4908397" y="235546"/>
                </a:lnTo>
                <a:lnTo>
                  <a:pt x="4908461" y="235292"/>
                </a:lnTo>
                <a:lnTo>
                  <a:pt x="4910366" y="228396"/>
                </a:lnTo>
                <a:lnTo>
                  <a:pt x="4911674" y="222529"/>
                </a:lnTo>
                <a:lnTo>
                  <a:pt x="4912030" y="221145"/>
                </a:lnTo>
                <a:lnTo>
                  <a:pt x="4912233" y="219760"/>
                </a:lnTo>
                <a:lnTo>
                  <a:pt x="4913274" y="213817"/>
                </a:lnTo>
                <a:lnTo>
                  <a:pt x="4914049" y="207403"/>
                </a:lnTo>
                <a:lnTo>
                  <a:pt x="4914189" y="206527"/>
                </a:lnTo>
                <a:lnTo>
                  <a:pt x="4914214" y="205828"/>
                </a:lnTo>
                <a:lnTo>
                  <a:pt x="4914722" y="199059"/>
                </a:lnTo>
                <a:lnTo>
                  <a:pt x="4914900" y="191630"/>
                </a:lnTo>
                <a:lnTo>
                  <a:pt x="4914900" y="151282"/>
                </a:lnTo>
                <a:close/>
              </a:path>
            </a:pathLst>
          </a:custGeom>
          <a:solidFill>
            <a:srgbClr val="E6E6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974506" y="1993731"/>
            <a:ext cx="16764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solidFill>
                  <a:srgbClr val="00002E"/>
                </a:solidFill>
                <a:latin typeface="Tahoma"/>
                <a:cs typeface="Tahoma"/>
              </a:rPr>
              <a:t>J96.00</a:t>
            </a:r>
            <a:r>
              <a:rPr sz="950" spc="-3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050" spc="-35" dirty="0">
                <a:solidFill>
                  <a:srgbClr val="00002E"/>
                </a:solidFill>
                <a:latin typeface="Lucida Sans Unicode"/>
                <a:cs typeface="Lucida Sans Unicode"/>
              </a:rPr>
              <a:t>→</a:t>
            </a:r>
            <a:r>
              <a:rPr sz="1050" spc="-65" dirty="0">
                <a:solidFill>
                  <a:srgbClr val="00002E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00002E"/>
                </a:solidFill>
                <a:latin typeface="Tahoma"/>
                <a:cs typeface="Tahoma"/>
              </a:rPr>
              <a:t>3-</a:t>
            </a:r>
            <a:r>
              <a:rPr sz="950" spc="-25" dirty="0">
                <a:solidFill>
                  <a:srgbClr val="00002E"/>
                </a:solidFill>
                <a:latin typeface="Tahoma"/>
                <a:cs typeface="Tahoma"/>
              </a:rPr>
              <a:t>6//J96, </a:t>
            </a:r>
            <a:r>
              <a:rPr sz="950" spc="-10" dirty="0">
                <a:solidFill>
                  <a:srgbClr val="00002E"/>
                </a:solidFill>
                <a:latin typeface="Tahoma"/>
                <a:cs typeface="Tahoma"/>
              </a:rPr>
              <a:t>SFX//J96.00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59462" y="1313960"/>
            <a:ext cx="2372360" cy="51371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100" b="1" dirty="0">
                <a:solidFill>
                  <a:srgbClr val="00002E"/>
                </a:solidFill>
                <a:latin typeface="Trebuchet MS"/>
                <a:cs typeface="Trebuchet MS"/>
              </a:rPr>
              <a:t>Key</a:t>
            </a:r>
            <a:r>
              <a:rPr sz="1100" b="1" spc="-7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00002E"/>
                </a:solidFill>
                <a:latin typeface="Trebuchet MS"/>
                <a:cs typeface="Trebuchet MS"/>
              </a:rPr>
              <a:t>Transformations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950" spc="-130" dirty="0">
                <a:solidFill>
                  <a:srgbClr val="00002E"/>
                </a:solidFill>
                <a:latin typeface="Verdana"/>
                <a:cs typeface="Verdana"/>
              </a:rPr>
              <a:t>ICD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codes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0" dirty="0">
                <a:solidFill>
                  <a:srgbClr val="00002E"/>
                </a:solidFill>
                <a:latin typeface="Verdana"/>
                <a:cs typeface="Verdana"/>
              </a:rPr>
              <a:t>converted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95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hierarchical</a:t>
            </a:r>
            <a:r>
              <a:rPr sz="9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structure: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876923" y="26479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876923" y="28289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876923" y="3019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876923" y="3476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5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5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876923" y="36671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876923" y="38480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859462" y="2333307"/>
            <a:ext cx="1938655" cy="160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Patient</a:t>
            </a:r>
            <a:r>
              <a:rPr sz="9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static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data</a:t>
            </a:r>
            <a:r>
              <a:rPr sz="95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00002E"/>
                </a:solidFill>
                <a:latin typeface="Verdana"/>
                <a:cs typeface="Verdana"/>
              </a:rPr>
              <a:t>extracted:</a:t>
            </a:r>
            <a:endParaRPr sz="950">
              <a:latin typeface="Verdana"/>
              <a:cs typeface="Verdana"/>
            </a:endParaRPr>
          </a:p>
          <a:p>
            <a:pPr marL="205740" marR="5080">
              <a:lnSpc>
                <a:spcPct val="128299"/>
              </a:lnSpc>
              <a:spcBef>
                <a:spcPts val="414"/>
              </a:spcBef>
            </a:pPr>
            <a:r>
              <a:rPr sz="950" spc="-105" dirty="0">
                <a:solidFill>
                  <a:srgbClr val="00002E"/>
                </a:solidFill>
                <a:latin typeface="Verdana"/>
                <a:cs typeface="Verdana"/>
              </a:rPr>
              <a:t>Gender</a:t>
            </a:r>
            <a:r>
              <a:rPr sz="950" spc="-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20" dirty="0">
                <a:solidFill>
                  <a:srgbClr val="00002E"/>
                </a:solidFill>
                <a:latin typeface="Verdana"/>
                <a:cs typeface="Verdana"/>
              </a:rPr>
              <a:t>(GENDER//M,</a:t>
            </a: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5" dirty="0">
                <a:solidFill>
                  <a:srgbClr val="00002E"/>
                </a:solidFill>
                <a:latin typeface="Verdana"/>
                <a:cs typeface="Verdana"/>
              </a:rPr>
              <a:t>GENDER//F) </a:t>
            </a:r>
            <a:r>
              <a:rPr sz="950" spc="-70" dirty="0">
                <a:solidFill>
                  <a:srgbClr val="00002E"/>
                </a:solidFill>
                <a:latin typeface="Verdana"/>
                <a:cs typeface="Verdana"/>
              </a:rPr>
              <a:t>Birth</a:t>
            </a:r>
            <a:r>
              <a:rPr sz="95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10" dirty="0">
                <a:solidFill>
                  <a:srgbClr val="00002E"/>
                </a:solidFill>
                <a:latin typeface="Verdana"/>
                <a:cs typeface="Verdana"/>
              </a:rPr>
              <a:t>year</a:t>
            </a:r>
            <a:r>
              <a:rPr sz="950" spc="-50" dirty="0">
                <a:solidFill>
                  <a:srgbClr val="00002E"/>
                </a:solidFill>
                <a:latin typeface="Verdana"/>
                <a:cs typeface="Verdana"/>
              </a:rPr>
              <a:t> (MEDS_BIRTH) </a:t>
            </a: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Demographics</a:t>
            </a:r>
            <a:r>
              <a:rPr sz="950" spc="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00002E"/>
                </a:solidFill>
                <a:latin typeface="Verdana"/>
                <a:cs typeface="Verdana"/>
              </a:rPr>
              <a:t>metadata</a:t>
            </a: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950" spc="-105" dirty="0">
                <a:solidFill>
                  <a:srgbClr val="00002E"/>
                </a:solidFill>
                <a:latin typeface="Verdana"/>
                <a:cs typeface="Verdana"/>
              </a:rPr>
              <a:t>Temporal</a:t>
            </a:r>
            <a:r>
              <a:rPr sz="9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00002E"/>
                </a:solidFill>
                <a:latin typeface="Verdana"/>
                <a:cs typeface="Verdana"/>
              </a:rPr>
              <a:t>statistics</a:t>
            </a:r>
            <a:r>
              <a:rPr sz="9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00002E"/>
                </a:solidFill>
                <a:latin typeface="Verdana"/>
                <a:cs typeface="Verdana"/>
              </a:rPr>
              <a:t>calculated:</a:t>
            </a:r>
            <a:endParaRPr sz="950">
              <a:latin typeface="Verdana"/>
              <a:cs typeface="Verdana"/>
            </a:endParaRPr>
          </a:p>
          <a:p>
            <a:pPr marL="205740" marR="146050">
              <a:lnSpc>
                <a:spcPct val="128299"/>
              </a:lnSpc>
              <a:spcBef>
                <a:spcPts val="335"/>
              </a:spcBef>
            </a:pPr>
            <a:r>
              <a:rPr sz="950" spc="-90" dirty="0">
                <a:solidFill>
                  <a:srgbClr val="00002E"/>
                </a:solidFill>
                <a:latin typeface="Verdana"/>
                <a:cs typeface="Verdana"/>
              </a:rPr>
              <a:t>Time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0" dirty="0">
                <a:solidFill>
                  <a:srgbClr val="00002E"/>
                </a:solidFill>
                <a:latin typeface="Verdana"/>
                <a:cs typeface="Verdana"/>
              </a:rPr>
              <a:t>intervals</a:t>
            </a:r>
            <a:r>
              <a:rPr sz="9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90" dirty="0">
                <a:solidFill>
                  <a:srgbClr val="00002E"/>
                </a:solidFill>
                <a:latin typeface="Verdana"/>
                <a:cs typeface="Verdana"/>
              </a:rPr>
              <a:t>between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80" dirty="0">
                <a:solidFill>
                  <a:srgbClr val="00002E"/>
                </a:solidFill>
                <a:latin typeface="Verdana"/>
                <a:cs typeface="Verdana"/>
              </a:rPr>
              <a:t>events </a:t>
            </a:r>
            <a:r>
              <a:rPr sz="950" spc="-95" dirty="0">
                <a:solidFill>
                  <a:srgbClr val="00002E"/>
                </a:solidFill>
                <a:latin typeface="Verdana"/>
                <a:cs typeface="Verdana"/>
              </a:rPr>
              <a:t>Event</a:t>
            </a:r>
            <a:r>
              <a:rPr sz="9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0" dirty="0">
                <a:solidFill>
                  <a:srgbClr val="00002E"/>
                </a:solidFill>
                <a:latin typeface="Verdana"/>
                <a:cs typeface="Verdana"/>
              </a:rPr>
              <a:t>sequence</a:t>
            </a:r>
            <a:r>
              <a:rPr sz="9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00002E"/>
                </a:solidFill>
                <a:latin typeface="Verdana"/>
                <a:cs typeface="Verdana"/>
              </a:rPr>
              <a:t>patterns </a:t>
            </a:r>
            <a:r>
              <a:rPr sz="950" spc="-60" dirty="0">
                <a:solidFill>
                  <a:srgbClr val="00002E"/>
                </a:solidFill>
                <a:latin typeface="Verdana"/>
                <a:cs typeface="Verdana"/>
              </a:rPr>
              <a:t>Clinical</a:t>
            </a:r>
            <a:r>
              <a:rPr sz="95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70" dirty="0">
                <a:solidFill>
                  <a:srgbClr val="00002E"/>
                </a:solidFill>
                <a:latin typeface="Verdana"/>
                <a:cs typeface="Verdana"/>
              </a:rPr>
              <a:t>timeline</a:t>
            </a:r>
            <a:r>
              <a:rPr sz="95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00002E"/>
                </a:solidFill>
                <a:latin typeface="Verdana"/>
                <a:cs typeface="Verdana"/>
              </a:rPr>
              <a:t>structure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876924" y="4038599"/>
            <a:ext cx="4914900" cy="561975"/>
            <a:chOff x="5876924" y="4038599"/>
            <a:chExt cx="4914900" cy="561975"/>
          </a:xfrm>
        </p:grpSpPr>
        <p:sp>
          <p:nvSpPr>
            <p:cNvPr id="50" name="object 50"/>
            <p:cNvSpPr/>
            <p:nvPr/>
          </p:nvSpPr>
          <p:spPr>
            <a:xfrm>
              <a:off x="5876924" y="4038599"/>
              <a:ext cx="4914900" cy="561975"/>
            </a:xfrm>
            <a:custGeom>
              <a:avLst/>
              <a:gdLst/>
              <a:ahLst/>
              <a:cxnLst/>
              <a:rect l="l" t="t" r="r" b="b"/>
              <a:pathLst>
                <a:path w="4914900" h="561975">
                  <a:moveTo>
                    <a:pt x="4763621" y="561974"/>
                  </a:moveTo>
                  <a:lnTo>
                    <a:pt x="151278" y="561974"/>
                  </a:lnTo>
                  <a:lnTo>
                    <a:pt x="143846" y="561793"/>
                  </a:lnTo>
                  <a:lnTo>
                    <a:pt x="100321" y="553135"/>
                  </a:lnTo>
                  <a:lnTo>
                    <a:pt x="61153" y="532199"/>
                  </a:lnTo>
                  <a:lnTo>
                    <a:pt x="29774" y="500820"/>
                  </a:lnTo>
                  <a:lnTo>
                    <a:pt x="8838" y="461651"/>
                  </a:lnTo>
                  <a:lnTo>
                    <a:pt x="181" y="418128"/>
                  </a:lnTo>
                  <a:lnTo>
                    <a:pt x="0" y="410696"/>
                  </a:lnTo>
                  <a:lnTo>
                    <a:pt x="0" y="151278"/>
                  </a:lnTo>
                  <a:lnTo>
                    <a:pt x="6511" y="107363"/>
                  </a:lnTo>
                  <a:lnTo>
                    <a:pt x="25494" y="67231"/>
                  </a:lnTo>
                  <a:lnTo>
                    <a:pt x="55306" y="34336"/>
                  </a:lnTo>
                  <a:lnTo>
                    <a:pt x="93386" y="11514"/>
                  </a:lnTo>
                  <a:lnTo>
                    <a:pt x="136450" y="726"/>
                  </a:lnTo>
                  <a:lnTo>
                    <a:pt x="151278" y="0"/>
                  </a:lnTo>
                  <a:lnTo>
                    <a:pt x="4763621" y="0"/>
                  </a:lnTo>
                  <a:lnTo>
                    <a:pt x="4807534" y="6512"/>
                  </a:lnTo>
                  <a:lnTo>
                    <a:pt x="4847665" y="25494"/>
                  </a:lnTo>
                  <a:lnTo>
                    <a:pt x="4880561" y="55306"/>
                  </a:lnTo>
                  <a:lnTo>
                    <a:pt x="4903384" y="93386"/>
                  </a:lnTo>
                  <a:lnTo>
                    <a:pt x="4914172" y="136450"/>
                  </a:lnTo>
                  <a:lnTo>
                    <a:pt x="4914899" y="151278"/>
                  </a:lnTo>
                  <a:lnTo>
                    <a:pt x="4914899" y="410696"/>
                  </a:lnTo>
                  <a:lnTo>
                    <a:pt x="4908386" y="454610"/>
                  </a:lnTo>
                  <a:lnTo>
                    <a:pt x="4889403" y="494741"/>
                  </a:lnTo>
                  <a:lnTo>
                    <a:pt x="4859591" y="527637"/>
                  </a:lnTo>
                  <a:lnTo>
                    <a:pt x="4821512" y="550458"/>
                  </a:lnTo>
                  <a:lnTo>
                    <a:pt x="4778449" y="561248"/>
                  </a:lnTo>
                  <a:lnTo>
                    <a:pt x="4763621" y="561974"/>
                  </a:lnTo>
                  <a:close/>
                </a:path>
              </a:pathLst>
            </a:custGeom>
            <a:solidFill>
              <a:srgbClr val="B6C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3893" y="4208087"/>
              <a:ext cx="105872" cy="105872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6252666" y="4133532"/>
            <a:ext cx="4410710" cy="3232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40"/>
              </a:spcBef>
            </a:pPr>
            <a:r>
              <a:rPr sz="950" b="1" spc="-100" dirty="0">
                <a:latin typeface="Tahoma"/>
                <a:cs typeface="Tahoma"/>
              </a:rPr>
              <a:t>Result:</a:t>
            </a:r>
            <a:r>
              <a:rPr sz="950" b="1" spc="25" dirty="0">
                <a:latin typeface="Tahoma"/>
                <a:cs typeface="Tahoma"/>
              </a:rPr>
              <a:t> </a:t>
            </a:r>
            <a:r>
              <a:rPr sz="950" spc="-75" dirty="0">
                <a:latin typeface="Verdana"/>
                <a:cs typeface="Verdana"/>
              </a:rPr>
              <a:t>Patient</a:t>
            </a:r>
            <a:r>
              <a:rPr sz="950" spc="-35" dirty="0">
                <a:latin typeface="Verdana"/>
                <a:cs typeface="Verdana"/>
              </a:rPr>
              <a:t> </a:t>
            </a:r>
            <a:r>
              <a:rPr sz="950" spc="-75" dirty="0">
                <a:latin typeface="Verdana"/>
                <a:cs typeface="Verdana"/>
              </a:rPr>
              <a:t>timelines</a:t>
            </a:r>
            <a:r>
              <a:rPr sz="950" spc="-35" dirty="0">
                <a:latin typeface="Verdana"/>
                <a:cs typeface="Verdana"/>
              </a:rPr>
              <a:t> </a:t>
            </a:r>
            <a:r>
              <a:rPr sz="950" spc="-90" dirty="0">
                <a:latin typeface="Verdana"/>
                <a:cs typeface="Verdana"/>
              </a:rPr>
              <a:t>converted</a:t>
            </a:r>
            <a:r>
              <a:rPr sz="950" spc="-30" dirty="0">
                <a:latin typeface="Verdana"/>
                <a:cs typeface="Verdana"/>
              </a:rPr>
              <a:t> </a:t>
            </a:r>
            <a:r>
              <a:rPr sz="950" spc="-75" dirty="0">
                <a:latin typeface="Verdana"/>
                <a:cs typeface="Verdana"/>
              </a:rPr>
              <a:t>to</a:t>
            </a:r>
            <a:r>
              <a:rPr sz="950" spc="-35" dirty="0">
                <a:latin typeface="Verdana"/>
                <a:cs typeface="Verdana"/>
              </a:rPr>
              <a:t> </a:t>
            </a:r>
            <a:r>
              <a:rPr sz="950" spc="-80" dirty="0">
                <a:latin typeface="Verdana"/>
                <a:cs typeface="Verdana"/>
              </a:rPr>
              <a:t>integer</a:t>
            </a:r>
            <a:r>
              <a:rPr sz="950" spc="-30" dirty="0">
                <a:latin typeface="Verdana"/>
                <a:cs typeface="Verdana"/>
              </a:rPr>
              <a:t> </a:t>
            </a:r>
            <a:r>
              <a:rPr sz="950" spc="-100" dirty="0">
                <a:latin typeface="Verdana"/>
                <a:cs typeface="Verdana"/>
              </a:rPr>
              <a:t>sequences</a:t>
            </a:r>
            <a:r>
              <a:rPr sz="950" spc="-35" dirty="0">
                <a:latin typeface="Verdana"/>
                <a:cs typeface="Verdana"/>
              </a:rPr>
              <a:t> </a:t>
            </a:r>
            <a:r>
              <a:rPr sz="950" spc="-105" dirty="0">
                <a:latin typeface="Verdana"/>
                <a:cs typeface="Verdana"/>
              </a:rPr>
              <a:t>ready</a:t>
            </a:r>
            <a:r>
              <a:rPr sz="950" spc="-70" dirty="0">
                <a:latin typeface="Verdana"/>
                <a:cs typeface="Verdana"/>
              </a:rPr>
              <a:t> </a:t>
            </a:r>
            <a:r>
              <a:rPr sz="950" spc="-75" dirty="0">
                <a:latin typeface="Verdana"/>
                <a:cs typeface="Verdana"/>
              </a:rPr>
              <a:t>for</a:t>
            </a:r>
            <a:r>
              <a:rPr sz="950" spc="-35" dirty="0">
                <a:latin typeface="Verdana"/>
                <a:cs typeface="Verdana"/>
              </a:rPr>
              <a:t> </a:t>
            </a:r>
            <a:r>
              <a:rPr sz="950" spc="-95" dirty="0">
                <a:latin typeface="Verdana"/>
                <a:cs typeface="Verdana"/>
              </a:rPr>
              <a:t>transformer</a:t>
            </a:r>
            <a:r>
              <a:rPr sz="950" spc="-30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model input</a:t>
            </a:r>
            <a:endParaRPr sz="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846" y="676529"/>
            <a:ext cx="400177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0" dirty="0"/>
              <a:t>Adaptive</a:t>
            </a:r>
            <a:r>
              <a:rPr sz="2600" spc="-135" dirty="0"/>
              <a:t> </a:t>
            </a:r>
            <a:r>
              <a:rPr sz="2600" spc="-10" dirty="0"/>
              <a:t>Problem-Solving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641846" y="1323466"/>
            <a:ext cx="72320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Systematic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debugging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enabled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pipeline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completion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despite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95" dirty="0">
                <a:solidFill>
                  <a:srgbClr val="00002E"/>
                </a:solidFill>
                <a:latin typeface="Verdana"/>
                <a:cs typeface="Verdana"/>
              </a:rPr>
              <a:t>20+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technical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hurdles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through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dataset-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specific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modifications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7224" y="1647824"/>
            <a:ext cx="3305175" cy="2085975"/>
            <a:chOff x="657224" y="1647824"/>
            <a:chExt cx="3305175" cy="2085975"/>
          </a:xfrm>
        </p:grpSpPr>
        <p:sp>
          <p:nvSpPr>
            <p:cNvPr id="5" name="object 5"/>
            <p:cNvSpPr/>
            <p:nvPr/>
          </p:nvSpPr>
          <p:spPr>
            <a:xfrm>
              <a:off x="657224" y="1657349"/>
              <a:ext cx="3295650" cy="2066925"/>
            </a:xfrm>
            <a:custGeom>
              <a:avLst/>
              <a:gdLst/>
              <a:ahLst/>
              <a:cxnLst/>
              <a:rect l="l" t="t" r="r" b="b"/>
              <a:pathLst>
                <a:path w="3295650" h="2066925">
                  <a:moveTo>
                    <a:pt x="3129846" y="2066924"/>
                  </a:moveTo>
                  <a:lnTo>
                    <a:pt x="71196" y="2066924"/>
                  </a:lnTo>
                  <a:lnTo>
                    <a:pt x="66241" y="2066497"/>
                  </a:lnTo>
                  <a:lnTo>
                    <a:pt x="29705" y="2053255"/>
                  </a:lnTo>
                  <a:lnTo>
                    <a:pt x="3885" y="2021720"/>
                  </a:lnTo>
                  <a:lnTo>
                    <a:pt x="0" y="2004627"/>
                  </a:lnTo>
                  <a:lnTo>
                    <a:pt x="0" y="2000249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3129846" y="0"/>
                  </a:lnTo>
                  <a:lnTo>
                    <a:pt x="3170143" y="4970"/>
                  </a:lnTo>
                  <a:lnTo>
                    <a:pt x="3208006" y="19575"/>
                  </a:lnTo>
                  <a:lnTo>
                    <a:pt x="3241186" y="42943"/>
                  </a:lnTo>
                  <a:lnTo>
                    <a:pt x="3267706" y="73687"/>
                  </a:lnTo>
                  <a:lnTo>
                    <a:pt x="3285961" y="109954"/>
                  </a:lnTo>
                  <a:lnTo>
                    <a:pt x="3294853" y="149551"/>
                  </a:lnTo>
                  <a:lnTo>
                    <a:pt x="3295649" y="165802"/>
                  </a:lnTo>
                  <a:lnTo>
                    <a:pt x="3295649" y="1901121"/>
                  </a:lnTo>
                  <a:lnTo>
                    <a:pt x="3290679" y="1941418"/>
                  </a:lnTo>
                  <a:lnTo>
                    <a:pt x="3276073" y="1979281"/>
                  </a:lnTo>
                  <a:lnTo>
                    <a:pt x="3252705" y="2012461"/>
                  </a:lnTo>
                  <a:lnTo>
                    <a:pt x="3221961" y="2038981"/>
                  </a:lnTo>
                  <a:lnTo>
                    <a:pt x="3185694" y="2057236"/>
                  </a:lnTo>
                  <a:lnTo>
                    <a:pt x="3146098" y="2066128"/>
                  </a:lnTo>
                  <a:lnTo>
                    <a:pt x="3137992" y="2066725"/>
                  </a:lnTo>
                  <a:lnTo>
                    <a:pt x="3129846" y="2066924"/>
                  </a:lnTo>
                  <a:close/>
                </a:path>
              </a:pathLst>
            </a:custGeom>
            <a:solidFill>
              <a:srgbClr val="F2F2FF">
                <a:alpha val="7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8152" y="1647824"/>
              <a:ext cx="3304540" cy="2085975"/>
            </a:xfrm>
            <a:custGeom>
              <a:avLst/>
              <a:gdLst/>
              <a:ahLst/>
              <a:cxnLst/>
              <a:rect l="l" t="t" r="r" b="b"/>
              <a:pathLst>
                <a:path w="3304540" h="2085975">
                  <a:moveTo>
                    <a:pt x="3304235" y="175336"/>
                  </a:moveTo>
                  <a:lnTo>
                    <a:pt x="3296729" y="124510"/>
                  </a:lnTo>
                  <a:lnTo>
                    <a:pt x="3274720" y="77914"/>
                  </a:lnTo>
                  <a:lnTo>
                    <a:pt x="3253333" y="51866"/>
                  </a:lnTo>
                  <a:lnTo>
                    <a:pt x="3211652" y="20726"/>
                  </a:lnTo>
                  <a:lnTo>
                    <a:pt x="3208096" y="19050"/>
                  </a:lnTo>
                  <a:lnTo>
                    <a:pt x="3196005" y="13347"/>
                  </a:lnTo>
                  <a:lnTo>
                    <a:pt x="3179737" y="7518"/>
                  </a:lnTo>
                  <a:lnTo>
                    <a:pt x="3163125" y="3340"/>
                  </a:lnTo>
                  <a:lnTo>
                    <a:pt x="3146183" y="838"/>
                  </a:lnTo>
                  <a:lnTo>
                    <a:pt x="3128911" y="0"/>
                  </a:lnTo>
                  <a:lnTo>
                    <a:pt x="75260" y="0"/>
                  </a:lnTo>
                  <a:lnTo>
                    <a:pt x="32918" y="12839"/>
                  </a:lnTo>
                  <a:lnTo>
                    <a:pt x="4864" y="47040"/>
                  </a:lnTo>
                  <a:lnTo>
                    <a:pt x="4762" y="47332"/>
                  </a:lnTo>
                  <a:lnTo>
                    <a:pt x="2324" y="54114"/>
                  </a:lnTo>
                  <a:lnTo>
                    <a:pt x="2235" y="54470"/>
                  </a:lnTo>
                  <a:lnTo>
                    <a:pt x="520" y="61341"/>
                  </a:lnTo>
                  <a:lnTo>
                    <a:pt x="76" y="64833"/>
                  </a:lnTo>
                  <a:lnTo>
                    <a:pt x="1003" y="61341"/>
                  </a:lnTo>
                  <a:lnTo>
                    <a:pt x="8737" y="47332"/>
                  </a:lnTo>
                  <a:lnTo>
                    <a:pt x="46101" y="23406"/>
                  </a:lnTo>
                  <a:lnTo>
                    <a:pt x="75260" y="19050"/>
                  </a:lnTo>
                  <a:lnTo>
                    <a:pt x="3128911" y="19050"/>
                  </a:lnTo>
                  <a:lnTo>
                    <a:pt x="3174390" y="25806"/>
                  </a:lnTo>
                  <a:lnTo>
                    <a:pt x="3215754" y="45364"/>
                  </a:lnTo>
                  <a:lnTo>
                    <a:pt x="3249777" y="76238"/>
                  </a:lnTo>
                  <a:lnTo>
                    <a:pt x="3273298" y="115531"/>
                  </a:lnTo>
                  <a:lnTo>
                    <a:pt x="3284448" y="159943"/>
                  </a:lnTo>
                  <a:lnTo>
                    <a:pt x="3285185" y="175336"/>
                  </a:lnTo>
                  <a:lnTo>
                    <a:pt x="3285185" y="1910651"/>
                  </a:lnTo>
                  <a:lnTo>
                    <a:pt x="3278505" y="1955952"/>
                  </a:lnTo>
                  <a:lnTo>
                    <a:pt x="3258883" y="1997494"/>
                  </a:lnTo>
                  <a:lnTo>
                    <a:pt x="3239859" y="2020658"/>
                  </a:lnTo>
                  <a:lnTo>
                    <a:pt x="3239414" y="2021154"/>
                  </a:lnTo>
                  <a:lnTo>
                    <a:pt x="3202660" y="2048459"/>
                  </a:lnTo>
                  <a:lnTo>
                    <a:pt x="3159404" y="2063953"/>
                  </a:lnTo>
                  <a:lnTo>
                    <a:pt x="3128911" y="2066925"/>
                  </a:lnTo>
                  <a:lnTo>
                    <a:pt x="75260" y="2066925"/>
                  </a:lnTo>
                  <a:lnTo>
                    <a:pt x="32918" y="2057311"/>
                  </a:lnTo>
                  <a:lnTo>
                    <a:pt x="1003" y="2024646"/>
                  </a:lnTo>
                  <a:lnTo>
                    <a:pt x="0" y="2021154"/>
                  </a:lnTo>
                  <a:lnTo>
                    <a:pt x="520" y="2024646"/>
                  </a:lnTo>
                  <a:lnTo>
                    <a:pt x="21386" y="2063661"/>
                  </a:lnTo>
                  <a:lnTo>
                    <a:pt x="60401" y="2084527"/>
                  </a:lnTo>
                  <a:lnTo>
                    <a:pt x="75260" y="2085975"/>
                  </a:lnTo>
                  <a:lnTo>
                    <a:pt x="3128911" y="2085975"/>
                  </a:lnTo>
                  <a:lnTo>
                    <a:pt x="3146183" y="2085149"/>
                  </a:lnTo>
                  <a:lnTo>
                    <a:pt x="3162630" y="2082723"/>
                  </a:lnTo>
                  <a:lnTo>
                    <a:pt x="3162833" y="2082723"/>
                  </a:lnTo>
                  <a:lnTo>
                    <a:pt x="3179737" y="2078469"/>
                  </a:lnTo>
                  <a:lnTo>
                    <a:pt x="3196005" y="2072640"/>
                  </a:lnTo>
                  <a:lnTo>
                    <a:pt x="3208096" y="2066925"/>
                  </a:lnTo>
                  <a:lnTo>
                    <a:pt x="3211652" y="2065248"/>
                  </a:lnTo>
                  <a:lnTo>
                    <a:pt x="3252889" y="2034628"/>
                  </a:lnTo>
                  <a:lnTo>
                    <a:pt x="3283508" y="1993379"/>
                  </a:lnTo>
                  <a:lnTo>
                    <a:pt x="3300907" y="1944865"/>
                  </a:lnTo>
                  <a:lnTo>
                    <a:pt x="3304235" y="1910651"/>
                  </a:lnTo>
                  <a:lnTo>
                    <a:pt x="3304235" y="175336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38174" y="1647824"/>
            <a:ext cx="76200" cy="2085975"/>
          </a:xfrm>
          <a:custGeom>
            <a:avLst/>
            <a:gdLst/>
            <a:ahLst/>
            <a:cxnLst/>
            <a:rect l="l" t="t" r="r" b="b"/>
            <a:pathLst>
              <a:path w="76200" h="2085975">
                <a:moveTo>
                  <a:pt x="76199" y="2085974"/>
                </a:moveTo>
                <a:lnTo>
                  <a:pt x="38025" y="2075912"/>
                </a:lnTo>
                <a:lnTo>
                  <a:pt x="10062" y="2047948"/>
                </a:lnTo>
                <a:lnTo>
                  <a:pt x="0" y="2014778"/>
                </a:lnTo>
                <a:lnTo>
                  <a:pt x="0" y="2009774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76199" y="0"/>
                </a:lnTo>
                <a:lnTo>
                  <a:pt x="76199" y="2085974"/>
                </a:lnTo>
                <a:close/>
              </a:path>
            </a:pathLst>
          </a:custGeom>
          <a:solidFill>
            <a:srgbClr val="2D4D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8242" y="1685672"/>
            <a:ext cx="2799080" cy="167957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300" b="1" spc="-25" dirty="0">
                <a:solidFill>
                  <a:srgbClr val="00002E"/>
                </a:solidFill>
                <a:latin typeface="Trebuchet MS"/>
                <a:cs typeface="Trebuchet MS"/>
              </a:rPr>
              <a:t>Configuration</a:t>
            </a:r>
            <a:r>
              <a:rPr sz="1300" b="1" spc="1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Mismatch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ct val="113599"/>
              </a:lnSpc>
              <a:spcBef>
                <a:spcPts val="484"/>
              </a:spcBef>
            </a:pPr>
            <a:r>
              <a:rPr sz="1100" b="1" spc="-110" dirty="0">
                <a:solidFill>
                  <a:srgbClr val="00002E"/>
                </a:solidFill>
                <a:latin typeface="Tahoma"/>
                <a:cs typeface="Tahoma"/>
              </a:rPr>
              <a:t>Problem:</a:t>
            </a:r>
            <a:r>
              <a:rPr sz="1100" b="1" spc="1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MEDS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extraction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expected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11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tables,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sample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had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only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5</a:t>
            </a:r>
            <a:endParaRPr sz="1100">
              <a:latin typeface="Verdana"/>
              <a:cs typeface="Verdana"/>
            </a:endParaRPr>
          </a:p>
          <a:p>
            <a:pPr marL="12700" marR="205104">
              <a:lnSpc>
                <a:spcPct val="113599"/>
              </a:lnSpc>
              <a:spcBef>
                <a:spcPts val="600"/>
              </a:spcBef>
            </a:pPr>
            <a:r>
              <a:rPr sz="1100" b="1" spc="-85" dirty="0">
                <a:solidFill>
                  <a:srgbClr val="00002E"/>
                </a:solidFill>
                <a:latin typeface="Tahoma"/>
                <a:cs typeface="Tahoma"/>
              </a:rPr>
              <a:t>Solution:</a:t>
            </a:r>
            <a:r>
              <a:rPr sz="1100" b="1" spc="1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Created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simplified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event_configs-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sample.yaml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available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tables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only</a:t>
            </a:r>
            <a:endParaRPr sz="1100">
              <a:latin typeface="Verdana"/>
              <a:cs typeface="Verdana"/>
            </a:endParaRPr>
          </a:p>
          <a:p>
            <a:pPr marL="12700" marR="531495">
              <a:lnSpc>
                <a:spcPct val="119300"/>
              </a:lnSpc>
              <a:spcBef>
                <a:spcPts val="450"/>
              </a:spcBef>
            </a:pPr>
            <a:r>
              <a:rPr sz="1100" b="1" spc="-130" dirty="0">
                <a:solidFill>
                  <a:srgbClr val="00002E"/>
                </a:solidFill>
                <a:latin typeface="Tahoma"/>
                <a:cs typeface="Tahoma"/>
              </a:rPr>
              <a:t>Impact:</a:t>
            </a:r>
            <a:r>
              <a:rPr sz="1100" b="1" spc="2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Successful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extraction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without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unnecessary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dependencies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48124" y="1647824"/>
            <a:ext cx="3314700" cy="2085975"/>
            <a:chOff x="4048124" y="1647824"/>
            <a:chExt cx="3314700" cy="2085975"/>
          </a:xfrm>
        </p:grpSpPr>
        <p:sp>
          <p:nvSpPr>
            <p:cNvPr id="10" name="object 10"/>
            <p:cNvSpPr/>
            <p:nvPr/>
          </p:nvSpPr>
          <p:spPr>
            <a:xfrm>
              <a:off x="4067174" y="1657349"/>
              <a:ext cx="3286125" cy="2066925"/>
            </a:xfrm>
            <a:custGeom>
              <a:avLst/>
              <a:gdLst/>
              <a:ahLst/>
              <a:cxnLst/>
              <a:rect l="l" t="t" r="r" b="b"/>
              <a:pathLst>
                <a:path w="3286125" h="2066925">
                  <a:moveTo>
                    <a:pt x="3120322" y="2066924"/>
                  </a:moveTo>
                  <a:lnTo>
                    <a:pt x="71196" y="2066924"/>
                  </a:lnTo>
                  <a:lnTo>
                    <a:pt x="66241" y="2066497"/>
                  </a:lnTo>
                  <a:lnTo>
                    <a:pt x="29705" y="2053255"/>
                  </a:lnTo>
                  <a:lnTo>
                    <a:pt x="3885" y="2021720"/>
                  </a:lnTo>
                  <a:lnTo>
                    <a:pt x="0" y="2004627"/>
                  </a:lnTo>
                  <a:lnTo>
                    <a:pt x="0" y="2000249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3120322" y="0"/>
                  </a:lnTo>
                  <a:lnTo>
                    <a:pt x="3160617" y="4970"/>
                  </a:lnTo>
                  <a:lnTo>
                    <a:pt x="3198481" y="19575"/>
                  </a:lnTo>
                  <a:lnTo>
                    <a:pt x="3231661" y="42943"/>
                  </a:lnTo>
                  <a:lnTo>
                    <a:pt x="3258181" y="73687"/>
                  </a:lnTo>
                  <a:lnTo>
                    <a:pt x="3276437" y="109954"/>
                  </a:lnTo>
                  <a:lnTo>
                    <a:pt x="3285328" y="149551"/>
                  </a:lnTo>
                  <a:lnTo>
                    <a:pt x="3286125" y="165802"/>
                  </a:lnTo>
                  <a:lnTo>
                    <a:pt x="3286125" y="1901121"/>
                  </a:lnTo>
                  <a:lnTo>
                    <a:pt x="3281154" y="1941418"/>
                  </a:lnTo>
                  <a:lnTo>
                    <a:pt x="3266548" y="1979281"/>
                  </a:lnTo>
                  <a:lnTo>
                    <a:pt x="3243180" y="2012461"/>
                  </a:lnTo>
                  <a:lnTo>
                    <a:pt x="3212435" y="2038981"/>
                  </a:lnTo>
                  <a:lnTo>
                    <a:pt x="3176169" y="2057236"/>
                  </a:lnTo>
                  <a:lnTo>
                    <a:pt x="3136573" y="2066128"/>
                  </a:lnTo>
                  <a:lnTo>
                    <a:pt x="3128467" y="2066725"/>
                  </a:lnTo>
                  <a:lnTo>
                    <a:pt x="3120322" y="2066924"/>
                  </a:lnTo>
                  <a:close/>
                </a:path>
              </a:pathLst>
            </a:custGeom>
            <a:solidFill>
              <a:srgbClr val="F2F2FF">
                <a:alpha val="7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48112" y="1647824"/>
              <a:ext cx="3314700" cy="2085975"/>
            </a:xfrm>
            <a:custGeom>
              <a:avLst/>
              <a:gdLst/>
              <a:ahLst/>
              <a:cxnLst/>
              <a:rect l="l" t="t" r="r" b="b"/>
              <a:pathLst>
                <a:path w="3314700" h="2085975">
                  <a:moveTo>
                    <a:pt x="3314700" y="175336"/>
                  </a:moveTo>
                  <a:lnTo>
                    <a:pt x="3307194" y="124510"/>
                  </a:lnTo>
                  <a:lnTo>
                    <a:pt x="3295650" y="96151"/>
                  </a:lnTo>
                  <a:lnTo>
                    <a:pt x="3295650" y="175336"/>
                  </a:lnTo>
                  <a:lnTo>
                    <a:pt x="3295650" y="1910651"/>
                  </a:lnTo>
                  <a:lnTo>
                    <a:pt x="3288969" y="1955952"/>
                  </a:lnTo>
                  <a:lnTo>
                    <a:pt x="3269348" y="1997494"/>
                  </a:lnTo>
                  <a:lnTo>
                    <a:pt x="3250323" y="2020658"/>
                  </a:lnTo>
                  <a:lnTo>
                    <a:pt x="3249879" y="2021154"/>
                  </a:lnTo>
                  <a:lnTo>
                    <a:pt x="3213125" y="2048459"/>
                  </a:lnTo>
                  <a:lnTo>
                    <a:pt x="3169869" y="2063953"/>
                  </a:lnTo>
                  <a:lnTo>
                    <a:pt x="3139376" y="2066925"/>
                  </a:lnTo>
                  <a:lnTo>
                    <a:pt x="95250" y="2066925"/>
                  </a:lnTo>
                  <a:lnTo>
                    <a:pt x="87744" y="2066658"/>
                  </a:lnTo>
                  <a:lnTo>
                    <a:pt x="80391" y="2065845"/>
                  </a:lnTo>
                  <a:lnTo>
                    <a:pt x="76200" y="2065058"/>
                  </a:lnTo>
                  <a:lnTo>
                    <a:pt x="76200" y="20942"/>
                  </a:lnTo>
                  <a:lnTo>
                    <a:pt x="80391" y="20142"/>
                  </a:lnTo>
                  <a:lnTo>
                    <a:pt x="87744" y="19329"/>
                  </a:lnTo>
                  <a:lnTo>
                    <a:pt x="95250" y="19050"/>
                  </a:lnTo>
                  <a:lnTo>
                    <a:pt x="3139376" y="19050"/>
                  </a:lnTo>
                  <a:lnTo>
                    <a:pt x="3184855" y="25806"/>
                  </a:lnTo>
                  <a:lnTo>
                    <a:pt x="3226219" y="45364"/>
                  </a:lnTo>
                  <a:lnTo>
                    <a:pt x="3260242" y="76238"/>
                  </a:lnTo>
                  <a:lnTo>
                    <a:pt x="3283762" y="115531"/>
                  </a:lnTo>
                  <a:lnTo>
                    <a:pt x="3294913" y="159943"/>
                  </a:lnTo>
                  <a:lnTo>
                    <a:pt x="3295650" y="175336"/>
                  </a:lnTo>
                  <a:lnTo>
                    <a:pt x="3295650" y="96151"/>
                  </a:lnTo>
                  <a:lnTo>
                    <a:pt x="3293973" y="92595"/>
                  </a:lnTo>
                  <a:lnTo>
                    <a:pt x="3285185" y="77914"/>
                  </a:lnTo>
                  <a:lnTo>
                    <a:pt x="3274974" y="64160"/>
                  </a:lnTo>
                  <a:lnTo>
                    <a:pt x="3263798" y="51866"/>
                  </a:lnTo>
                  <a:lnTo>
                    <a:pt x="3222104" y="20726"/>
                  </a:lnTo>
                  <a:lnTo>
                    <a:pt x="3173590" y="3340"/>
                  </a:lnTo>
                  <a:lnTo>
                    <a:pt x="3139376" y="0"/>
                  </a:lnTo>
                  <a:lnTo>
                    <a:pt x="95250" y="0"/>
                  </a:lnTo>
                  <a:lnTo>
                    <a:pt x="87744" y="368"/>
                  </a:lnTo>
                  <a:lnTo>
                    <a:pt x="80391" y="1460"/>
                  </a:lnTo>
                  <a:lnTo>
                    <a:pt x="76200" y="2527"/>
                  </a:lnTo>
                  <a:lnTo>
                    <a:pt x="76200" y="0"/>
                  </a:lnTo>
                  <a:lnTo>
                    <a:pt x="71196" y="0"/>
                  </a:lnTo>
                  <a:lnTo>
                    <a:pt x="66243" y="495"/>
                  </a:lnTo>
                  <a:lnTo>
                    <a:pt x="29705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0" y="2009775"/>
                  </a:lnTo>
                  <a:lnTo>
                    <a:pt x="0" y="2014778"/>
                  </a:lnTo>
                  <a:lnTo>
                    <a:pt x="15621" y="2056269"/>
                  </a:lnTo>
                  <a:lnTo>
                    <a:pt x="51663" y="2082088"/>
                  </a:lnTo>
                  <a:lnTo>
                    <a:pt x="71196" y="2085975"/>
                  </a:lnTo>
                  <a:lnTo>
                    <a:pt x="76200" y="2085975"/>
                  </a:lnTo>
                  <a:lnTo>
                    <a:pt x="76200" y="2083485"/>
                  </a:lnTo>
                  <a:lnTo>
                    <a:pt x="80391" y="2084527"/>
                  </a:lnTo>
                  <a:lnTo>
                    <a:pt x="87744" y="2085619"/>
                  </a:lnTo>
                  <a:lnTo>
                    <a:pt x="95250" y="2085975"/>
                  </a:lnTo>
                  <a:lnTo>
                    <a:pt x="3139376" y="2085975"/>
                  </a:lnTo>
                  <a:lnTo>
                    <a:pt x="3156648" y="2085149"/>
                  </a:lnTo>
                  <a:lnTo>
                    <a:pt x="3173095" y="2082723"/>
                  </a:lnTo>
                  <a:lnTo>
                    <a:pt x="3173298" y="2082723"/>
                  </a:lnTo>
                  <a:lnTo>
                    <a:pt x="3218561" y="2066925"/>
                  </a:lnTo>
                  <a:lnTo>
                    <a:pt x="3263354" y="2034628"/>
                  </a:lnTo>
                  <a:lnTo>
                    <a:pt x="3293973" y="1993379"/>
                  </a:lnTo>
                  <a:lnTo>
                    <a:pt x="3311372" y="1944865"/>
                  </a:lnTo>
                  <a:lnTo>
                    <a:pt x="3314700" y="1910651"/>
                  </a:lnTo>
                  <a:lnTo>
                    <a:pt x="3314700" y="175336"/>
                  </a:lnTo>
                  <a:close/>
                </a:path>
              </a:pathLst>
            </a:custGeom>
            <a:solidFill>
              <a:srgbClr val="008B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66852" y="1685672"/>
            <a:ext cx="2782570" cy="167957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300" b="1" spc="45" dirty="0">
                <a:solidFill>
                  <a:srgbClr val="00002E"/>
                </a:solidFill>
                <a:latin typeface="Trebuchet MS"/>
                <a:cs typeface="Trebuchet MS"/>
              </a:rPr>
              <a:t>Windows</a:t>
            </a:r>
            <a:r>
              <a:rPr sz="1300" b="1" spc="-3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00002E"/>
                </a:solidFill>
                <a:latin typeface="Trebuchet MS"/>
                <a:cs typeface="Trebuchet MS"/>
              </a:rPr>
              <a:t>Filesystem</a:t>
            </a:r>
            <a:r>
              <a:rPr sz="1300" b="1" spc="-3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Limitations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ct val="113599"/>
              </a:lnSpc>
              <a:spcBef>
                <a:spcPts val="484"/>
              </a:spcBef>
            </a:pPr>
            <a:r>
              <a:rPr sz="1100" b="1" spc="-105" dirty="0">
                <a:solidFill>
                  <a:srgbClr val="00002E"/>
                </a:solidFill>
                <a:latin typeface="Tahoma"/>
                <a:cs typeface="Tahoma"/>
              </a:rPr>
              <a:t>Problem:</a:t>
            </a:r>
            <a:r>
              <a:rPr sz="1100" b="1" spc="-1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Tokenization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creates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timestamp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00002E"/>
                </a:solidFill>
                <a:latin typeface="Verdana"/>
                <a:cs typeface="Verdana"/>
              </a:rPr>
              <a:t>files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colons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forbidden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by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Windows</a:t>
            </a:r>
            <a:endParaRPr sz="1100">
              <a:latin typeface="Verdana"/>
              <a:cs typeface="Verdana"/>
            </a:endParaRPr>
          </a:p>
          <a:p>
            <a:pPr marL="12700" marR="500380">
              <a:lnSpc>
                <a:spcPct val="113599"/>
              </a:lnSpc>
              <a:spcBef>
                <a:spcPts val="600"/>
              </a:spcBef>
            </a:pPr>
            <a:r>
              <a:rPr sz="1100" b="1" spc="-85" dirty="0">
                <a:solidFill>
                  <a:srgbClr val="00002E"/>
                </a:solidFill>
                <a:latin typeface="Tahoma"/>
                <a:cs typeface="Tahoma"/>
              </a:rPr>
              <a:t>Solution:</a:t>
            </a:r>
            <a:r>
              <a:rPr sz="1100" b="1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Switched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5" dirty="0">
                <a:solidFill>
                  <a:srgbClr val="00002E"/>
                </a:solidFill>
                <a:latin typeface="Verdana"/>
                <a:cs typeface="Verdana"/>
              </a:rPr>
              <a:t>WSL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Ubuntu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for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tokenization</a:t>
            </a:r>
            <a:r>
              <a:rPr sz="110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stage</a:t>
            </a:r>
            <a:endParaRPr sz="1100">
              <a:latin typeface="Verdana"/>
              <a:cs typeface="Verdana"/>
            </a:endParaRPr>
          </a:p>
          <a:p>
            <a:pPr marL="12700" marR="118745">
              <a:lnSpc>
                <a:spcPct val="119300"/>
              </a:lnSpc>
              <a:spcBef>
                <a:spcPts val="450"/>
              </a:spcBef>
            </a:pPr>
            <a:r>
              <a:rPr sz="1100" b="1" spc="-130" dirty="0">
                <a:solidFill>
                  <a:srgbClr val="00002E"/>
                </a:solidFill>
                <a:latin typeface="Tahoma"/>
                <a:cs typeface="Tahoma"/>
              </a:rPr>
              <a:t>Impact:</a:t>
            </a:r>
            <a:r>
              <a:rPr sz="1100" b="1" spc="2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Seamless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Linux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compatibility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within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Windows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environment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48549" y="1647824"/>
            <a:ext cx="3324225" cy="2085975"/>
            <a:chOff x="7448549" y="1647824"/>
            <a:chExt cx="3324225" cy="2085975"/>
          </a:xfrm>
        </p:grpSpPr>
        <p:sp>
          <p:nvSpPr>
            <p:cNvPr id="14" name="object 14"/>
            <p:cNvSpPr/>
            <p:nvPr/>
          </p:nvSpPr>
          <p:spPr>
            <a:xfrm>
              <a:off x="7467598" y="1657349"/>
              <a:ext cx="3295650" cy="2066925"/>
            </a:xfrm>
            <a:custGeom>
              <a:avLst/>
              <a:gdLst/>
              <a:ahLst/>
              <a:cxnLst/>
              <a:rect l="l" t="t" r="r" b="b"/>
              <a:pathLst>
                <a:path w="3295650" h="2066925">
                  <a:moveTo>
                    <a:pt x="3129847" y="2066924"/>
                  </a:moveTo>
                  <a:lnTo>
                    <a:pt x="71196" y="2066924"/>
                  </a:lnTo>
                  <a:lnTo>
                    <a:pt x="66241" y="2066497"/>
                  </a:lnTo>
                  <a:lnTo>
                    <a:pt x="29704" y="2053255"/>
                  </a:lnTo>
                  <a:lnTo>
                    <a:pt x="3885" y="2021720"/>
                  </a:lnTo>
                  <a:lnTo>
                    <a:pt x="0" y="2004627"/>
                  </a:lnTo>
                  <a:lnTo>
                    <a:pt x="0" y="2000249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3129847" y="0"/>
                  </a:lnTo>
                  <a:lnTo>
                    <a:pt x="3170143" y="4970"/>
                  </a:lnTo>
                  <a:lnTo>
                    <a:pt x="3208006" y="19575"/>
                  </a:lnTo>
                  <a:lnTo>
                    <a:pt x="3241186" y="42943"/>
                  </a:lnTo>
                  <a:lnTo>
                    <a:pt x="3267706" y="73687"/>
                  </a:lnTo>
                  <a:lnTo>
                    <a:pt x="3285960" y="109954"/>
                  </a:lnTo>
                  <a:lnTo>
                    <a:pt x="3294852" y="149551"/>
                  </a:lnTo>
                  <a:lnTo>
                    <a:pt x="3295650" y="165802"/>
                  </a:lnTo>
                  <a:lnTo>
                    <a:pt x="3295650" y="1901121"/>
                  </a:lnTo>
                  <a:lnTo>
                    <a:pt x="3290677" y="1941418"/>
                  </a:lnTo>
                  <a:lnTo>
                    <a:pt x="3276072" y="1979281"/>
                  </a:lnTo>
                  <a:lnTo>
                    <a:pt x="3252706" y="2012461"/>
                  </a:lnTo>
                  <a:lnTo>
                    <a:pt x="3221961" y="2038981"/>
                  </a:lnTo>
                  <a:lnTo>
                    <a:pt x="3185694" y="2057236"/>
                  </a:lnTo>
                  <a:lnTo>
                    <a:pt x="3146098" y="2066128"/>
                  </a:lnTo>
                  <a:lnTo>
                    <a:pt x="3137992" y="2066725"/>
                  </a:lnTo>
                  <a:lnTo>
                    <a:pt x="3129847" y="2066924"/>
                  </a:lnTo>
                  <a:close/>
                </a:path>
              </a:pathLst>
            </a:custGeom>
            <a:solidFill>
              <a:srgbClr val="F2F2FF">
                <a:alpha val="7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48537" y="1647824"/>
              <a:ext cx="3324225" cy="2085975"/>
            </a:xfrm>
            <a:custGeom>
              <a:avLst/>
              <a:gdLst/>
              <a:ahLst/>
              <a:cxnLst/>
              <a:rect l="l" t="t" r="r" b="b"/>
              <a:pathLst>
                <a:path w="3324225" h="2085975">
                  <a:moveTo>
                    <a:pt x="3324225" y="175336"/>
                  </a:moveTo>
                  <a:lnTo>
                    <a:pt x="3316719" y="124510"/>
                  </a:lnTo>
                  <a:lnTo>
                    <a:pt x="3305175" y="96151"/>
                  </a:lnTo>
                  <a:lnTo>
                    <a:pt x="3305175" y="175336"/>
                  </a:lnTo>
                  <a:lnTo>
                    <a:pt x="3305175" y="1910651"/>
                  </a:lnTo>
                  <a:lnTo>
                    <a:pt x="3298482" y="1955952"/>
                  </a:lnTo>
                  <a:lnTo>
                    <a:pt x="3278860" y="1997494"/>
                  </a:lnTo>
                  <a:lnTo>
                    <a:pt x="3259848" y="2020658"/>
                  </a:lnTo>
                  <a:lnTo>
                    <a:pt x="3259404" y="2021154"/>
                  </a:lnTo>
                  <a:lnTo>
                    <a:pt x="3222650" y="2048459"/>
                  </a:lnTo>
                  <a:lnTo>
                    <a:pt x="3179394" y="2063953"/>
                  </a:lnTo>
                  <a:lnTo>
                    <a:pt x="3148901" y="2066925"/>
                  </a:lnTo>
                  <a:lnTo>
                    <a:pt x="95250" y="2066925"/>
                  </a:lnTo>
                  <a:lnTo>
                    <a:pt x="87744" y="2066658"/>
                  </a:lnTo>
                  <a:lnTo>
                    <a:pt x="80391" y="2065845"/>
                  </a:lnTo>
                  <a:lnTo>
                    <a:pt x="76200" y="2065058"/>
                  </a:lnTo>
                  <a:lnTo>
                    <a:pt x="76200" y="20942"/>
                  </a:lnTo>
                  <a:lnTo>
                    <a:pt x="80391" y="20142"/>
                  </a:lnTo>
                  <a:lnTo>
                    <a:pt x="87744" y="19329"/>
                  </a:lnTo>
                  <a:lnTo>
                    <a:pt x="95250" y="19050"/>
                  </a:lnTo>
                  <a:lnTo>
                    <a:pt x="3148901" y="19050"/>
                  </a:lnTo>
                  <a:lnTo>
                    <a:pt x="3194380" y="25806"/>
                  </a:lnTo>
                  <a:lnTo>
                    <a:pt x="3235744" y="45364"/>
                  </a:lnTo>
                  <a:lnTo>
                    <a:pt x="3269767" y="76238"/>
                  </a:lnTo>
                  <a:lnTo>
                    <a:pt x="3293287" y="115531"/>
                  </a:lnTo>
                  <a:lnTo>
                    <a:pt x="3304438" y="159943"/>
                  </a:lnTo>
                  <a:lnTo>
                    <a:pt x="3305175" y="175336"/>
                  </a:lnTo>
                  <a:lnTo>
                    <a:pt x="3305175" y="96151"/>
                  </a:lnTo>
                  <a:lnTo>
                    <a:pt x="3303498" y="92595"/>
                  </a:lnTo>
                  <a:lnTo>
                    <a:pt x="3294710" y="77914"/>
                  </a:lnTo>
                  <a:lnTo>
                    <a:pt x="3284499" y="64160"/>
                  </a:lnTo>
                  <a:lnTo>
                    <a:pt x="3273323" y="51866"/>
                  </a:lnTo>
                  <a:lnTo>
                    <a:pt x="3231629" y="20726"/>
                  </a:lnTo>
                  <a:lnTo>
                    <a:pt x="3183115" y="3340"/>
                  </a:lnTo>
                  <a:lnTo>
                    <a:pt x="3148901" y="0"/>
                  </a:lnTo>
                  <a:lnTo>
                    <a:pt x="95250" y="0"/>
                  </a:lnTo>
                  <a:lnTo>
                    <a:pt x="87744" y="368"/>
                  </a:lnTo>
                  <a:lnTo>
                    <a:pt x="80391" y="1460"/>
                  </a:lnTo>
                  <a:lnTo>
                    <a:pt x="76200" y="2527"/>
                  </a:lnTo>
                  <a:lnTo>
                    <a:pt x="76200" y="0"/>
                  </a:lnTo>
                  <a:lnTo>
                    <a:pt x="71196" y="0"/>
                  </a:lnTo>
                  <a:lnTo>
                    <a:pt x="66243" y="495"/>
                  </a:lnTo>
                  <a:lnTo>
                    <a:pt x="29705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0" y="2009775"/>
                  </a:lnTo>
                  <a:lnTo>
                    <a:pt x="0" y="2014778"/>
                  </a:lnTo>
                  <a:lnTo>
                    <a:pt x="15621" y="2056269"/>
                  </a:lnTo>
                  <a:lnTo>
                    <a:pt x="51663" y="2082088"/>
                  </a:lnTo>
                  <a:lnTo>
                    <a:pt x="71196" y="2085975"/>
                  </a:lnTo>
                  <a:lnTo>
                    <a:pt x="76200" y="2085975"/>
                  </a:lnTo>
                  <a:lnTo>
                    <a:pt x="76200" y="2083485"/>
                  </a:lnTo>
                  <a:lnTo>
                    <a:pt x="80391" y="2084527"/>
                  </a:lnTo>
                  <a:lnTo>
                    <a:pt x="87744" y="2085619"/>
                  </a:lnTo>
                  <a:lnTo>
                    <a:pt x="95250" y="2085975"/>
                  </a:lnTo>
                  <a:lnTo>
                    <a:pt x="3148901" y="2085975"/>
                  </a:lnTo>
                  <a:lnTo>
                    <a:pt x="3166173" y="2085149"/>
                  </a:lnTo>
                  <a:lnTo>
                    <a:pt x="3182620" y="2082723"/>
                  </a:lnTo>
                  <a:lnTo>
                    <a:pt x="3182823" y="2082723"/>
                  </a:lnTo>
                  <a:lnTo>
                    <a:pt x="3228086" y="2066925"/>
                  </a:lnTo>
                  <a:lnTo>
                    <a:pt x="3272879" y="2034628"/>
                  </a:lnTo>
                  <a:lnTo>
                    <a:pt x="3303498" y="1993379"/>
                  </a:lnTo>
                  <a:lnTo>
                    <a:pt x="3320897" y="1944865"/>
                  </a:lnTo>
                  <a:lnTo>
                    <a:pt x="3324225" y="1910651"/>
                  </a:lnTo>
                  <a:lnTo>
                    <a:pt x="3324225" y="175336"/>
                  </a:lnTo>
                  <a:close/>
                </a:path>
              </a:pathLst>
            </a:custGeom>
            <a:solidFill>
              <a:srgbClr val="D93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75463" y="1685672"/>
            <a:ext cx="2833370" cy="18796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300" b="1" dirty="0">
                <a:solidFill>
                  <a:srgbClr val="00002E"/>
                </a:solidFill>
                <a:latin typeface="Trebuchet MS"/>
                <a:cs typeface="Trebuchet MS"/>
              </a:rPr>
              <a:t>Missing</a:t>
            </a:r>
            <a:r>
              <a:rPr sz="1300" b="1" spc="6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00002E"/>
                </a:solidFill>
                <a:latin typeface="Trebuchet MS"/>
                <a:cs typeface="Trebuchet MS"/>
              </a:rPr>
              <a:t>Clinical</a:t>
            </a:r>
            <a:r>
              <a:rPr sz="1300" b="1" spc="6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Features</a:t>
            </a:r>
            <a:endParaRPr sz="1300">
              <a:latin typeface="Trebuchet MS"/>
              <a:cs typeface="Trebuchet MS"/>
            </a:endParaRPr>
          </a:p>
          <a:p>
            <a:pPr marL="12700" marR="13970">
              <a:lnSpc>
                <a:spcPct val="116500"/>
              </a:lnSpc>
              <a:spcBef>
                <a:spcPts val="450"/>
              </a:spcBef>
            </a:pPr>
            <a:r>
              <a:rPr sz="1100" b="1" spc="-110" dirty="0">
                <a:solidFill>
                  <a:srgbClr val="00002E"/>
                </a:solidFill>
                <a:latin typeface="Tahoma"/>
                <a:cs typeface="Tahoma"/>
              </a:rPr>
              <a:t>Problem:</a:t>
            </a:r>
            <a:r>
              <a:rPr sz="1100" b="1" spc="4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Preprocessors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expected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 labs,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medications,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 demographic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text—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sample</a:t>
            </a:r>
            <a:r>
              <a:rPr sz="1100" spc="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lacked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these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00" dirty="0">
                <a:solidFill>
                  <a:srgbClr val="00002E"/>
                </a:solidFill>
                <a:latin typeface="Verdana"/>
                <a:cs typeface="Verdana"/>
              </a:rPr>
              <a:t>(20+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errors)</a:t>
            </a:r>
            <a:endParaRPr sz="1100">
              <a:latin typeface="Verdana"/>
              <a:cs typeface="Verdana"/>
            </a:endParaRPr>
          </a:p>
          <a:p>
            <a:pPr marL="12700" marR="5080">
              <a:lnSpc>
                <a:spcPct val="108000"/>
              </a:lnSpc>
              <a:spcBef>
                <a:spcPts val="595"/>
              </a:spcBef>
            </a:pPr>
            <a:r>
              <a:rPr sz="1100" b="1" spc="-90" dirty="0">
                <a:solidFill>
                  <a:srgbClr val="00002E"/>
                </a:solidFill>
                <a:latin typeface="Tahoma"/>
                <a:cs typeface="Tahoma"/>
              </a:rPr>
              <a:t>Solution:</a:t>
            </a:r>
            <a:r>
              <a:rPr sz="1100" b="1" spc="-2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Added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defensive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checks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15+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functions: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00002E"/>
                </a:solidFill>
                <a:latin typeface="Verdana"/>
                <a:cs typeface="Verdana"/>
              </a:rPr>
              <a:t>if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column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exists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250" spc="-90" dirty="0">
                <a:solidFill>
                  <a:srgbClr val="00002E"/>
                </a:solidFill>
                <a:latin typeface="Lucida Sans Unicode"/>
                <a:cs typeface="Lucida Sans Unicode"/>
              </a:rPr>
              <a:t>→</a:t>
            </a:r>
            <a:r>
              <a:rPr sz="1250" spc="-60" dirty="0">
                <a:solidFill>
                  <a:srgbClr val="00002E"/>
                </a:solidFill>
                <a:latin typeface="Lucida Sans Unicode"/>
                <a:cs typeface="Lucida Sans Unicode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process,</a:t>
            </a:r>
            <a:r>
              <a:rPr sz="1100" spc="-1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else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skip</a:t>
            </a:r>
            <a:endParaRPr sz="1100">
              <a:latin typeface="Verdana"/>
              <a:cs typeface="Verdana"/>
            </a:endParaRPr>
          </a:p>
          <a:p>
            <a:pPr marL="12700" marR="336550">
              <a:lnSpc>
                <a:spcPct val="119300"/>
              </a:lnSpc>
              <a:spcBef>
                <a:spcPts val="420"/>
              </a:spcBef>
            </a:pPr>
            <a:r>
              <a:rPr sz="1100" b="1" spc="-130" dirty="0">
                <a:solidFill>
                  <a:srgbClr val="00002E"/>
                </a:solidFill>
                <a:latin typeface="Tahoma"/>
                <a:cs typeface="Tahoma"/>
              </a:rPr>
              <a:t>Impact:</a:t>
            </a:r>
            <a:r>
              <a:rPr sz="1100" b="1" spc="1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Pipeline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handles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limited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datasets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gracefully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8174" y="3838574"/>
            <a:ext cx="3324225" cy="1895475"/>
            <a:chOff x="638174" y="3838574"/>
            <a:chExt cx="3324225" cy="1895475"/>
          </a:xfrm>
        </p:grpSpPr>
        <p:sp>
          <p:nvSpPr>
            <p:cNvPr id="18" name="object 18"/>
            <p:cNvSpPr/>
            <p:nvPr/>
          </p:nvSpPr>
          <p:spPr>
            <a:xfrm>
              <a:off x="657224" y="3848099"/>
              <a:ext cx="3295650" cy="1876425"/>
            </a:xfrm>
            <a:custGeom>
              <a:avLst/>
              <a:gdLst/>
              <a:ahLst/>
              <a:cxnLst/>
              <a:rect l="l" t="t" r="r" b="b"/>
              <a:pathLst>
                <a:path w="3295650" h="1876425">
                  <a:moveTo>
                    <a:pt x="3129846" y="1876424"/>
                  </a:moveTo>
                  <a:lnTo>
                    <a:pt x="71196" y="1876424"/>
                  </a:lnTo>
                  <a:lnTo>
                    <a:pt x="29705" y="1862755"/>
                  </a:lnTo>
                  <a:lnTo>
                    <a:pt x="3885" y="1831220"/>
                  </a:lnTo>
                  <a:lnTo>
                    <a:pt x="0" y="1814127"/>
                  </a:lnTo>
                  <a:lnTo>
                    <a:pt x="0" y="1809749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3129846" y="0"/>
                  </a:lnTo>
                  <a:lnTo>
                    <a:pt x="3137992" y="199"/>
                  </a:lnTo>
                  <a:lnTo>
                    <a:pt x="3177977" y="7137"/>
                  </a:lnTo>
                  <a:lnTo>
                    <a:pt x="3215078" y="23582"/>
                  </a:lnTo>
                  <a:lnTo>
                    <a:pt x="3247086" y="48562"/>
                  </a:lnTo>
                  <a:lnTo>
                    <a:pt x="3272066" y="80570"/>
                  </a:lnTo>
                  <a:lnTo>
                    <a:pt x="3288511" y="117671"/>
                  </a:lnTo>
                  <a:lnTo>
                    <a:pt x="3295450" y="157657"/>
                  </a:lnTo>
                  <a:lnTo>
                    <a:pt x="3295649" y="165802"/>
                  </a:lnTo>
                  <a:lnTo>
                    <a:pt x="3295649" y="1710622"/>
                  </a:lnTo>
                  <a:lnTo>
                    <a:pt x="3290679" y="1750918"/>
                  </a:lnTo>
                  <a:lnTo>
                    <a:pt x="3276073" y="1788780"/>
                  </a:lnTo>
                  <a:lnTo>
                    <a:pt x="3252705" y="1821961"/>
                  </a:lnTo>
                  <a:lnTo>
                    <a:pt x="3221961" y="1848481"/>
                  </a:lnTo>
                  <a:lnTo>
                    <a:pt x="3185694" y="1866736"/>
                  </a:lnTo>
                  <a:lnTo>
                    <a:pt x="3146098" y="1875628"/>
                  </a:lnTo>
                  <a:lnTo>
                    <a:pt x="3137992" y="1876225"/>
                  </a:lnTo>
                  <a:lnTo>
                    <a:pt x="3129846" y="1876424"/>
                  </a:lnTo>
                  <a:close/>
                </a:path>
              </a:pathLst>
            </a:custGeom>
            <a:solidFill>
              <a:srgbClr val="F2F2FF">
                <a:alpha val="7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8162" y="3838574"/>
              <a:ext cx="3324225" cy="1895475"/>
            </a:xfrm>
            <a:custGeom>
              <a:avLst/>
              <a:gdLst/>
              <a:ahLst/>
              <a:cxnLst/>
              <a:rect l="l" t="t" r="r" b="b"/>
              <a:pathLst>
                <a:path w="3324225" h="1895475">
                  <a:moveTo>
                    <a:pt x="3324225" y="175336"/>
                  </a:moveTo>
                  <a:lnTo>
                    <a:pt x="3316719" y="124510"/>
                  </a:lnTo>
                  <a:lnTo>
                    <a:pt x="3305175" y="96151"/>
                  </a:lnTo>
                  <a:lnTo>
                    <a:pt x="3305175" y="175336"/>
                  </a:lnTo>
                  <a:lnTo>
                    <a:pt x="3305175" y="1720151"/>
                  </a:lnTo>
                  <a:lnTo>
                    <a:pt x="3298494" y="1765452"/>
                  </a:lnTo>
                  <a:lnTo>
                    <a:pt x="3278873" y="1806994"/>
                  </a:lnTo>
                  <a:lnTo>
                    <a:pt x="3259848" y="1830158"/>
                  </a:lnTo>
                  <a:lnTo>
                    <a:pt x="3259404" y="1830654"/>
                  </a:lnTo>
                  <a:lnTo>
                    <a:pt x="3222650" y="1857959"/>
                  </a:lnTo>
                  <a:lnTo>
                    <a:pt x="3179394" y="1873453"/>
                  </a:lnTo>
                  <a:lnTo>
                    <a:pt x="3148901" y="1876425"/>
                  </a:lnTo>
                  <a:lnTo>
                    <a:pt x="95250" y="1876425"/>
                  </a:lnTo>
                  <a:lnTo>
                    <a:pt x="87744" y="1876158"/>
                  </a:lnTo>
                  <a:lnTo>
                    <a:pt x="80391" y="1875345"/>
                  </a:lnTo>
                  <a:lnTo>
                    <a:pt x="76200" y="1874558"/>
                  </a:lnTo>
                  <a:lnTo>
                    <a:pt x="76200" y="20942"/>
                  </a:lnTo>
                  <a:lnTo>
                    <a:pt x="80391" y="20142"/>
                  </a:lnTo>
                  <a:lnTo>
                    <a:pt x="87744" y="19329"/>
                  </a:lnTo>
                  <a:lnTo>
                    <a:pt x="95250" y="19050"/>
                  </a:lnTo>
                  <a:lnTo>
                    <a:pt x="3148901" y="19050"/>
                  </a:lnTo>
                  <a:lnTo>
                    <a:pt x="3194380" y="25806"/>
                  </a:lnTo>
                  <a:lnTo>
                    <a:pt x="3235744" y="45364"/>
                  </a:lnTo>
                  <a:lnTo>
                    <a:pt x="3269767" y="76238"/>
                  </a:lnTo>
                  <a:lnTo>
                    <a:pt x="3293287" y="115531"/>
                  </a:lnTo>
                  <a:lnTo>
                    <a:pt x="3304438" y="159943"/>
                  </a:lnTo>
                  <a:lnTo>
                    <a:pt x="3305175" y="175336"/>
                  </a:lnTo>
                  <a:lnTo>
                    <a:pt x="3305175" y="96151"/>
                  </a:lnTo>
                  <a:lnTo>
                    <a:pt x="3303498" y="92595"/>
                  </a:lnTo>
                  <a:lnTo>
                    <a:pt x="3294710" y="77901"/>
                  </a:lnTo>
                  <a:lnTo>
                    <a:pt x="3284499" y="64160"/>
                  </a:lnTo>
                  <a:lnTo>
                    <a:pt x="3273323" y="51866"/>
                  </a:lnTo>
                  <a:lnTo>
                    <a:pt x="3231642" y="20726"/>
                  </a:lnTo>
                  <a:lnTo>
                    <a:pt x="3228086" y="19050"/>
                  </a:lnTo>
                  <a:lnTo>
                    <a:pt x="3215995" y="13347"/>
                  </a:lnTo>
                  <a:lnTo>
                    <a:pt x="3199727" y="7518"/>
                  </a:lnTo>
                  <a:lnTo>
                    <a:pt x="3183115" y="3340"/>
                  </a:lnTo>
                  <a:lnTo>
                    <a:pt x="3166173" y="838"/>
                  </a:lnTo>
                  <a:lnTo>
                    <a:pt x="3148901" y="0"/>
                  </a:lnTo>
                  <a:lnTo>
                    <a:pt x="95250" y="0"/>
                  </a:lnTo>
                  <a:lnTo>
                    <a:pt x="87744" y="368"/>
                  </a:lnTo>
                  <a:lnTo>
                    <a:pt x="80391" y="1460"/>
                  </a:lnTo>
                  <a:lnTo>
                    <a:pt x="76200" y="2527"/>
                  </a:lnTo>
                  <a:lnTo>
                    <a:pt x="76200" y="0"/>
                  </a:lnTo>
                  <a:lnTo>
                    <a:pt x="71208" y="0"/>
                  </a:lnTo>
                  <a:lnTo>
                    <a:pt x="66243" y="495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1819275"/>
                  </a:lnTo>
                  <a:lnTo>
                    <a:pt x="0" y="1824278"/>
                  </a:lnTo>
                  <a:lnTo>
                    <a:pt x="15633" y="1865769"/>
                  </a:lnTo>
                  <a:lnTo>
                    <a:pt x="51663" y="1891588"/>
                  </a:lnTo>
                  <a:lnTo>
                    <a:pt x="71208" y="1895475"/>
                  </a:lnTo>
                  <a:lnTo>
                    <a:pt x="76200" y="1895475"/>
                  </a:lnTo>
                  <a:lnTo>
                    <a:pt x="76200" y="1892985"/>
                  </a:lnTo>
                  <a:lnTo>
                    <a:pt x="80391" y="1894027"/>
                  </a:lnTo>
                  <a:lnTo>
                    <a:pt x="87744" y="1895119"/>
                  </a:lnTo>
                  <a:lnTo>
                    <a:pt x="95250" y="1895475"/>
                  </a:lnTo>
                  <a:lnTo>
                    <a:pt x="3148901" y="1895475"/>
                  </a:lnTo>
                  <a:lnTo>
                    <a:pt x="3166173" y="1894649"/>
                  </a:lnTo>
                  <a:lnTo>
                    <a:pt x="3182620" y="1892223"/>
                  </a:lnTo>
                  <a:lnTo>
                    <a:pt x="3182823" y="1892223"/>
                  </a:lnTo>
                  <a:lnTo>
                    <a:pt x="3199727" y="1887969"/>
                  </a:lnTo>
                  <a:lnTo>
                    <a:pt x="3215995" y="1882140"/>
                  </a:lnTo>
                  <a:lnTo>
                    <a:pt x="3228086" y="1876425"/>
                  </a:lnTo>
                  <a:lnTo>
                    <a:pt x="3231642" y="1874748"/>
                  </a:lnTo>
                  <a:lnTo>
                    <a:pt x="3272879" y="1844128"/>
                  </a:lnTo>
                  <a:lnTo>
                    <a:pt x="3303498" y="1802879"/>
                  </a:lnTo>
                  <a:lnTo>
                    <a:pt x="3320897" y="1754365"/>
                  </a:lnTo>
                  <a:lnTo>
                    <a:pt x="3324225" y="1720151"/>
                  </a:lnTo>
                  <a:lnTo>
                    <a:pt x="3324225" y="175336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58242" y="3876422"/>
            <a:ext cx="2948305" cy="167957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300" b="1" spc="-20" dirty="0">
                <a:solidFill>
                  <a:srgbClr val="00002E"/>
                </a:solidFill>
                <a:latin typeface="Trebuchet MS"/>
                <a:cs typeface="Trebuchet MS"/>
              </a:rPr>
              <a:t>Vocabulary</a:t>
            </a:r>
            <a:r>
              <a:rPr sz="1300" b="1" spc="-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00002E"/>
                </a:solidFill>
                <a:latin typeface="Trebuchet MS"/>
                <a:cs typeface="Trebuchet MS"/>
              </a:rPr>
              <a:t>Gaps</a:t>
            </a:r>
            <a:endParaRPr sz="1300">
              <a:latin typeface="Trebuchet MS"/>
              <a:cs typeface="Trebuchet MS"/>
            </a:endParaRPr>
          </a:p>
          <a:p>
            <a:pPr marL="12700" marR="111125">
              <a:lnSpc>
                <a:spcPct val="119300"/>
              </a:lnSpc>
              <a:spcBef>
                <a:spcPts val="409"/>
              </a:spcBef>
            </a:pPr>
            <a:r>
              <a:rPr sz="1100" b="1" spc="-110" dirty="0">
                <a:solidFill>
                  <a:srgbClr val="00002E"/>
                </a:solidFill>
                <a:latin typeface="Tahoma"/>
                <a:cs typeface="Tahoma"/>
              </a:rPr>
              <a:t>Problem:</a:t>
            </a:r>
            <a:r>
              <a:rPr sz="1100" b="1" spc="2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Static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patient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codes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(GENDER//M,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GENDER//F)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collected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after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vocabulary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 creation</a:t>
            </a:r>
            <a:endParaRPr sz="1100">
              <a:latin typeface="Verdana"/>
              <a:cs typeface="Verdana"/>
            </a:endParaRPr>
          </a:p>
          <a:p>
            <a:pPr marL="12700" marR="5080">
              <a:lnSpc>
                <a:spcPct val="102299"/>
              </a:lnSpc>
              <a:spcBef>
                <a:spcPts val="675"/>
              </a:spcBef>
            </a:pPr>
            <a:r>
              <a:rPr sz="1100" b="1" spc="-85" dirty="0">
                <a:solidFill>
                  <a:srgbClr val="00002E"/>
                </a:solidFill>
                <a:latin typeface="Tahoma"/>
                <a:cs typeface="Tahoma"/>
              </a:rPr>
              <a:t>Solution:</a:t>
            </a:r>
            <a:r>
              <a:rPr sz="1100" b="1" spc="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Created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fix_vocab.py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scan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static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data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expand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vocabulary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(69</a:t>
            </a:r>
            <a:r>
              <a:rPr sz="1250" spc="-125" dirty="0">
                <a:solidFill>
                  <a:srgbClr val="00002E"/>
                </a:solidFill>
                <a:latin typeface="Lucida Sans Unicode"/>
                <a:cs typeface="Lucida Sans Unicode"/>
              </a:rPr>
              <a:t>→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72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tokens)</a:t>
            </a:r>
            <a:endParaRPr sz="1100">
              <a:latin typeface="Verdana"/>
              <a:cs typeface="Verdana"/>
            </a:endParaRPr>
          </a:p>
          <a:p>
            <a:pPr marL="12700" marR="43815">
              <a:lnSpc>
                <a:spcPct val="113599"/>
              </a:lnSpc>
              <a:spcBef>
                <a:spcPts val="570"/>
              </a:spcBef>
            </a:pPr>
            <a:r>
              <a:rPr sz="1100" b="1" spc="-135" dirty="0">
                <a:solidFill>
                  <a:srgbClr val="00002E"/>
                </a:solidFill>
                <a:latin typeface="Tahoma"/>
                <a:cs typeface="Tahoma"/>
              </a:rPr>
              <a:t>Impact:</a:t>
            </a:r>
            <a:r>
              <a:rPr sz="1100" b="1" spc="-2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Training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succeeded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complete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token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coverage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048124" y="3838574"/>
            <a:ext cx="3314700" cy="1895475"/>
            <a:chOff x="4048124" y="3838574"/>
            <a:chExt cx="3314700" cy="1895475"/>
          </a:xfrm>
        </p:grpSpPr>
        <p:sp>
          <p:nvSpPr>
            <p:cNvPr id="22" name="object 22"/>
            <p:cNvSpPr/>
            <p:nvPr/>
          </p:nvSpPr>
          <p:spPr>
            <a:xfrm>
              <a:off x="4067174" y="3848099"/>
              <a:ext cx="3286125" cy="1876425"/>
            </a:xfrm>
            <a:custGeom>
              <a:avLst/>
              <a:gdLst/>
              <a:ahLst/>
              <a:cxnLst/>
              <a:rect l="l" t="t" r="r" b="b"/>
              <a:pathLst>
                <a:path w="3286125" h="1876425">
                  <a:moveTo>
                    <a:pt x="3120322" y="1876424"/>
                  </a:moveTo>
                  <a:lnTo>
                    <a:pt x="71196" y="1876424"/>
                  </a:lnTo>
                  <a:lnTo>
                    <a:pt x="29705" y="1862755"/>
                  </a:lnTo>
                  <a:lnTo>
                    <a:pt x="3885" y="1831220"/>
                  </a:lnTo>
                  <a:lnTo>
                    <a:pt x="0" y="1814127"/>
                  </a:lnTo>
                  <a:lnTo>
                    <a:pt x="0" y="1809749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3120322" y="0"/>
                  </a:lnTo>
                  <a:lnTo>
                    <a:pt x="3128467" y="199"/>
                  </a:lnTo>
                  <a:lnTo>
                    <a:pt x="3168451" y="7137"/>
                  </a:lnTo>
                  <a:lnTo>
                    <a:pt x="3205553" y="23582"/>
                  </a:lnTo>
                  <a:lnTo>
                    <a:pt x="3237561" y="48562"/>
                  </a:lnTo>
                  <a:lnTo>
                    <a:pt x="3262541" y="80570"/>
                  </a:lnTo>
                  <a:lnTo>
                    <a:pt x="3278987" y="117671"/>
                  </a:lnTo>
                  <a:lnTo>
                    <a:pt x="3285925" y="157657"/>
                  </a:lnTo>
                  <a:lnTo>
                    <a:pt x="3286125" y="165802"/>
                  </a:lnTo>
                  <a:lnTo>
                    <a:pt x="3286125" y="1710622"/>
                  </a:lnTo>
                  <a:lnTo>
                    <a:pt x="3281154" y="1750918"/>
                  </a:lnTo>
                  <a:lnTo>
                    <a:pt x="3266548" y="1788780"/>
                  </a:lnTo>
                  <a:lnTo>
                    <a:pt x="3243180" y="1821961"/>
                  </a:lnTo>
                  <a:lnTo>
                    <a:pt x="3212435" y="1848481"/>
                  </a:lnTo>
                  <a:lnTo>
                    <a:pt x="3176169" y="1866736"/>
                  </a:lnTo>
                  <a:lnTo>
                    <a:pt x="3136573" y="1875628"/>
                  </a:lnTo>
                  <a:lnTo>
                    <a:pt x="3128467" y="1876225"/>
                  </a:lnTo>
                  <a:lnTo>
                    <a:pt x="3120322" y="1876424"/>
                  </a:lnTo>
                  <a:close/>
                </a:path>
              </a:pathLst>
            </a:custGeom>
            <a:solidFill>
              <a:srgbClr val="F2F2FF">
                <a:alpha val="7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48112" y="3838574"/>
              <a:ext cx="3314700" cy="1895475"/>
            </a:xfrm>
            <a:custGeom>
              <a:avLst/>
              <a:gdLst/>
              <a:ahLst/>
              <a:cxnLst/>
              <a:rect l="l" t="t" r="r" b="b"/>
              <a:pathLst>
                <a:path w="3314700" h="1895475">
                  <a:moveTo>
                    <a:pt x="3314700" y="175336"/>
                  </a:moveTo>
                  <a:lnTo>
                    <a:pt x="3307194" y="124510"/>
                  </a:lnTo>
                  <a:lnTo>
                    <a:pt x="3295650" y="96151"/>
                  </a:lnTo>
                  <a:lnTo>
                    <a:pt x="3295650" y="175336"/>
                  </a:lnTo>
                  <a:lnTo>
                    <a:pt x="3295650" y="1720151"/>
                  </a:lnTo>
                  <a:lnTo>
                    <a:pt x="3288969" y="1765452"/>
                  </a:lnTo>
                  <a:lnTo>
                    <a:pt x="3269348" y="1806994"/>
                  </a:lnTo>
                  <a:lnTo>
                    <a:pt x="3250323" y="1830158"/>
                  </a:lnTo>
                  <a:lnTo>
                    <a:pt x="3249879" y="1830654"/>
                  </a:lnTo>
                  <a:lnTo>
                    <a:pt x="3213125" y="1857959"/>
                  </a:lnTo>
                  <a:lnTo>
                    <a:pt x="3169869" y="1873453"/>
                  </a:lnTo>
                  <a:lnTo>
                    <a:pt x="3139376" y="1876425"/>
                  </a:lnTo>
                  <a:lnTo>
                    <a:pt x="95250" y="1876425"/>
                  </a:lnTo>
                  <a:lnTo>
                    <a:pt x="87744" y="1876158"/>
                  </a:lnTo>
                  <a:lnTo>
                    <a:pt x="80391" y="1875345"/>
                  </a:lnTo>
                  <a:lnTo>
                    <a:pt x="76200" y="1874558"/>
                  </a:lnTo>
                  <a:lnTo>
                    <a:pt x="76200" y="20942"/>
                  </a:lnTo>
                  <a:lnTo>
                    <a:pt x="80391" y="20142"/>
                  </a:lnTo>
                  <a:lnTo>
                    <a:pt x="87744" y="19329"/>
                  </a:lnTo>
                  <a:lnTo>
                    <a:pt x="95250" y="19050"/>
                  </a:lnTo>
                  <a:lnTo>
                    <a:pt x="3139376" y="19050"/>
                  </a:lnTo>
                  <a:lnTo>
                    <a:pt x="3184855" y="25806"/>
                  </a:lnTo>
                  <a:lnTo>
                    <a:pt x="3226219" y="45364"/>
                  </a:lnTo>
                  <a:lnTo>
                    <a:pt x="3260242" y="76238"/>
                  </a:lnTo>
                  <a:lnTo>
                    <a:pt x="3283762" y="115531"/>
                  </a:lnTo>
                  <a:lnTo>
                    <a:pt x="3294913" y="159943"/>
                  </a:lnTo>
                  <a:lnTo>
                    <a:pt x="3295650" y="175336"/>
                  </a:lnTo>
                  <a:lnTo>
                    <a:pt x="3295650" y="96151"/>
                  </a:lnTo>
                  <a:lnTo>
                    <a:pt x="3293973" y="92595"/>
                  </a:lnTo>
                  <a:lnTo>
                    <a:pt x="3285185" y="77901"/>
                  </a:lnTo>
                  <a:lnTo>
                    <a:pt x="3274974" y="64160"/>
                  </a:lnTo>
                  <a:lnTo>
                    <a:pt x="3263798" y="51866"/>
                  </a:lnTo>
                  <a:lnTo>
                    <a:pt x="3222104" y="20726"/>
                  </a:lnTo>
                  <a:lnTo>
                    <a:pt x="3173590" y="3340"/>
                  </a:lnTo>
                  <a:lnTo>
                    <a:pt x="3139376" y="0"/>
                  </a:lnTo>
                  <a:lnTo>
                    <a:pt x="95250" y="0"/>
                  </a:lnTo>
                  <a:lnTo>
                    <a:pt x="87744" y="368"/>
                  </a:lnTo>
                  <a:lnTo>
                    <a:pt x="80391" y="1460"/>
                  </a:lnTo>
                  <a:lnTo>
                    <a:pt x="76200" y="2527"/>
                  </a:lnTo>
                  <a:lnTo>
                    <a:pt x="76200" y="0"/>
                  </a:lnTo>
                  <a:lnTo>
                    <a:pt x="71196" y="0"/>
                  </a:lnTo>
                  <a:lnTo>
                    <a:pt x="66243" y="495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1819275"/>
                  </a:lnTo>
                  <a:lnTo>
                    <a:pt x="0" y="1824278"/>
                  </a:lnTo>
                  <a:lnTo>
                    <a:pt x="15621" y="1865769"/>
                  </a:lnTo>
                  <a:lnTo>
                    <a:pt x="51663" y="1891588"/>
                  </a:lnTo>
                  <a:lnTo>
                    <a:pt x="71196" y="1895475"/>
                  </a:lnTo>
                  <a:lnTo>
                    <a:pt x="76200" y="1895475"/>
                  </a:lnTo>
                  <a:lnTo>
                    <a:pt x="76200" y="1892985"/>
                  </a:lnTo>
                  <a:lnTo>
                    <a:pt x="80391" y="1894027"/>
                  </a:lnTo>
                  <a:lnTo>
                    <a:pt x="87744" y="1895119"/>
                  </a:lnTo>
                  <a:lnTo>
                    <a:pt x="95250" y="1895475"/>
                  </a:lnTo>
                  <a:lnTo>
                    <a:pt x="3139376" y="1895475"/>
                  </a:lnTo>
                  <a:lnTo>
                    <a:pt x="3156648" y="1894649"/>
                  </a:lnTo>
                  <a:lnTo>
                    <a:pt x="3173095" y="1892223"/>
                  </a:lnTo>
                  <a:lnTo>
                    <a:pt x="3173298" y="1892223"/>
                  </a:lnTo>
                  <a:lnTo>
                    <a:pt x="3218561" y="1876425"/>
                  </a:lnTo>
                  <a:lnTo>
                    <a:pt x="3263354" y="1844128"/>
                  </a:lnTo>
                  <a:lnTo>
                    <a:pt x="3293973" y="1802879"/>
                  </a:lnTo>
                  <a:lnTo>
                    <a:pt x="3311372" y="1754365"/>
                  </a:lnTo>
                  <a:lnTo>
                    <a:pt x="3314700" y="1720151"/>
                  </a:lnTo>
                  <a:lnTo>
                    <a:pt x="3314700" y="175336"/>
                  </a:lnTo>
                  <a:close/>
                </a:path>
              </a:pathLst>
            </a:custGeom>
            <a:solidFill>
              <a:srgbClr val="008B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266852" y="3876422"/>
            <a:ext cx="2887345" cy="148907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300" b="1" spc="-25" dirty="0">
                <a:solidFill>
                  <a:srgbClr val="00002E"/>
                </a:solidFill>
                <a:latin typeface="Trebuchet MS"/>
                <a:cs typeface="Trebuchet MS"/>
              </a:rPr>
              <a:t>Device</a:t>
            </a:r>
            <a:r>
              <a:rPr sz="1300" b="1" spc="-6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00002E"/>
                </a:solidFill>
                <a:latin typeface="Trebuchet MS"/>
                <a:cs typeface="Trebuchet MS"/>
              </a:rPr>
              <a:t>Mismatch</a:t>
            </a:r>
            <a:r>
              <a:rPr sz="1300" b="1" spc="-5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50" dirty="0">
                <a:solidFill>
                  <a:srgbClr val="00002E"/>
                </a:solidFill>
                <a:latin typeface="Trebuchet MS"/>
                <a:cs typeface="Trebuchet MS"/>
              </a:rPr>
              <a:t>in </a:t>
            </a: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Training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ct val="119300"/>
              </a:lnSpc>
              <a:spcBef>
                <a:spcPts val="409"/>
              </a:spcBef>
            </a:pPr>
            <a:r>
              <a:rPr sz="1100" b="1" spc="-110" dirty="0">
                <a:solidFill>
                  <a:srgbClr val="00002E"/>
                </a:solidFill>
                <a:latin typeface="Tahoma"/>
                <a:cs typeface="Tahoma"/>
              </a:rPr>
              <a:t>Problem:</a:t>
            </a:r>
            <a:r>
              <a:rPr sz="1100" b="1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Model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on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GPU,</a:t>
            </a:r>
            <a:r>
              <a:rPr sz="1100" spc="-17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validation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data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on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CPU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caused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crashes</a:t>
            </a:r>
            <a:endParaRPr sz="1100">
              <a:latin typeface="Verdana"/>
              <a:cs typeface="Verdana"/>
            </a:endParaRPr>
          </a:p>
          <a:p>
            <a:pPr marL="12700" marR="14604">
              <a:lnSpc>
                <a:spcPct val="113599"/>
              </a:lnSpc>
              <a:spcBef>
                <a:spcPts val="525"/>
              </a:spcBef>
            </a:pPr>
            <a:r>
              <a:rPr sz="1100" b="1" spc="-85" dirty="0">
                <a:solidFill>
                  <a:srgbClr val="00002E"/>
                </a:solidFill>
                <a:latin typeface="Tahoma"/>
                <a:cs typeface="Tahoma"/>
              </a:rPr>
              <a:t>Solution:</a:t>
            </a:r>
            <a:r>
              <a:rPr sz="1100" b="1" spc="2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Modified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metrics.py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 to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explicitly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move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tensors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correct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device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100" b="1" spc="-130" dirty="0">
                <a:solidFill>
                  <a:srgbClr val="00002E"/>
                </a:solidFill>
                <a:latin typeface="Tahoma"/>
                <a:cs typeface="Tahoma"/>
              </a:rPr>
              <a:t>Impact:</a:t>
            </a:r>
            <a:r>
              <a:rPr sz="1100" b="1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GPU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training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completed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successfully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849" y="500792"/>
            <a:ext cx="419481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/>
              <a:t>Post-</a:t>
            </a:r>
            <a:r>
              <a:rPr sz="2000" spc="-60" dirty="0"/>
              <a:t>Tokenization</a:t>
            </a:r>
            <a:r>
              <a:rPr sz="2000" spc="10" dirty="0"/>
              <a:t> </a:t>
            </a:r>
            <a:r>
              <a:rPr sz="2000" spc="50" dirty="0"/>
              <a:t>Data</a:t>
            </a:r>
            <a:r>
              <a:rPr sz="2000" spc="10" dirty="0"/>
              <a:t> </a:t>
            </a:r>
            <a:r>
              <a:rPr sz="2000" spc="-10" dirty="0"/>
              <a:t>Preparation</a:t>
            </a:r>
            <a:endParaRPr sz="2000"/>
          </a:p>
        </p:txBody>
      </p:sp>
      <p:grpSp>
        <p:nvGrpSpPr>
          <p:cNvPr id="3" name="object 3"/>
          <p:cNvGrpSpPr/>
          <p:nvPr/>
        </p:nvGrpSpPr>
        <p:grpSpPr>
          <a:xfrm>
            <a:off x="583677" y="1183768"/>
            <a:ext cx="504825" cy="1395730"/>
            <a:chOff x="583677" y="1183768"/>
            <a:chExt cx="504825" cy="1395730"/>
          </a:xfrm>
        </p:grpSpPr>
        <p:sp>
          <p:nvSpPr>
            <p:cNvPr id="4" name="object 4"/>
            <p:cNvSpPr/>
            <p:nvPr/>
          </p:nvSpPr>
          <p:spPr>
            <a:xfrm>
              <a:off x="590533" y="1190624"/>
              <a:ext cx="329565" cy="658495"/>
            </a:xfrm>
            <a:custGeom>
              <a:avLst/>
              <a:gdLst/>
              <a:ahLst/>
              <a:cxnLst/>
              <a:rect l="l" t="t" r="r" b="b"/>
              <a:pathLst>
                <a:path w="329565" h="658494">
                  <a:moveTo>
                    <a:pt x="164546" y="658117"/>
                  </a:moveTo>
                  <a:lnTo>
                    <a:pt x="0" y="493588"/>
                  </a:lnTo>
                  <a:lnTo>
                    <a:pt x="54848" y="493588"/>
                  </a:lnTo>
                  <a:lnTo>
                    <a:pt x="54848" y="0"/>
                  </a:lnTo>
                  <a:lnTo>
                    <a:pt x="274243" y="0"/>
                  </a:lnTo>
                  <a:lnTo>
                    <a:pt x="274243" y="493588"/>
                  </a:lnTo>
                  <a:lnTo>
                    <a:pt x="329092" y="493588"/>
                  </a:lnTo>
                  <a:lnTo>
                    <a:pt x="164546" y="658117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0533" y="1190624"/>
              <a:ext cx="329565" cy="658495"/>
            </a:xfrm>
            <a:custGeom>
              <a:avLst/>
              <a:gdLst/>
              <a:ahLst/>
              <a:cxnLst/>
              <a:rect l="l" t="t" r="r" b="b"/>
              <a:pathLst>
                <a:path w="329565" h="658494">
                  <a:moveTo>
                    <a:pt x="54848" y="0"/>
                  </a:moveTo>
                  <a:lnTo>
                    <a:pt x="274243" y="0"/>
                  </a:lnTo>
                  <a:lnTo>
                    <a:pt x="274243" y="493588"/>
                  </a:lnTo>
                  <a:lnTo>
                    <a:pt x="329092" y="493588"/>
                  </a:lnTo>
                  <a:lnTo>
                    <a:pt x="164546" y="658117"/>
                  </a:lnTo>
                  <a:lnTo>
                    <a:pt x="0" y="493588"/>
                  </a:lnTo>
                  <a:lnTo>
                    <a:pt x="54848" y="493588"/>
                  </a:lnTo>
                  <a:lnTo>
                    <a:pt x="54848" y="0"/>
                  </a:lnTo>
                  <a:close/>
                </a:path>
              </a:pathLst>
            </a:custGeom>
            <a:ln w="13712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2458" y="1914524"/>
              <a:ext cx="329565" cy="658495"/>
            </a:xfrm>
            <a:custGeom>
              <a:avLst/>
              <a:gdLst/>
              <a:ahLst/>
              <a:cxnLst/>
              <a:rect l="l" t="t" r="r" b="b"/>
              <a:pathLst>
                <a:path w="329565" h="658494">
                  <a:moveTo>
                    <a:pt x="164546" y="658117"/>
                  </a:moveTo>
                  <a:lnTo>
                    <a:pt x="0" y="493588"/>
                  </a:lnTo>
                  <a:lnTo>
                    <a:pt x="54848" y="493588"/>
                  </a:lnTo>
                  <a:lnTo>
                    <a:pt x="54848" y="0"/>
                  </a:lnTo>
                  <a:lnTo>
                    <a:pt x="274243" y="0"/>
                  </a:lnTo>
                  <a:lnTo>
                    <a:pt x="274243" y="493588"/>
                  </a:lnTo>
                  <a:lnTo>
                    <a:pt x="329092" y="493588"/>
                  </a:lnTo>
                  <a:lnTo>
                    <a:pt x="164546" y="658117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2458" y="1914524"/>
              <a:ext cx="329565" cy="658495"/>
            </a:xfrm>
            <a:custGeom>
              <a:avLst/>
              <a:gdLst/>
              <a:ahLst/>
              <a:cxnLst/>
              <a:rect l="l" t="t" r="r" b="b"/>
              <a:pathLst>
                <a:path w="329565" h="658494">
                  <a:moveTo>
                    <a:pt x="54848" y="0"/>
                  </a:moveTo>
                  <a:lnTo>
                    <a:pt x="274243" y="0"/>
                  </a:lnTo>
                  <a:lnTo>
                    <a:pt x="274243" y="493588"/>
                  </a:lnTo>
                  <a:lnTo>
                    <a:pt x="329092" y="493588"/>
                  </a:lnTo>
                  <a:lnTo>
                    <a:pt x="164546" y="658117"/>
                  </a:lnTo>
                  <a:lnTo>
                    <a:pt x="0" y="493588"/>
                  </a:lnTo>
                  <a:lnTo>
                    <a:pt x="54848" y="493588"/>
                  </a:lnTo>
                  <a:lnTo>
                    <a:pt x="54848" y="0"/>
                  </a:lnTo>
                  <a:close/>
                </a:path>
              </a:pathLst>
            </a:custGeom>
            <a:ln w="13712">
              <a:solidFill>
                <a:srgbClr val="008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17052" y="2631568"/>
            <a:ext cx="342900" cy="671830"/>
            <a:chOff x="917052" y="2631568"/>
            <a:chExt cx="342900" cy="671830"/>
          </a:xfrm>
        </p:grpSpPr>
        <p:sp>
          <p:nvSpPr>
            <p:cNvPr id="9" name="object 9"/>
            <p:cNvSpPr/>
            <p:nvPr/>
          </p:nvSpPr>
          <p:spPr>
            <a:xfrm>
              <a:off x="923908" y="2638424"/>
              <a:ext cx="329565" cy="658495"/>
            </a:xfrm>
            <a:custGeom>
              <a:avLst/>
              <a:gdLst/>
              <a:ahLst/>
              <a:cxnLst/>
              <a:rect l="l" t="t" r="r" b="b"/>
              <a:pathLst>
                <a:path w="329565" h="658495">
                  <a:moveTo>
                    <a:pt x="164546" y="658117"/>
                  </a:moveTo>
                  <a:lnTo>
                    <a:pt x="0" y="493588"/>
                  </a:lnTo>
                  <a:lnTo>
                    <a:pt x="54848" y="493588"/>
                  </a:lnTo>
                  <a:lnTo>
                    <a:pt x="54848" y="0"/>
                  </a:lnTo>
                  <a:lnTo>
                    <a:pt x="274243" y="0"/>
                  </a:lnTo>
                  <a:lnTo>
                    <a:pt x="274243" y="493588"/>
                  </a:lnTo>
                  <a:lnTo>
                    <a:pt x="329092" y="493588"/>
                  </a:lnTo>
                  <a:lnTo>
                    <a:pt x="164546" y="658117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23908" y="2638424"/>
              <a:ext cx="329565" cy="658495"/>
            </a:xfrm>
            <a:custGeom>
              <a:avLst/>
              <a:gdLst/>
              <a:ahLst/>
              <a:cxnLst/>
              <a:rect l="l" t="t" r="r" b="b"/>
              <a:pathLst>
                <a:path w="329565" h="658495">
                  <a:moveTo>
                    <a:pt x="54848" y="0"/>
                  </a:moveTo>
                  <a:lnTo>
                    <a:pt x="274243" y="0"/>
                  </a:lnTo>
                  <a:lnTo>
                    <a:pt x="274243" y="493588"/>
                  </a:lnTo>
                  <a:lnTo>
                    <a:pt x="329092" y="493588"/>
                  </a:lnTo>
                  <a:lnTo>
                    <a:pt x="164546" y="658117"/>
                  </a:lnTo>
                  <a:lnTo>
                    <a:pt x="0" y="493588"/>
                  </a:lnTo>
                  <a:lnTo>
                    <a:pt x="54848" y="493588"/>
                  </a:lnTo>
                  <a:lnTo>
                    <a:pt x="54848" y="0"/>
                  </a:lnTo>
                  <a:close/>
                </a:path>
              </a:pathLst>
            </a:custGeom>
            <a:ln w="13712">
              <a:solidFill>
                <a:srgbClr val="D93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17052" y="3355468"/>
            <a:ext cx="504825" cy="1386205"/>
            <a:chOff x="917052" y="3355468"/>
            <a:chExt cx="504825" cy="1386205"/>
          </a:xfrm>
        </p:grpSpPr>
        <p:sp>
          <p:nvSpPr>
            <p:cNvPr id="12" name="object 12"/>
            <p:cNvSpPr/>
            <p:nvPr/>
          </p:nvSpPr>
          <p:spPr>
            <a:xfrm>
              <a:off x="1085833" y="3362324"/>
              <a:ext cx="329565" cy="658495"/>
            </a:xfrm>
            <a:custGeom>
              <a:avLst/>
              <a:gdLst/>
              <a:ahLst/>
              <a:cxnLst/>
              <a:rect l="l" t="t" r="r" b="b"/>
              <a:pathLst>
                <a:path w="329565" h="658495">
                  <a:moveTo>
                    <a:pt x="164546" y="658117"/>
                  </a:moveTo>
                  <a:lnTo>
                    <a:pt x="0" y="493588"/>
                  </a:lnTo>
                  <a:lnTo>
                    <a:pt x="54848" y="493588"/>
                  </a:lnTo>
                  <a:lnTo>
                    <a:pt x="54848" y="0"/>
                  </a:lnTo>
                  <a:lnTo>
                    <a:pt x="274243" y="0"/>
                  </a:lnTo>
                  <a:lnTo>
                    <a:pt x="274243" y="493588"/>
                  </a:lnTo>
                  <a:lnTo>
                    <a:pt x="329092" y="493588"/>
                  </a:lnTo>
                  <a:lnTo>
                    <a:pt x="164546" y="658117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85833" y="3362324"/>
              <a:ext cx="329565" cy="658495"/>
            </a:xfrm>
            <a:custGeom>
              <a:avLst/>
              <a:gdLst/>
              <a:ahLst/>
              <a:cxnLst/>
              <a:rect l="l" t="t" r="r" b="b"/>
              <a:pathLst>
                <a:path w="329565" h="658495">
                  <a:moveTo>
                    <a:pt x="54848" y="0"/>
                  </a:moveTo>
                  <a:lnTo>
                    <a:pt x="274243" y="0"/>
                  </a:lnTo>
                  <a:lnTo>
                    <a:pt x="274243" y="493588"/>
                  </a:lnTo>
                  <a:lnTo>
                    <a:pt x="329092" y="493588"/>
                  </a:lnTo>
                  <a:lnTo>
                    <a:pt x="164546" y="658117"/>
                  </a:lnTo>
                  <a:lnTo>
                    <a:pt x="0" y="493588"/>
                  </a:lnTo>
                  <a:lnTo>
                    <a:pt x="54848" y="493588"/>
                  </a:lnTo>
                  <a:lnTo>
                    <a:pt x="54848" y="0"/>
                  </a:lnTo>
                  <a:close/>
                </a:path>
              </a:pathLst>
            </a:custGeom>
            <a:ln w="13712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3908" y="4076699"/>
              <a:ext cx="329565" cy="658495"/>
            </a:xfrm>
            <a:custGeom>
              <a:avLst/>
              <a:gdLst/>
              <a:ahLst/>
              <a:cxnLst/>
              <a:rect l="l" t="t" r="r" b="b"/>
              <a:pathLst>
                <a:path w="329565" h="658495">
                  <a:moveTo>
                    <a:pt x="164546" y="658117"/>
                  </a:moveTo>
                  <a:lnTo>
                    <a:pt x="0" y="493588"/>
                  </a:lnTo>
                  <a:lnTo>
                    <a:pt x="54848" y="493588"/>
                  </a:lnTo>
                  <a:lnTo>
                    <a:pt x="54848" y="0"/>
                  </a:lnTo>
                  <a:lnTo>
                    <a:pt x="274243" y="0"/>
                  </a:lnTo>
                  <a:lnTo>
                    <a:pt x="274243" y="493588"/>
                  </a:lnTo>
                  <a:lnTo>
                    <a:pt x="329092" y="493588"/>
                  </a:lnTo>
                  <a:lnTo>
                    <a:pt x="164546" y="658117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3908" y="4076699"/>
              <a:ext cx="329565" cy="658495"/>
            </a:xfrm>
            <a:custGeom>
              <a:avLst/>
              <a:gdLst/>
              <a:ahLst/>
              <a:cxnLst/>
              <a:rect l="l" t="t" r="r" b="b"/>
              <a:pathLst>
                <a:path w="329565" h="658495">
                  <a:moveTo>
                    <a:pt x="54848" y="0"/>
                  </a:moveTo>
                  <a:lnTo>
                    <a:pt x="274243" y="0"/>
                  </a:lnTo>
                  <a:lnTo>
                    <a:pt x="274243" y="493588"/>
                  </a:lnTo>
                  <a:lnTo>
                    <a:pt x="329092" y="493588"/>
                  </a:lnTo>
                  <a:lnTo>
                    <a:pt x="164546" y="658117"/>
                  </a:lnTo>
                  <a:lnTo>
                    <a:pt x="0" y="493588"/>
                  </a:lnTo>
                  <a:lnTo>
                    <a:pt x="54848" y="493588"/>
                  </a:lnTo>
                  <a:lnTo>
                    <a:pt x="54848" y="0"/>
                  </a:lnTo>
                  <a:close/>
                </a:path>
              </a:pathLst>
            </a:custGeom>
            <a:ln w="13712">
              <a:solidFill>
                <a:srgbClr val="008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77849" y="963517"/>
            <a:ext cx="5140325" cy="35674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75" dirty="0">
                <a:solidFill>
                  <a:srgbClr val="00002E"/>
                </a:solidFill>
                <a:latin typeface="Verdana"/>
                <a:cs typeface="Verdana"/>
              </a:rPr>
              <a:t>Converting</a:t>
            </a:r>
            <a:r>
              <a:rPr sz="850" spc="-2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75" dirty="0">
                <a:solidFill>
                  <a:srgbClr val="00002E"/>
                </a:solidFill>
                <a:latin typeface="Verdana"/>
                <a:cs typeface="Verdana"/>
              </a:rPr>
              <a:t>tokenized</a:t>
            </a:r>
            <a:r>
              <a:rPr sz="85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parquet</a:t>
            </a:r>
            <a:r>
              <a:rPr sz="85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45" dirty="0">
                <a:solidFill>
                  <a:srgbClr val="00002E"/>
                </a:solidFill>
                <a:latin typeface="Verdana"/>
                <a:cs typeface="Verdana"/>
              </a:rPr>
              <a:t>files</a:t>
            </a:r>
            <a:r>
              <a:rPr sz="85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60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850" spc="-2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safetensors</a:t>
            </a:r>
            <a:r>
              <a:rPr sz="85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format</a:t>
            </a:r>
            <a:r>
              <a:rPr sz="85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60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85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60" dirty="0">
                <a:solidFill>
                  <a:srgbClr val="00002E"/>
                </a:solidFill>
                <a:latin typeface="Verdana"/>
                <a:cs typeface="Verdana"/>
              </a:rPr>
              <a:t>efficient,</a:t>
            </a:r>
            <a:r>
              <a:rPr sz="850" spc="-10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secure</a:t>
            </a:r>
            <a:r>
              <a:rPr sz="850" spc="-1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70" dirty="0">
                <a:solidFill>
                  <a:srgbClr val="00002E"/>
                </a:solidFill>
                <a:latin typeface="Verdana"/>
                <a:cs typeface="Verdana"/>
              </a:rPr>
              <a:t>training-</a:t>
            </a:r>
            <a:r>
              <a:rPr sz="850" spc="-90" dirty="0">
                <a:solidFill>
                  <a:srgbClr val="00002E"/>
                </a:solidFill>
                <a:latin typeface="Verdana"/>
                <a:cs typeface="Verdana"/>
              </a:rPr>
              <a:t>ready</a:t>
            </a:r>
            <a:r>
              <a:rPr sz="85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00002E"/>
                </a:solidFill>
                <a:latin typeface="Verdana"/>
                <a:cs typeface="Verdana"/>
              </a:rPr>
              <a:t>data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850">
              <a:latin typeface="Verdana"/>
              <a:cs typeface="Verdana"/>
            </a:endParaRPr>
          </a:p>
          <a:p>
            <a:pPr marL="405765">
              <a:lnSpc>
                <a:spcPct val="100000"/>
              </a:lnSpc>
            </a:pPr>
            <a:r>
              <a:rPr sz="1000" b="1" dirty="0">
                <a:solidFill>
                  <a:srgbClr val="00002E"/>
                </a:solidFill>
                <a:latin typeface="Trebuchet MS"/>
                <a:cs typeface="Trebuchet MS"/>
              </a:rPr>
              <a:t>Load</a:t>
            </a:r>
            <a:r>
              <a:rPr sz="1000" b="1" spc="-2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000" b="1" spc="-35" dirty="0">
                <a:solidFill>
                  <a:srgbClr val="00002E"/>
                </a:solidFill>
                <a:latin typeface="Trebuchet MS"/>
                <a:cs typeface="Trebuchet MS"/>
              </a:rPr>
              <a:t>Tokenized</a:t>
            </a:r>
            <a:r>
              <a:rPr sz="1000" b="1" spc="-1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00002E"/>
                </a:solidFill>
                <a:latin typeface="Trebuchet MS"/>
                <a:cs typeface="Trebuchet MS"/>
              </a:rPr>
              <a:t>Parquet</a:t>
            </a:r>
            <a:endParaRPr sz="1000">
              <a:latin typeface="Trebuchet MS"/>
              <a:cs typeface="Trebuchet MS"/>
            </a:endParaRPr>
          </a:p>
          <a:p>
            <a:pPr marL="405765">
              <a:lnSpc>
                <a:spcPct val="100000"/>
              </a:lnSpc>
              <a:spcBef>
                <a:spcPts val="450"/>
              </a:spcBef>
            </a:pPr>
            <a:r>
              <a:rPr sz="850" spc="-105" dirty="0">
                <a:solidFill>
                  <a:srgbClr val="00002E"/>
                </a:solidFill>
                <a:latin typeface="Verdana"/>
                <a:cs typeface="Verdana"/>
              </a:rPr>
              <a:t>Train:</a:t>
            </a:r>
            <a:r>
              <a:rPr sz="8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5" dirty="0">
                <a:solidFill>
                  <a:srgbClr val="00002E"/>
                </a:solidFill>
                <a:latin typeface="Verdana"/>
                <a:cs typeface="Verdana"/>
              </a:rPr>
              <a:t>17,429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events</a:t>
            </a:r>
            <a:r>
              <a:rPr sz="8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from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356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patients.</a:t>
            </a:r>
            <a:r>
              <a:rPr sz="850" spc="-1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20" dirty="0">
                <a:solidFill>
                  <a:srgbClr val="00002E"/>
                </a:solidFill>
                <a:latin typeface="Verdana"/>
                <a:cs typeface="Verdana"/>
              </a:rPr>
              <a:t>Test:</a:t>
            </a:r>
            <a:r>
              <a:rPr sz="8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0" dirty="0">
                <a:solidFill>
                  <a:srgbClr val="00002E"/>
                </a:solidFill>
                <a:latin typeface="Verdana"/>
                <a:cs typeface="Verdana"/>
              </a:rPr>
              <a:t>1,827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events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from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75" dirty="0">
                <a:solidFill>
                  <a:srgbClr val="00002E"/>
                </a:solidFill>
                <a:latin typeface="Verdana"/>
                <a:cs typeface="Verdana"/>
              </a:rPr>
              <a:t>39</a:t>
            </a:r>
            <a:r>
              <a:rPr sz="8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00002E"/>
                </a:solidFill>
                <a:latin typeface="Verdana"/>
                <a:cs typeface="Verdana"/>
              </a:rPr>
              <a:t>patients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850">
              <a:latin typeface="Verdana"/>
              <a:cs typeface="Verdana"/>
            </a:endParaRPr>
          </a:p>
          <a:p>
            <a:pPr marL="570230">
              <a:lnSpc>
                <a:spcPct val="100000"/>
              </a:lnSpc>
              <a:spcBef>
                <a:spcPts val="5"/>
              </a:spcBef>
            </a:pPr>
            <a:r>
              <a:rPr sz="1000" b="1" dirty="0">
                <a:solidFill>
                  <a:srgbClr val="00002E"/>
                </a:solidFill>
                <a:latin typeface="Trebuchet MS"/>
                <a:cs typeface="Trebuchet MS"/>
              </a:rPr>
              <a:t>Build</a:t>
            </a:r>
            <a:r>
              <a:rPr sz="1000" b="1" spc="-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00002E"/>
                </a:solidFill>
                <a:latin typeface="Trebuchet MS"/>
                <a:cs typeface="Trebuchet MS"/>
              </a:rPr>
              <a:t>Vocabulary</a:t>
            </a:r>
            <a:endParaRPr sz="1000">
              <a:latin typeface="Trebuchet MS"/>
              <a:cs typeface="Trebuchet MS"/>
            </a:endParaRPr>
          </a:p>
          <a:p>
            <a:pPr marL="570230">
              <a:lnSpc>
                <a:spcPct val="100000"/>
              </a:lnSpc>
              <a:spcBef>
                <a:spcPts val="450"/>
              </a:spcBef>
            </a:pPr>
            <a:r>
              <a:rPr sz="850" spc="-75" dirty="0">
                <a:solidFill>
                  <a:srgbClr val="00002E"/>
                </a:solidFill>
                <a:latin typeface="Verdana"/>
                <a:cs typeface="Verdana"/>
              </a:rPr>
              <a:t>Extract</a:t>
            </a:r>
            <a:r>
              <a:rPr sz="8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70" dirty="0">
                <a:solidFill>
                  <a:srgbClr val="00002E"/>
                </a:solidFill>
                <a:latin typeface="Verdana"/>
                <a:cs typeface="Verdana"/>
              </a:rPr>
              <a:t>unique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0" dirty="0">
                <a:solidFill>
                  <a:srgbClr val="00002E"/>
                </a:solidFill>
                <a:latin typeface="Verdana"/>
                <a:cs typeface="Verdana"/>
              </a:rPr>
              <a:t>codes,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add</a:t>
            </a:r>
            <a:r>
              <a:rPr sz="8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60" dirty="0">
                <a:solidFill>
                  <a:srgbClr val="00002E"/>
                </a:solidFill>
                <a:latin typeface="Verdana"/>
                <a:cs typeface="Verdana"/>
              </a:rPr>
              <a:t>special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tokens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45" dirty="0">
                <a:solidFill>
                  <a:srgbClr val="00002E"/>
                </a:solidFill>
                <a:latin typeface="Verdana"/>
                <a:cs typeface="Verdana"/>
              </a:rPr>
              <a:t>(,</a:t>
            </a:r>
            <a:r>
              <a:rPr sz="850" spc="-1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25" dirty="0">
                <a:solidFill>
                  <a:srgbClr val="00002E"/>
                </a:solidFill>
                <a:latin typeface="Verdana"/>
                <a:cs typeface="Verdana"/>
              </a:rPr>
              <a:t>, ,</a:t>
            </a:r>
            <a:r>
              <a:rPr sz="850" spc="-12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45" dirty="0">
                <a:solidFill>
                  <a:srgbClr val="00002E"/>
                </a:solidFill>
                <a:latin typeface="Verdana"/>
                <a:cs typeface="Verdana"/>
              </a:rPr>
              <a:t>),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75" dirty="0">
                <a:solidFill>
                  <a:srgbClr val="00002E"/>
                </a:solidFill>
                <a:latin typeface="Verdana"/>
                <a:cs typeface="Verdana"/>
              </a:rPr>
              <a:t>assign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0" dirty="0">
                <a:solidFill>
                  <a:srgbClr val="00002E"/>
                </a:solidFill>
                <a:latin typeface="Verdana"/>
                <a:cs typeface="Verdana"/>
              </a:rPr>
              <a:t>IDs</a:t>
            </a:r>
            <a:r>
              <a:rPr sz="85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0-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71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850">
              <a:latin typeface="Verdana"/>
              <a:cs typeface="Verdana"/>
            </a:endParaRPr>
          </a:p>
          <a:p>
            <a:pPr marR="3190240" algn="r">
              <a:lnSpc>
                <a:spcPct val="100000"/>
              </a:lnSpc>
            </a:pPr>
            <a:r>
              <a:rPr sz="1000" b="1" spc="-20" dirty="0">
                <a:solidFill>
                  <a:srgbClr val="00002E"/>
                </a:solidFill>
                <a:latin typeface="Trebuchet MS"/>
                <a:cs typeface="Trebuchet MS"/>
              </a:rPr>
              <a:t>Fix</a:t>
            </a:r>
            <a:r>
              <a:rPr sz="1000" b="1" spc="-2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00002E"/>
                </a:solidFill>
                <a:latin typeface="Trebuchet MS"/>
                <a:cs typeface="Trebuchet MS"/>
              </a:rPr>
              <a:t>Vocabulary</a:t>
            </a:r>
            <a:r>
              <a:rPr sz="1000" b="1" spc="-20" dirty="0">
                <a:solidFill>
                  <a:srgbClr val="00002E"/>
                </a:solidFill>
                <a:latin typeface="Trebuchet MS"/>
                <a:cs typeface="Trebuchet MS"/>
              </a:rPr>
              <a:t> Gaps</a:t>
            </a:r>
            <a:endParaRPr sz="1000">
              <a:latin typeface="Trebuchet MS"/>
              <a:cs typeface="Trebuchet MS"/>
            </a:endParaRPr>
          </a:p>
          <a:p>
            <a:pPr marL="734695">
              <a:lnSpc>
                <a:spcPct val="100000"/>
              </a:lnSpc>
              <a:spcBef>
                <a:spcPts val="450"/>
              </a:spcBef>
            </a:pP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Scan</a:t>
            </a:r>
            <a:r>
              <a:rPr sz="850" spc="-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static_data.pickle</a:t>
            </a:r>
            <a:r>
              <a:rPr sz="850" spc="-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60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8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demographics,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add</a:t>
            </a:r>
            <a:r>
              <a:rPr sz="850" spc="-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GENDER//M,</a:t>
            </a:r>
            <a:r>
              <a:rPr sz="85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GENDER//F, </a:t>
            </a:r>
            <a:r>
              <a:rPr sz="850" spc="-105" dirty="0">
                <a:solidFill>
                  <a:srgbClr val="00002E"/>
                </a:solidFill>
                <a:latin typeface="Verdana"/>
                <a:cs typeface="Verdana"/>
              </a:rPr>
              <a:t>MEDS_BIRTH</a:t>
            </a:r>
            <a:r>
              <a:rPr sz="850" spc="-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5" dirty="0">
                <a:solidFill>
                  <a:srgbClr val="00002E"/>
                </a:solidFill>
                <a:latin typeface="Verdana"/>
                <a:cs typeface="Verdana"/>
              </a:rPr>
              <a:t>(72</a:t>
            </a:r>
            <a:r>
              <a:rPr sz="8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00002E"/>
                </a:solidFill>
                <a:latin typeface="Verdana"/>
                <a:cs typeface="Verdana"/>
              </a:rPr>
              <a:t>total)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850">
              <a:latin typeface="Verdana"/>
              <a:cs typeface="Verdana"/>
            </a:endParaRPr>
          </a:p>
          <a:p>
            <a:pPr marR="3173095" algn="r">
              <a:lnSpc>
                <a:spcPct val="100000"/>
              </a:lnSpc>
            </a:pPr>
            <a:r>
              <a:rPr sz="1000" b="1" dirty="0">
                <a:solidFill>
                  <a:srgbClr val="00002E"/>
                </a:solidFill>
                <a:latin typeface="Trebuchet MS"/>
                <a:cs typeface="Trebuchet MS"/>
              </a:rPr>
              <a:t>Merge</a:t>
            </a:r>
            <a:r>
              <a:rPr sz="1000" b="1" spc="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00002E"/>
                </a:solidFill>
                <a:latin typeface="Trebuchet MS"/>
                <a:cs typeface="Trebuchet MS"/>
              </a:rPr>
              <a:t>Static</a:t>
            </a:r>
            <a:r>
              <a:rPr sz="1000" b="1" spc="1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00002E"/>
                </a:solidFill>
                <a:latin typeface="Trebuchet MS"/>
                <a:cs typeface="Trebuchet MS"/>
              </a:rPr>
              <a:t>Data</a:t>
            </a:r>
            <a:endParaRPr sz="1000">
              <a:latin typeface="Trebuchet MS"/>
              <a:cs typeface="Trebuchet MS"/>
            </a:endParaRPr>
          </a:p>
          <a:p>
            <a:pPr marR="499745" algn="r">
              <a:lnSpc>
                <a:spcPct val="100000"/>
              </a:lnSpc>
              <a:spcBef>
                <a:spcPts val="450"/>
              </a:spcBef>
            </a:pP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Combine</a:t>
            </a:r>
            <a:r>
              <a:rPr sz="8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65" dirty="0">
                <a:solidFill>
                  <a:srgbClr val="00002E"/>
                </a:solidFill>
                <a:latin typeface="Verdana"/>
                <a:cs typeface="Verdana"/>
              </a:rPr>
              <a:t>train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8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75" dirty="0">
                <a:solidFill>
                  <a:srgbClr val="00002E"/>
                </a:solidFill>
                <a:latin typeface="Verdana"/>
                <a:cs typeface="Verdana"/>
              </a:rPr>
              <a:t>test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70" dirty="0">
                <a:solidFill>
                  <a:srgbClr val="00002E"/>
                </a:solidFill>
                <a:latin typeface="Verdana"/>
                <a:cs typeface="Verdana"/>
              </a:rPr>
              <a:t>patient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demographics</a:t>
            </a:r>
            <a:r>
              <a:rPr sz="8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55" dirty="0">
                <a:solidFill>
                  <a:srgbClr val="00002E"/>
                </a:solidFill>
                <a:latin typeface="Verdana"/>
                <a:cs typeface="Verdana"/>
              </a:rPr>
              <a:t>into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60" dirty="0">
                <a:solidFill>
                  <a:srgbClr val="00002E"/>
                </a:solidFill>
                <a:latin typeface="Verdana"/>
                <a:cs typeface="Verdana"/>
              </a:rPr>
              <a:t>unified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dataset</a:t>
            </a:r>
            <a:r>
              <a:rPr sz="8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0" dirty="0">
                <a:solidFill>
                  <a:srgbClr val="00002E"/>
                </a:solidFill>
                <a:latin typeface="Verdana"/>
                <a:cs typeface="Verdana"/>
              </a:rPr>
              <a:t>(395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00002E"/>
                </a:solidFill>
                <a:latin typeface="Verdana"/>
                <a:cs typeface="Verdana"/>
              </a:rPr>
              <a:t>patients)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850">
              <a:latin typeface="Verdana"/>
              <a:cs typeface="Verdana"/>
            </a:endParaRPr>
          </a:p>
          <a:p>
            <a:pPr marL="734695">
              <a:lnSpc>
                <a:spcPct val="100000"/>
              </a:lnSpc>
            </a:pPr>
            <a:r>
              <a:rPr sz="1000" b="1" spc="-10" dirty="0">
                <a:solidFill>
                  <a:srgbClr val="00002E"/>
                </a:solidFill>
                <a:latin typeface="Trebuchet MS"/>
                <a:cs typeface="Trebuchet MS"/>
              </a:rPr>
              <a:t>Convert</a:t>
            </a:r>
            <a:r>
              <a:rPr sz="1000" b="1" spc="-6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00002E"/>
                </a:solidFill>
                <a:latin typeface="Trebuchet MS"/>
                <a:cs typeface="Trebuchet MS"/>
              </a:rPr>
              <a:t>to</a:t>
            </a:r>
            <a:r>
              <a:rPr sz="1000" b="1" spc="-5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00002E"/>
                </a:solidFill>
                <a:latin typeface="Trebuchet MS"/>
                <a:cs typeface="Trebuchet MS"/>
              </a:rPr>
              <a:t>Safetensors</a:t>
            </a:r>
            <a:endParaRPr sz="1000">
              <a:latin typeface="Trebuchet MS"/>
              <a:cs typeface="Trebuchet MS"/>
            </a:endParaRPr>
          </a:p>
          <a:p>
            <a:pPr marR="504190" algn="r">
              <a:lnSpc>
                <a:spcPct val="100000"/>
              </a:lnSpc>
              <a:spcBef>
                <a:spcPts val="450"/>
              </a:spcBef>
            </a:pPr>
            <a:r>
              <a:rPr sz="850" spc="-90" dirty="0">
                <a:solidFill>
                  <a:srgbClr val="00002E"/>
                </a:solidFill>
                <a:latin typeface="Verdana"/>
                <a:cs typeface="Verdana"/>
              </a:rPr>
              <a:t>Transform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70" dirty="0">
                <a:solidFill>
                  <a:srgbClr val="00002E"/>
                </a:solidFill>
                <a:latin typeface="Verdana"/>
                <a:cs typeface="Verdana"/>
              </a:rPr>
              <a:t>patient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65" dirty="0">
                <a:solidFill>
                  <a:srgbClr val="00002E"/>
                </a:solidFill>
                <a:latin typeface="Verdana"/>
                <a:cs typeface="Verdana"/>
              </a:rPr>
              <a:t>timelines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60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8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token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10" dirty="0">
                <a:solidFill>
                  <a:srgbClr val="00002E"/>
                </a:solidFill>
                <a:latin typeface="Verdana"/>
                <a:cs typeface="Verdana"/>
              </a:rPr>
              <a:t>ID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0" dirty="0">
                <a:solidFill>
                  <a:srgbClr val="00002E"/>
                </a:solidFill>
                <a:latin typeface="Verdana"/>
                <a:cs typeface="Verdana"/>
              </a:rPr>
              <a:t>sequences: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10" dirty="0">
                <a:solidFill>
                  <a:srgbClr val="00002E"/>
                </a:solidFill>
                <a:latin typeface="Verdana"/>
                <a:cs typeface="Verdana"/>
              </a:rPr>
              <a:t>[71,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69,</a:t>
            </a:r>
            <a:r>
              <a:rPr sz="850" spc="-1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5" dirty="0">
                <a:solidFill>
                  <a:srgbClr val="00002E"/>
                </a:solidFill>
                <a:latin typeface="Verdana"/>
                <a:cs typeface="Verdana"/>
              </a:rPr>
              <a:t>4,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23,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42,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11,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5" dirty="0">
                <a:solidFill>
                  <a:srgbClr val="00002E"/>
                </a:solidFill>
                <a:latin typeface="Verdana"/>
                <a:cs typeface="Verdana"/>
              </a:rPr>
              <a:t>6,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28,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12,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8]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1024" y="51530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1024" y="53149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1024" y="54768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5"/>
                </a:lnTo>
                <a:lnTo>
                  <a:pt x="0" y="21575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5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1024" y="56387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1024" y="57911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5"/>
                </a:lnTo>
                <a:lnTo>
                  <a:pt x="0" y="21575"/>
                </a:lnTo>
                <a:lnTo>
                  <a:pt x="0" y="16522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5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7849" y="4849431"/>
            <a:ext cx="2272030" cy="1033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b="1" dirty="0">
                <a:solidFill>
                  <a:srgbClr val="00002E"/>
                </a:solidFill>
                <a:latin typeface="Trebuchet MS"/>
                <a:cs typeface="Trebuchet MS"/>
              </a:rPr>
              <a:t>Output</a:t>
            </a:r>
            <a:r>
              <a:rPr sz="1000" b="1" spc="-4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00002E"/>
                </a:solidFill>
                <a:latin typeface="Trebuchet MS"/>
                <a:cs typeface="Trebuchet MS"/>
              </a:rPr>
              <a:t>Files</a:t>
            </a:r>
            <a:r>
              <a:rPr sz="1000" b="1" spc="-4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00002E"/>
                </a:solidFill>
                <a:latin typeface="Trebuchet MS"/>
                <a:cs typeface="Trebuchet MS"/>
              </a:rPr>
              <a:t>Generated</a:t>
            </a:r>
            <a:endParaRPr sz="1000">
              <a:latin typeface="Trebuchet MS"/>
              <a:cs typeface="Trebuchet MS"/>
            </a:endParaRPr>
          </a:p>
          <a:p>
            <a:pPr marL="187960" marR="5080">
              <a:lnSpc>
                <a:spcPct val="123200"/>
              </a:lnSpc>
              <a:spcBef>
                <a:spcPts val="434"/>
              </a:spcBef>
            </a:pP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0.safetensors</a:t>
            </a:r>
            <a:r>
              <a:rPr sz="850" spc="-1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-</a:t>
            </a:r>
            <a:r>
              <a:rPr sz="850" spc="-1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Train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data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0" dirty="0">
                <a:solidFill>
                  <a:srgbClr val="00002E"/>
                </a:solidFill>
                <a:latin typeface="Verdana"/>
                <a:cs typeface="Verdana"/>
              </a:rPr>
              <a:t>(356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00002E"/>
                </a:solidFill>
                <a:latin typeface="Verdana"/>
                <a:cs typeface="Verdana"/>
              </a:rPr>
              <a:t>patients)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1.safetensors</a:t>
            </a:r>
            <a:r>
              <a:rPr sz="850" spc="-114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-</a:t>
            </a:r>
            <a:r>
              <a:rPr sz="850" spc="-1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0" dirty="0">
                <a:solidFill>
                  <a:srgbClr val="00002E"/>
                </a:solidFill>
                <a:latin typeface="Verdana"/>
                <a:cs typeface="Verdana"/>
              </a:rPr>
              <a:t>Test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data</a:t>
            </a:r>
            <a:r>
              <a:rPr sz="85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5" dirty="0">
                <a:solidFill>
                  <a:srgbClr val="00002E"/>
                </a:solidFill>
                <a:latin typeface="Verdana"/>
                <a:cs typeface="Verdana"/>
              </a:rPr>
              <a:t>(39</a:t>
            </a:r>
            <a:r>
              <a:rPr sz="85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00002E"/>
                </a:solidFill>
                <a:latin typeface="Verdana"/>
                <a:cs typeface="Verdana"/>
              </a:rPr>
              <a:t>patients) </a:t>
            </a:r>
            <a:r>
              <a:rPr sz="850" spc="-95" dirty="0">
                <a:solidFill>
                  <a:srgbClr val="00002E"/>
                </a:solidFill>
                <a:latin typeface="Verdana"/>
                <a:cs typeface="Verdana"/>
              </a:rPr>
              <a:t>vocab_t72.csv</a:t>
            </a:r>
            <a:r>
              <a:rPr sz="850" spc="-12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-</a:t>
            </a:r>
            <a:r>
              <a:rPr sz="850" spc="-7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90" dirty="0">
                <a:solidFill>
                  <a:srgbClr val="00002E"/>
                </a:solidFill>
                <a:latin typeface="Verdana"/>
                <a:cs typeface="Verdana"/>
              </a:rPr>
              <a:t>Code-</a:t>
            </a:r>
            <a:r>
              <a:rPr sz="850" spc="-75" dirty="0">
                <a:solidFill>
                  <a:srgbClr val="00002E"/>
                </a:solidFill>
                <a:latin typeface="Verdana"/>
                <a:cs typeface="Verdana"/>
              </a:rPr>
              <a:t>to-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token</a:t>
            </a:r>
            <a:r>
              <a:rPr sz="850" spc="2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00002E"/>
                </a:solidFill>
                <a:latin typeface="Verdana"/>
                <a:cs typeface="Verdana"/>
              </a:rPr>
              <a:t>mapping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static_data.pickle</a:t>
            </a:r>
            <a:r>
              <a:rPr sz="85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- </a:t>
            </a:r>
            <a:r>
              <a:rPr sz="850" spc="-80" dirty="0">
                <a:solidFill>
                  <a:srgbClr val="00002E"/>
                </a:solidFill>
                <a:latin typeface="Verdana"/>
                <a:cs typeface="Verdana"/>
              </a:rPr>
              <a:t>Demographics</a:t>
            </a:r>
            <a:r>
              <a:rPr sz="850" spc="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0" dirty="0">
                <a:solidFill>
                  <a:srgbClr val="00002E"/>
                </a:solidFill>
                <a:latin typeface="Verdana"/>
                <a:cs typeface="Verdana"/>
              </a:rPr>
              <a:t>(395</a:t>
            </a:r>
            <a:r>
              <a:rPr sz="850" spc="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35" dirty="0">
                <a:solidFill>
                  <a:srgbClr val="00002E"/>
                </a:solidFill>
                <a:latin typeface="Verdana"/>
                <a:cs typeface="Verdana"/>
              </a:rPr>
              <a:t>total)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interval_estimates.json</a:t>
            </a:r>
            <a:r>
              <a:rPr sz="85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00002E"/>
                </a:solidFill>
                <a:latin typeface="Verdana"/>
                <a:cs typeface="Verdana"/>
              </a:rPr>
              <a:t>-</a:t>
            </a:r>
            <a:r>
              <a:rPr sz="850" spc="-90" dirty="0">
                <a:solidFill>
                  <a:srgbClr val="00002E"/>
                </a:solidFill>
                <a:latin typeface="Verdana"/>
                <a:cs typeface="Verdana"/>
              </a:rPr>
              <a:t> Temporal</a:t>
            </a:r>
            <a:r>
              <a:rPr sz="850" spc="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00002E"/>
                </a:solidFill>
                <a:latin typeface="Verdana"/>
                <a:cs typeface="Verdana"/>
              </a:rPr>
              <a:t>statistics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81674" y="4810125"/>
            <a:ext cx="5143500" cy="1095375"/>
          </a:xfrm>
          <a:custGeom>
            <a:avLst/>
            <a:gdLst/>
            <a:ahLst/>
            <a:cxnLst/>
            <a:rect l="l" t="t" r="r" b="b"/>
            <a:pathLst>
              <a:path w="5143500" h="1095375">
                <a:moveTo>
                  <a:pt x="4931290" y="1095374"/>
                </a:moveTo>
                <a:lnTo>
                  <a:pt x="212208" y="1095374"/>
                </a:lnTo>
                <a:lnTo>
                  <a:pt x="205040" y="1095022"/>
                </a:lnTo>
                <a:lnTo>
                  <a:pt x="162582" y="1088012"/>
                </a:lnTo>
                <a:lnTo>
                  <a:pt x="122308" y="1072856"/>
                </a:lnTo>
                <a:lnTo>
                  <a:pt x="85765" y="1050132"/>
                </a:lnTo>
                <a:lnTo>
                  <a:pt x="54358" y="1020717"/>
                </a:lnTo>
                <a:lnTo>
                  <a:pt x="29292" y="985738"/>
                </a:lnTo>
                <a:lnTo>
                  <a:pt x="11533" y="946542"/>
                </a:lnTo>
                <a:lnTo>
                  <a:pt x="1761" y="904635"/>
                </a:lnTo>
                <a:lnTo>
                  <a:pt x="0" y="875980"/>
                </a:lnTo>
                <a:lnTo>
                  <a:pt x="0" y="212208"/>
                </a:lnTo>
                <a:lnTo>
                  <a:pt x="5617" y="169544"/>
                </a:lnTo>
                <a:lnTo>
                  <a:pt x="19449" y="128796"/>
                </a:lnTo>
                <a:lnTo>
                  <a:pt x="40966" y="91530"/>
                </a:lnTo>
                <a:lnTo>
                  <a:pt x="69339" y="59177"/>
                </a:lnTo>
                <a:lnTo>
                  <a:pt x="103479" y="32982"/>
                </a:lnTo>
                <a:lnTo>
                  <a:pt x="142073" y="13950"/>
                </a:lnTo>
                <a:lnTo>
                  <a:pt x="183639" y="2813"/>
                </a:lnTo>
                <a:lnTo>
                  <a:pt x="212208" y="0"/>
                </a:lnTo>
                <a:lnTo>
                  <a:pt x="4931290" y="0"/>
                </a:lnTo>
                <a:lnTo>
                  <a:pt x="4973952" y="5617"/>
                </a:lnTo>
                <a:lnTo>
                  <a:pt x="5014700" y="19449"/>
                </a:lnTo>
                <a:lnTo>
                  <a:pt x="5051966" y="40966"/>
                </a:lnTo>
                <a:lnTo>
                  <a:pt x="5084320" y="69339"/>
                </a:lnTo>
                <a:lnTo>
                  <a:pt x="5110515" y="103478"/>
                </a:lnTo>
                <a:lnTo>
                  <a:pt x="5129548" y="142072"/>
                </a:lnTo>
                <a:lnTo>
                  <a:pt x="5140685" y="183639"/>
                </a:lnTo>
                <a:lnTo>
                  <a:pt x="5143500" y="212208"/>
                </a:lnTo>
                <a:lnTo>
                  <a:pt x="5143500" y="883166"/>
                </a:lnTo>
                <a:lnTo>
                  <a:pt x="5137882" y="925829"/>
                </a:lnTo>
                <a:lnTo>
                  <a:pt x="5124048" y="966576"/>
                </a:lnTo>
                <a:lnTo>
                  <a:pt x="5102531" y="1003843"/>
                </a:lnTo>
                <a:lnTo>
                  <a:pt x="5074158" y="1036196"/>
                </a:lnTo>
                <a:lnTo>
                  <a:pt x="5040017" y="1062391"/>
                </a:lnTo>
                <a:lnTo>
                  <a:pt x="5001423" y="1081424"/>
                </a:lnTo>
                <a:lnTo>
                  <a:pt x="4959858" y="1092560"/>
                </a:lnTo>
                <a:lnTo>
                  <a:pt x="4931290" y="1095374"/>
                </a:lnTo>
                <a:close/>
              </a:path>
            </a:pathLst>
          </a:custGeom>
          <a:solidFill>
            <a:srgbClr val="2D4DF1">
              <a:alpha val="7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876279" y="4849431"/>
            <a:ext cx="4723130" cy="528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b="1" spc="75" dirty="0">
                <a:solidFill>
                  <a:srgbClr val="FFFFFF"/>
                </a:solidFill>
                <a:latin typeface="Trebuchet MS"/>
                <a:cs typeface="Trebuchet MS"/>
              </a:rPr>
              <a:t>Why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Safetensors?</a:t>
            </a:r>
            <a:endParaRPr sz="1000">
              <a:latin typeface="Trebuchet MS"/>
              <a:cs typeface="Trebuchet MS"/>
            </a:endParaRPr>
          </a:p>
          <a:p>
            <a:pPr marL="12700" marR="5080">
              <a:lnSpc>
                <a:spcPct val="102899"/>
              </a:lnSpc>
              <a:spcBef>
                <a:spcPts val="645"/>
              </a:spcBef>
            </a:pPr>
            <a:r>
              <a:rPr sz="850" spc="-75" dirty="0">
                <a:solidFill>
                  <a:srgbClr val="FFFFFF"/>
                </a:solidFill>
                <a:latin typeface="Verdana"/>
                <a:cs typeface="Verdana"/>
              </a:rPr>
              <a:t>Fast</a:t>
            </a:r>
            <a:r>
              <a:rPr sz="8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60" dirty="0">
                <a:solidFill>
                  <a:srgbClr val="FFFFFF"/>
                </a:solidFill>
                <a:latin typeface="Verdana"/>
                <a:cs typeface="Verdana"/>
              </a:rPr>
              <a:t>loading</a:t>
            </a:r>
            <a:r>
              <a:rPr sz="8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90" dirty="0">
                <a:solidFill>
                  <a:srgbClr val="FFFFFF"/>
                </a:solidFill>
                <a:latin typeface="Verdana"/>
                <a:cs typeface="Verdana"/>
              </a:rPr>
              <a:t>speeds,</a:t>
            </a:r>
            <a:r>
              <a:rPr sz="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FFFFFF"/>
                </a:solidFill>
                <a:latin typeface="Verdana"/>
                <a:cs typeface="Verdana"/>
              </a:rPr>
              <a:t>secure</a:t>
            </a:r>
            <a:r>
              <a:rPr sz="8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FFFFFF"/>
                </a:solidFill>
                <a:latin typeface="Verdana"/>
                <a:cs typeface="Verdana"/>
              </a:rPr>
              <a:t>storage</a:t>
            </a:r>
            <a:r>
              <a:rPr sz="8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65" dirty="0">
                <a:solidFill>
                  <a:srgbClr val="FFFFFF"/>
                </a:solidFill>
                <a:latin typeface="Verdana"/>
                <a:cs typeface="Verdana"/>
              </a:rPr>
              <a:t>without</a:t>
            </a:r>
            <a:r>
              <a:rPr sz="8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FFFFFF"/>
                </a:solidFill>
                <a:latin typeface="Verdana"/>
                <a:cs typeface="Verdana"/>
              </a:rPr>
              <a:t>arbitrary</a:t>
            </a:r>
            <a:r>
              <a:rPr sz="8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75" dirty="0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r>
              <a:rPr sz="8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80" dirty="0">
                <a:solidFill>
                  <a:srgbClr val="FFFFFF"/>
                </a:solidFill>
                <a:latin typeface="Verdana"/>
                <a:cs typeface="Verdana"/>
              </a:rPr>
              <a:t>execution,</a:t>
            </a:r>
            <a:r>
              <a:rPr sz="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8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55" dirty="0">
                <a:solidFill>
                  <a:srgbClr val="FFFFFF"/>
                </a:solidFill>
                <a:latin typeface="Verdana"/>
                <a:cs typeface="Verdana"/>
              </a:rPr>
              <a:t>efficient</a:t>
            </a:r>
            <a:r>
              <a:rPr sz="8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105" dirty="0">
                <a:solidFill>
                  <a:srgbClr val="FFFFFF"/>
                </a:solidFill>
                <a:latin typeface="Verdana"/>
                <a:cs typeface="Verdana"/>
              </a:rPr>
              <a:t>memory</a:t>
            </a:r>
            <a:r>
              <a:rPr sz="8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85" dirty="0">
                <a:solidFill>
                  <a:srgbClr val="FFFFFF"/>
                </a:solidFill>
                <a:latin typeface="Verdana"/>
                <a:cs typeface="Verdana"/>
              </a:rPr>
              <a:t>usage</a:t>
            </a:r>
            <a:r>
              <a:rPr sz="85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Verdana"/>
                <a:cs typeface="Verdana"/>
              </a:rPr>
              <a:t>for </a:t>
            </a:r>
            <a:r>
              <a:rPr sz="850" spc="-75" dirty="0">
                <a:solidFill>
                  <a:srgbClr val="FFFFFF"/>
                </a:solidFill>
                <a:latin typeface="Verdana"/>
                <a:cs typeface="Verdana"/>
              </a:rPr>
              <a:t>large-</a:t>
            </a:r>
            <a:r>
              <a:rPr sz="850" spc="-65" dirty="0">
                <a:solidFill>
                  <a:srgbClr val="FFFFFF"/>
                </a:solidFill>
                <a:latin typeface="Verdana"/>
                <a:cs typeface="Verdana"/>
              </a:rPr>
              <a:t>scale</a:t>
            </a:r>
            <a:r>
              <a:rPr sz="85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Verdana"/>
                <a:cs typeface="Verdana"/>
              </a:rPr>
              <a:t>training</a:t>
            </a:r>
            <a:endParaRPr sz="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934" y="497935"/>
            <a:ext cx="7280909" cy="419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50" spc="-55" dirty="0"/>
              <a:t>Transformer</a:t>
            </a:r>
            <a:r>
              <a:rPr sz="2550" spc="-105" dirty="0"/>
              <a:t> </a:t>
            </a:r>
            <a:r>
              <a:rPr sz="2550" spc="-80" dirty="0"/>
              <a:t>Training:</a:t>
            </a:r>
            <a:r>
              <a:rPr sz="2550" spc="-105" dirty="0"/>
              <a:t> </a:t>
            </a:r>
            <a:r>
              <a:rPr sz="2550" spc="145" dirty="0"/>
              <a:t>GPU-</a:t>
            </a:r>
            <a:r>
              <a:rPr sz="2550" spc="-40" dirty="0"/>
              <a:t>Accelerated</a:t>
            </a:r>
            <a:r>
              <a:rPr sz="2550" spc="-105" dirty="0"/>
              <a:t> </a:t>
            </a:r>
            <a:r>
              <a:rPr sz="2550" spc="-10" dirty="0"/>
              <a:t>Learning</a:t>
            </a:r>
            <a:endParaRPr sz="2550"/>
          </a:p>
        </p:txBody>
      </p:sp>
      <p:sp>
        <p:nvSpPr>
          <p:cNvPr id="3" name="object 3"/>
          <p:cNvSpPr txBox="1"/>
          <p:nvPr/>
        </p:nvSpPr>
        <p:spPr>
          <a:xfrm>
            <a:off x="636934" y="1166590"/>
            <a:ext cx="1452245" cy="222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250" b="1" dirty="0">
                <a:solidFill>
                  <a:srgbClr val="00002E"/>
                </a:solidFill>
                <a:latin typeface="Trebuchet MS"/>
                <a:cs typeface="Trebuchet MS"/>
              </a:rPr>
              <a:t>Model</a:t>
            </a:r>
            <a:r>
              <a:rPr sz="1250" b="1" spc="16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250" b="1" spc="-10" dirty="0">
                <a:solidFill>
                  <a:srgbClr val="00002E"/>
                </a:solidFill>
                <a:latin typeface="Trebuchet MS"/>
                <a:cs typeface="Trebuchet MS"/>
              </a:rPr>
              <a:t>Architecture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7699" y="1514474"/>
            <a:ext cx="2133600" cy="685800"/>
            <a:chOff x="647699" y="1514474"/>
            <a:chExt cx="2133600" cy="685800"/>
          </a:xfrm>
        </p:grpSpPr>
        <p:sp>
          <p:nvSpPr>
            <p:cNvPr id="5" name="object 5"/>
            <p:cNvSpPr/>
            <p:nvPr/>
          </p:nvSpPr>
          <p:spPr>
            <a:xfrm>
              <a:off x="652462" y="1519237"/>
              <a:ext cx="2124075" cy="676275"/>
            </a:xfrm>
            <a:custGeom>
              <a:avLst/>
              <a:gdLst/>
              <a:ahLst/>
              <a:cxnLst/>
              <a:rect l="l" t="t" r="r" b="b"/>
              <a:pathLst>
                <a:path w="2124075" h="676275">
                  <a:moveTo>
                    <a:pt x="1954798" y="676274"/>
                  </a:moveTo>
                  <a:lnTo>
                    <a:pt x="169276" y="676274"/>
                  </a:lnTo>
                  <a:lnTo>
                    <a:pt x="160960" y="676071"/>
                  </a:lnTo>
                  <a:lnTo>
                    <a:pt x="120137" y="668987"/>
                  </a:lnTo>
                  <a:lnTo>
                    <a:pt x="82258" y="652197"/>
                  </a:lnTo>
                  <a:lnTo>
                    <a:pt x="49579" y="626694"/>
                  </a:lnTo>
                  <a:lnTo>
                    <a:pt x="24076" y="594015"/>
                  </a:lnTo>
                  <a:lnTo>
                    <a:pt x="7286" y="556137"/>
                  </a:lnTo>
                  <a:lnTo>
                    <a:pt x="203" y="515314"/>
                  </a:lnTo>
                  <a:lnTo>
                    <a:pt x="0" y="506998"/>
                  </a:lnTo>
                  <a:lnTo>
                    <a:pt x="0" y="169276"/>
                  </a:lnTo>
                  <a:lnTo>
                    <a:pt x="5074" y="128135"/>
                  </a:lnTo>
                  <a:lnTo>
                    <a:pt x="19986" y="89478"/>
                  </a:lnTo>
                  <a:lnTo>
                    <a:pt x="43843" y="55603"/>
                  </a:lnTo>
                  <a:lnTo>
                    <a:pt x="75231" y="28528"/>
                  </a:lnTo>
                  <a:lnTo>
                    <a:pt x="112257" y="9890"/>
                  </a:lnTo>
                  <a:lnTo>
                    <a:pt x="152683" y="813"/>
                  </a:lnTo>
                  <a:lnTo>
                    <a:pt x="169276" y="0"/>
                  </a:lnTo>
                  <a:lnTo>
                    <a:pt x="1954798" y="0"/>
                  </a:lnTo>
                  <a:lnTo>
                    <a:pt x="1995939" y="5074"/>
                  </a:lnTo>
                  <a:lnTo>
                    <a:pt x="2034595" y="19986"/>
                  </a:lnTo>
                  <a:lnTo>
                    <a:pt x="2068470" y="43843"/>
                  </a:lnTo>
                  <a:lnTo>
                    <a:pt x="2095546" y="75231"/>
                  </a:lnTo>
                  <a:lnTo>
                    <a:pt x="2114183" y="112257"/>
                  </a:lnTo>
                  <a:lnTo>
                    <a:pt x="2123261" y="152683"/>
                  </a:lnTo>
                  <a:lnTo>
                    <a:pt x="2124074" y="169276"/>
                  </a:lnTo>
                  <a:lnTo>
                    <a:pt x="2124074" y="506998"/>
                  </a:lnTo>
                  <a:lnTo>
                    <a:pt x="2119000" y="548139"/>
                  </a:lnTo>
                  <a:lnTo>
                    <a:pt x="2104088" y="586795"/>
                  </a:lnTo>
                  <a:lnTo>
                    <a:pt x="2080231" y="620670"/>
                  </a:lnTo>
                  <a:lnTo>
                    <a:pt x="2048843" y="647746"/>
                  </a:lnTo>
                  <a:lnTo>
                    <a:pt x="2011816" y="666383"/>
                  </a:lnTo>
                  <a:lnTo>
                    <a:pt x="1971390" y="675461"/>
                  </a:lnTo>
                  <a:lnTo>
                    <a:pt x="1954798" y="676274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2462" y="1519237"/>
              <a:ext cx="2124075" cy="676275"/>
            </a:xfrm>
            <a:custGeom>
              <a:avLst/>
              <a:gdLst/>
              <a:ahLst/>
              <a:cxnLst/>
              <a:rect l="l" t="t" r="r" b="b"/>
              <a:pathLst>
                <a:path w="2124075" h="676275">
                  <a:moveTo>
                    <a:pt x="0" y="506998"/>
                  </a:moveTo>
                  <a:lnTo>
                    <a:pt x="0" y="169276"/>
                  </a:lnTo>
                  <a:lnTo>
                    <a:pt x="203" y="160959"/>
                  </a:lnTo>
                  <a:lnTo>
                    <a:pt x="7286" y="120137"/>
                  </a:lnTo>
                  <a:lnTo>
                    <a:pt x="24076" y="82258"/>
                  </a:lnTo>
                  <a:lnTo>
                    <a:pt x="49579" y="49579"/>
                  </a:lnTo>
                  <a:lnTo>
                    <a:pt x="82258" y="24076"/>
                  </a:lnTo>
                  <a:lnTo>
                    <a:pt x="120137" y="7287"/>
                  </a:lnTo>
                  <a:lnTo>
                    <a:pt x="160960" y="203"/>
                  </a:lnTo>
                  <a:lnTo>
                    <a:pt x="169276" y="0"/>
                  </a:lnTo>
                  <a:lnTo>
                    <a:pt x="1954798" y="0"/>
                  </a:lnTo>
                  <a:lnTo>
                    <a:pt x="1995939" y="5074"/>
                  </a:lnTo>
                  <a:lnTo>
                    <a:pt x="2034595" y="19986"/>
                  </a:lnTo>
                  <a:lnTo>
                    <a:pt x="2068470" y="43843"/>
                  </a:lnTo>
                  <a:lnTo>
                    <a:pt x="2095546" y="75231"/>
                  </a:lnTo>
                  <a:lnTo>
                    <a:pt x="2114183" y="112257"/>
                  </a:lnTo>
                  <a:lnTo>
                    <a:pt x="2123261" y="152683"/>
                  </a:lnTo>
                  <a:lnTo>
                    <a:pt x="2124074" y="169276"/>
                  </a:lnTo>
                  <a:lnTo>
                    <a:pt x="2124074" y="506998"/>
                  </a:lnTo>
                  <a:lnTo>
                    <a:pt x="2119000" y="548139"/>
                  </a:lnTo>
                  <a:lnTo>
                    <a:pt x="2104088" y="586795"/>
                  </a:lnTo>
                  <a:lnTo>
                    <a:pt x="2080231" y="620670"/>
                  </a:lnTo>
                  <a:lnTo>
                    <a:pt x="2048843" y="647746"/>
                  </a:lnTo>
                  <a:lnTo>
                    <a:pt x="2011816" y="666383"/>
                  </a:lnTo>
                  <a:lnTo>
                    <a:pt x="1971390" y="675461"/>
                  </a:lnTo>
                  <a:lnTo>
                    <a:pt x="1954798" y="676274"/>
                  </a:lnTo>
                  <a:lnTo>
                    <a:pt x="169276" y="676274"/>
                  </a:lnTo>
                  <a:lnTo>
                    <a:pt x="128135" y="671200"/>
                  </a:lnTo>
                  <a:lnTo>
                    <a:pt x="89478" y="656288"/>
                  </a:lnTo>
                  <a:lnTo>
                    <a:pt x="55603" y="632431"/>
                  </a:lnTo>
                  <a:lnTo>
                    <a:pt x="28528" y="601043"/>
                  </a:lnTo>
                  <a:lnTo>
                    <a:pt x="9890" y="564016"/>
                  </a:lnTo>
                  <a:lnTo>
                    <a:pt x="813" y="523590"/>
                  </a:lnTo>
                  <a:lnTo>
                    <a:pt x="0" y="506998"/>
                  </a:lnTo>
                  <a:close/>
                </a:path>
              </a:pathLst>
            </a:custGeom>
            <a:ln w="9524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5614" y="1615332"/>
            <a:ext cx="1577340" cy="42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100"/>
              </a:spcBef>
            </a:pPr>
            <a:r>
              <a:rPr sz="1100" b="1" spc="-130" dirty="0">
                <a:solidFill>
                  <a:srgbClr val="00002E"/>
                </a:solidFill>
                <a:latin typeface="Tahoma"/>
                <a:cs typeface="Tahoma"/>
              </a:rPr>
              <a:t>Type:</a:t>
            </a:r>
            <a:r>
              <a:rPr sz="1100" b="1" spc="3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40" dirty="0">
                <a:solidFill>
                  <a:srgbClr val="00002E"/>
                </a:solidFill>
                <a:latin typeface="Verdana"/>
                <a:cs typeface="Verdana"/>
              </a:rPr>
              <a:t>GPT-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2</a:t>
            </a:r>
            <a:r>
              <a:rPr sz="110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Decoder-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Only </a:t>
            </a:r>
            <a:r>
              <a:rPr sz="1100" spc="-35" dirty="0">
                <a:solidFill>
                  <a:srgbClr val="00002E"/>
                </a:solidFill>
                <a:latin typeface="Verdana"/>
                <a:cs typeface="Verdana"/>
              </a:rPr>
              <a:t>Transformer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86074" y="1514474"/>
            <a:ext cx="2133600" cy="685800"/>
            <a:chOff x="2886074" y="1514474"/>
            <a:chExt cx="2133600" cy="685800"/>
          </a:xfrm>
        </p:grpSpPr>
        <p:sp>
          <p:nvSpPr>
            <p:cNvPr id="9" name="object 9"/>
            <p:cNvSpPr/>
            <p:nvPr/>
          </p:nvSpPr>
          <p:spPr>
            <a:xfrm>
              <a:off x="2890837" y="1519237"/>
              <a:ext cx="2124075" cy="676275"/>
            </a:xfrm>
            <a:custGeom>
              <a:avLst/>
              <a:gdLst/>
              <a:ahLst/>
              <a:cxnLst/>
              <a:rect l="l" t="t" r="r" b="b"/>
              <a:pathLst>
                <a:path w="2124075" h="676275">
                  <a:moveTo>
                    <a:pt x="1954798" y="676274"/>
                  </a:moveTo>
                  <a:lnTo>
                    <a:pt x="169276" y="676274"/>
                  </a:lnTo>
                  <a:lnTo>
                    <a:pt x="160960" y="676071"/>
                  </a:lnTo>
                  <a:lnTo>
                    <a:pt x="120137" y="668987"/>
                  </a:lnTo>
                  <a:lnTo>
                    <a:pt x="82258" y="652197"/>
                  </a:lnTo>
                  <a:lnTo>
                    <a:pt x="49579" y="626694"/>
                  </a:lnTo>
                  <a:lnTo>
                    <a:pt x="24076" y="594015"/>
                  </a:lnTo>
                  <a:lnTo>
                    <a:pt x="7286" y="556137"/>
                  </a:lnTo>
                  <a:lnTo>
                    <a:pt x="203" y="515314"/>
                  </a:lnTo>
                  <a:lnTo>
                    <a:pt x="0" y="506998"/>
                  </a:lnTo>
                  <a:lnTo>
                    <a:pt x="0" y="169276"/>
                  </a:lnTo>
                  <a:lnTo>
                    <a:pt x="5074" y="128135"/>
                  </a:lnTo>
                  <a:lnTo>
                    <a:pt x="19986" y="89478"/>
                  </a:lnTo>
                  <a:lnTo>
                    <a:pt x="43842" y="55603"/>
                  </a:lnTo>
                  <a:lnTo>
                    <a:pt x="75230" y="28528"/>
                  </a:lnTo>
                  <a:lnTo>
                    <a:pt x="112257" y="9890"/>
                  </a:lnTo>
                  <a:lnTo>
                    <a:pt x="152684" y="813"/>
                  </a:lnTo>
                  <a:lnTo>
                    <a:pt x="169276" y="0"/>
                  </a:lnTo>
                  <a:lnTo>
                    <a:pt x="1954798" y="0"/>
                  </a:lnTo>
                  <a:lnTo>
                    <a:pt x="1995938" y="5074"/>
                  </a:lnTo>
                  <a:lnTo>
                    <a:pt x="2034594" y="19986"/>
                  </a:lnTo>
                  <a:lnTo>
                    <a:pt x="2068470" y="43843"/>
                  </a:lnTo>
                  <a:lnTo>
                    <a:pt x="2095545" y="75231"/>
                  </a:lnTo>
                  <a:lnTo>
                    <a:pt x="2114183" y="112257"/>
                  </a:lnTo>
                  <a:lnTo>
                    <a:pt x="2123262" y="152683"/>
                  </a:lnTo>
                  <a:lnTo>
                    <a:pt x="2124074" y="169276"/>
                  </a:lnTo>
                  <a:lnTo>
                    <a:pt x="2124074" y="506998"/>
                  </a:lnTo>
                  <a:lnTo>
                    <a:pt x="2119000" y="548139"/>
                  </a:lnTo>
                  <a:lnTo>
                    <a:pt x="2104087" y="586795"/>
                  </a:lnTo>
                  <a:lnTo>
                    <a:pt x="2080231" y="620670"/>
                  </a:lnTo>
                  <a:lnTo>
                    <a:pt x="2048842" y="647746"/>
                  </a:lnTo>
                  <a:lnTo>
                    <a:pt x="2011816" y="666383"/>
                  </a:lnTo>
                  <a:lnTo>
                    <a:pt x="1971390" y="675461"/>
                  </a:lnTo>
                  <a:lnTo>
                    <a:pt x="1954798" y="676274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90837" y="1519237"/>
              <a:ext cx="2124075" cy="676275"/>
            </a:xfrm>
            <a:custGeom>
              <a:avLst/>
              <a:gdLst/>
              <a:ahLst/>
              <a:cxnLst/>
              <a:rect l="l" t="t" r="r" b="b"/>
              <a:pathLst>
                <a:path w="2124075" h="676275">
                  <a:moveTo>
                    <a:pt x="0" y="506998"/>
                  </a:moveTo>
                  <a:lnTo>
                    <a:pt x="0" y="169276"/>
                  </a:lnTo>
                  <a:lnTo>
                    <a:pt x="203" y="160959"/>
                  </a:lnTo>
                  <a:lnTo>
                    <a:pt x="7286" y="120137"/>
                  </a:lnTo>
                  <a:lnTo>
                    <a:pt x="24076" y="82258"/>
                  </a:lnTo>
                  <a:lnTo>
                    <a:pt x="49579" y="49579"/>
                  </a:lnTo>
                  <a:lnTo>
                    <a:pt x="82258" y="24076"/>
                  </a:lnTo>
                  <a:lnTo>
                    <a:pt x="120137" y="7287"/>
                  </a:lnTo>
                  <a:lnTo>
                    <a:pt x="160960" y="203"/>
                  </a:lnTo>
                  <a:lnTo>
                    <a:pt x="169276" y="0"/>
                  </a:lnTo>
                  <a:lnTo>
                    <a:pt x="1954798" y="0"/>
                  </a:lnTo>
                  <a:lnTo>
                    <a:pt x="1995938" y="5074"/>
                  </a:lnTo>
                  <a:lnTo>
                    <a:pt x="2034594" y="19986"/>
                  </a:lnTo>
                  <a:lnTo>
                    <a:pt x="2068470" y="43843"/>
                  </a:lnTo>
                  <a:lnTo>
                    <a:pt x="2095545" y="75231"/>
                  </a:lnTo>
                  <a:lnTo>
                    <a:pt x="2114183" y="112257"/>
                  </a:lnTo>
                  <a:lnTo>
                    <a:pt x="2123262" y="152683"/>
                  </a:lnTo>
                  <a:lnTo>
                    <a:pt x="2124074" y="169276"/>
                  </a:lnTo>
                  <a:lnTo>
                    <a:pt x="2124074" y="506998"/>
                  </a:lnTo>
                  <a:lnTo>
                    <a:pt x="2119000" y="548139"/>
                  </a:lnTo>
                  <a:lnTo>
                    <a:pt x="2104087" y="586795"/>
                  </a:lnTo>
                  <a:lnTo>
                    <a:pt x="2080231" y="620670"/>
                  </a:lnTo>
                  <a:lnTo>
                    <a:pt x="2048842" y="647746"/>
                  </a:lnTo>
                  <a:lnTo>
                    <a:pt x="2011816" y="666383"/>
                  </a:lnTo>
                  <a:lnTo>
                    <a:pt x="1971390" y="675461"/>
                  </a:lnTo>
                  <a:lnTo>
                    <a:pt x="1954798" y="676274"/>
                  </a:lnTo>
                  <a:lnTo>
                    <a:pt x="169276" y="676274"/>
                  </a:lnTo>
                  <a:lnTo>
                    <a:pt x="128135" y="671200"/>
                  </a:lnTo>
                  <a:lnTo>
                    <a:pt x="89478" y="656288"/>
                  </a:lnTo>
                  <a:lnTo>
                    <a:pt x="55603" y="632431"/>
                  </a:lnTo>
                  <a:lnTo>
                    <a:pt x="28528" y="601043"/>
                  </a:lnTo>
                  <a:lnTo>
                    <a:pt x="9890" y="564016"/>
                  </a:lnTo>
                  <a:lnTo>
                    <a:pt x="813" y="523590"/>
                  </a:lnTo>
                  <a:lnTo>
                    <a:pt x="0" y="506998"/>
                  </a:lnTo>
                  <a:close/>
                </a:path>
              </a:pathLst>
            </a:custGeom>
            <a:ln w="9524">
              <a:solidFill>
                <a:srgbClr val="008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23393" y="1648364"/>
            <a:ext cx="560705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10" dirty="0">
                <a:solidFill>
                  <a:srgbClr val="00002E"/>
                </a:solidFill>
                <a:latin typeface="Tahoma"/>
                <a:cs typeface="Tahoma"/>
              </a:rPr>
              <a:t>Layers:</a:t>
            </a:r>
            <a:r>
              <a:rPr sz="1100" b="1" spc="3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2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7699" y="2295524"/>
            <a:ext cx="2133600" cy="495300"/>
            <a:chOff x="647699" y="2295524"/>
            <a:chExt cx="2133600" cy="495300"/>
          </a:xfrm>
        </p:grpSpPr>
        <p:sp>
          <p:nvSpPr>
            <p:cNvPr id="13" name="object 13"/>
            <p:cNvSpPr/>
            <p:nvPr/>
          </p:nvSpPr>
          <p:spPr>
            <a:xfrm>
              <a:off x="652462" y="2300287"/>
              <a:ext cx="2124075" cy="485775"/>
            </a:xfrm>
            <a:custGeom>
              <a:avLst/>
              <a:gdLst/>
              <a:ahLst/>
              <a:cxnLst/>
              <a:rect l="l" t="t" r="r" b="b"/>
              <a:pathLst>
                <a:path w="2124075" h="485775">
                  <a:moveTo>
                    <a:pt x="1954798" y="485774"/>
                  </a:moveTo>
                  <a:lnTo>
                    <a:pt x="169276" y="485774"/>
                  </a:lnTo>
                  <a:lnTo>
                    <a:pt x="160960" y="485571"/>
                  </a:lnTo>
                  <a:lnTo>
                    <a:pt x="120137" y="478487"/>
                  </a:lnTo>
                  <a:lnTo>
                    <a:pt x="82258" y="461697"/>
                  </a:lnTo>
                  <a:lnTo>
                    <a:pt x="49579" y="436194"/>
                  </a:lnTo>
                  <a:lnTo>
                    <a:pt x="24076" y="403515"/>
                  </a:lnTo>
                  <a:lnTo>
                    <a:pt x="7286" y="365637"/>
                  </a:lnTo>
                  <a:lnTo>
                    <a:pt x="203" y="324814"/>
                  </a:lnTo>
                  <a:lnTo>
                    <a:pt x="0" y="316498"/>
                  </a:lnTo>
                  <a:lnTo>
                    <a:pt x="0" y="169276"/>
                  </a:lnTo>
                  <a:lnTo>
                    <a:pt x="5074" y="128135"/>
                  </a:lnTo>
                  <a:lnTo>
                    <a:pt x="19986" y="89478"/>
                  </a:lnTo>
                  <a:lnTo>
                    <a:pt x="43843" y="55603"/>
                  </a:lnTo>
                  <a:lnTo>
                    <a:pt x="75231" y="28528"/>
                  </a:lnTo>
                  <a:lnTo>
                    <a:pt x="112257" y="9890"/>
                  </a:lnTo>
                  <a:lnTo>
                    <a:pt x="152683" y="813"/>
                  </a:lnTo>
                  <a:lnTo>
                    <a:pt x="169276" y="0"/>
                  </a:lnTo>
                  <a:lnTo>
                    <a:pt x="1954798" y="0"/>
                  </a:lnTo>
                  <a:lnTo>
                    <a:pt x="1995939" y="5074"/>
                  </a:lnTo>
                  <a:lnTo>
                    <a:pt x="2034595" y="19986"/>
                  </a:lnTo>
                  <a:lnTo>
                    <a:pt x="2068470" y="43843"/>
                  </a:lnTo>
                  <a:lnTo>
                    <a:pt x="2095546" y="75231"/>
                  </a:lnTo>
                  <a:lnTo>
                    <a:pt x="2114183" y="112257"/>
                  </a:lnTo>
                  <a:lnTo>
                    <a:pt x="2123261" y="152684"/>
                  </a:lnTo>
                  <a:lnTo>
                    <a:pt x="2124074" y="169276"/>
                  </a:lnTo>
                  <a:lnTo>
                    <a:pt x="2124074" y="316498"/>
                  </a:lnTo>
                  <a:lnTo>
                    <a:pt x="2119000" y="357639"/>
                  </a:lnTo>
                  <a:lnTo>
                    <a:pt x="2104088" y="396295"/>
                  </a:lnTo>
                  <a:lnTo>
                    <a:pt x="2080231" y="430170"/>
                  </a:lnTo>
                  <a:lnTo>
                    <a:pt x="2048843" y="457246"/>
                  </a:lnTo>
                  <a:lnTo>
                    <a:pt x="2011816" y="475883"/>
                  </a:lnTo>
                  <a:lnTo>
                    <a:pt x="1971390" y="484961"/>
                  </a:lnTo>
                  <a:lnTo>
                    <a:pt x="1954798" y="485774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2462" y="2300287"/>
              <a:ext cx="2124075" cy="485775"/>
            </a:xfrm>
            <a:custGeom>
              <a:avLst/>
              <a:gdLst/>
              <a:ahLst/>
              <a:cxnLst/>
              <a:rect l="l" t="t" r="r" b="b"/>
              <a:pathLst>
                <a:path w="2124075" h="485775">
                  <a:moveTo>
                    <a:pt x="0" y="316498"/>
                  </a:moveTo>
                  <a:lnTo>
                    <a:pt x="0" y="169276"/>
                  </a:lnTo>
                  <a:lnTo>
                    <a:pt x="203" y="160960"/>
                  </a:lnTo>
                  <a:lnTo>
                    <a:pt x="7286" y="120137"/>
                  </a:lnTo>
                  <a:lnTo>
                    <a:pt x="24076" y="82258"/>
                  </a:lnTo>
                  <a:lnTo>
                    <a:pt x="49579" y="49579"/>
                  </a:lnTo>
                  <a:lnTo>
                    <a:pt x="82258" y="24076"/>
                  </a:lnTo>
                  <a:lnTo>
                    <a:pt x="120137" y="7286"/>
                  </a:lnTo>
                  <a:lnTo>
                    <a:pt x="160960" y="203"/>
                  </a:lnTo>
                  <a:lnTo>
                    <a:pt x="169276" y="0"/>
                  </a:lnTo>
                  <a:lnTo>
                    <a:pt x="1954798" y="0"/>
                  </a:lnTo>
                  <a:lnTo>
                    <a:pt x="1995939" y="5074"/>
                  </a:lnTo>
                  <a:lnTo>
                    <a:pt x="2034595" y="19986"/>
                  </a:lnTo>
                  <a:lnTo>
                    <a:pt x="2068470" y="43843"/>
                  </a:lnTo>
                  <a:lnTo>
                    <a:pt x="2095546" y="75231"/>
                  </a:lnTo>
                  <a:lnTo>
                    <a:pt x="2114183" y="112257"/>
                  </a:lnTo>
                  <a:lnTo>
                    <a:pt x="2123261" y="152684"/>
                  </a:lnTo>
                  <a:lnTo>
                    <a:pt x="2124074" y="169276"/>
                  </a:lnTo>
                  <a:lnTo>
                    <a:pt x="2124074" y="316498"/>
                  </a:lnTo>
                  <a:lnTo>
                    <a:pt x="2119000" y="357639"/>
                  </a:lnTo>
                  <a:lnTo>
                    <a:pt x="2104088" y="396295"/>
                  </a:lnTo>
                  <a:lnTo>
                    <a:pt x="2080231" y="430170"/>
                  </a:lnTo>
                  <a:lnTo>
                    <a:pt x="2048843" y="457246"/>
                  </a:lnTo>
                  <a:lnTo>
                    <a:pt x="2011816" y="475883"/>
                  </a:lnTo>
                  <a:lnTo>
                    <a:pt x="1971390" y="484961"/>
                  </a:lnTo>
                  <a:lnTo>
                    <a:pt x="1954798" y="485774"/>
                  </a:lnTo>
                  <a:lnTo>
                    <a:pt x="169276" y="485774"/>
                  </a:lnTo>
                  <a:lnTo>
                    <a:pt x="128135" y="480700"/>
                  </a:lnTo>
                  <a:lnTo>
                    <a:pt x="89478" y="465788"/>
                  </a:lnTo>
                  <a:lnTo>
                    <a:pt x="55603" y="441931"/>
                  </a:lnTo>
                  <a:lnTo>
                    <a:pt x="28528" y="410542"/>
                  </a:lnTo>
                  <a:lnTo>
                    <a:pt x="9890" y="373516"/>
                  </a:lnTo>
                  <a:lnTo>
                    <a:pt x="813" y="333090"/>
                  </a:lnTo>
                  <a:lnTo>
                    <a:pt x="0" y="316498"/>
                  </a:lnTo>
                  <a:close/>
                </a:path>
              </a:pathLst>
            </a:custGeom>
            <a:ln w="9524">
              <a:solidFill>
                <a:srgbClr val="D93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85614" y="2438939"/>
            <a:ext cx="1722120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10" dirty="0">
                <a:solidFill>
                  <a:srgbClr val="00002E"/>
                </a:solidFill>
                <a:latin typeface="Tahoma"/>
                <a:cs typeface="Tahoma"/>
              </a:rPr>
              <a:t>Embedding</a:t>
            </a:r>
            <a:r>
              <a:rPr sz="1100" b="1" spc="-3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00002E"/>
                </a:solidFill>
                <a:latin typeface="Tahoma"/>
                <a:cs typeface="Tahoma"/>
              </a:rPr>
              <a:t>Dimensions:</a:t>
            </a:r>
            <a:r>
              <a:rPr sz="1100" b="1" spc="-1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128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86074" y="2295524"/>
            <a:ext cx="2133600" cy="495300"/>
            <a:chOff x="2886074" y="2295524"/>
            <a:chExt cx="2133600" cy="495300"/>
          </a:xfrm>
        </p:grpSpPr>
        <p:sp>
          <p:nvSpPr>
            <p:cNvPr id="17" name="object 17"/>
            <p:cNvSpPr/>
            <p:nvPr/>
          </p:nvSpPr>
          <p:spPr>
            <a:xfrm>
              <a:off x="2890837" y="2300287"/>
              <a:ext cx="2124075" cy="485775"/>
            </a:xfrm>
            <a:custGeom>
              <a:avLst/>
              <a:gdLst/>
              <a:ahLst/>
              <a:cxnLst/>
              <a:rect l="l" t="t" r="r" b="b"/>
              <a:pathLst>
                <a:path w="2124075" h="485775">
                  <a:moveTo>
                    <a:pt x="1954798" y="485774"/>
                  </a:moveTo>
                  <a:lnTo>
                    <a:pt x="169276" y="485774"/>
                  </a:lnTo>
                  <a:lnTo>
                    <a:pt x="160960" y="485571"/>
                  </a:lnTo>
                  <a:lnTo>
                    <a:pt x="120137" y="478487"/>
                  </a:lnTo>
                  <a:lnTo>
                    <a:pt x="82258" y="461697"/>
                  </a:lnTo>
                  <a:lnTo>
                    <a:pt x="49579" y="436194"/>
                  </a:lnTo>
                  <a:lnTo>
                    <a:pt x="24076" y="403515"/>
                  </a:lnTo>
                  <a:lnTo>
                    <a:pt x="7286" y="365637"/>
                  </a:lnTo>
                  <a:lnTo>
                    <a:pt x="203" y="324814"/>
                  </a:lnTo>
                  <a:lnTo>
                    <a:pt x="0" y="316498"/>
                  </a:lnTo>
                  <a:lnTo>
                    <a:pt x="0" y="169276"/>
                  </a:lnTo>
                  <a:lnTo>
                    <a:pt x="5074" y="128135"/>
                  </a:lnTo>
                  <a:lnTo>
                    <a:pt x="19986" y="89478"/>
                  </a:lnTo>
                  <a:lnTo>
                    <a:pt x="43842" y="55603"/>
                  </a:lnTo>
                  <a:lnTo>
                    <a:pt x="75230" y="28528"/>
                  </a:lnTo>
                  <a:lnTo>
                    <a:pt x="112257" y="9890"/>
                  </a:lnTo>
                  <a:lnTo>
                    <a:pt x="152684" y="813"/>
                  </a:lnTo>
                  <a:lnTo>
                    <a:pt x="169276" y="0"/>
                  </a:lnTo>
                  <a:lnTo>
                    <a:pt x="1954798" y="0"/>
                  </a:lnTo>
                  <a:lnTo>
                    <a:pt x="1995938" y="5074"/>
                  </a:lnTo>
                  <a:lnTo>
                    <a:pt x="2034594" y="19986"/>
                  </a:lnTo>
                  <a:lnTo>
                    <a:pt x="2068470" y="43843"/>
                  </a:lnTo>
                  <a:lnTo>
                    <a:pt x="2095545" y="75231"/>
                  </a:lnTo>
                  <a:lnTo>
                    <a:pt x="2114183" y="112257"/>
                  </a:lnTo>
                  <a:lnTo>
                    <a:pt x="2123262" y="152684"/>
                  </a:lnTo>
                  <a:lnTo>
                    <a:pt x="2124074" y="169276"/>
                  </a:lnTo>
                  <a:lnTo>
                    <a:pt x="2124074" y="316498"/>
                  </a:lnTo>
                  <a:lnTo>
                    <a:pt x="2119000" y="357639"/>
                  </a:lnTo>
                  <a:lnTo>
                    <a:pt x="2104087" y="396295"/>
                  </a:lnTo>
                  <a:lnTo>
                    <a:pt x="2080231" y="430170"/>
                  </a:lnTo>
                  <a:lnTo>
                    <a:pt x="2048842" y="457246"/>
                  </a:lnTo>
                  <a:lnTo>
                    <a:pt x="2011816" y="475883"/>
                  </a:lnTo>
                  <a:lnTo>
                    <a:pt x="1971390" y="484961"/>
                  </a:lnTo>
                  <a:lnTo>
                    <a:pt x="1954798" y="485774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90837" y="2300287"/>
              <a:ext cx="2124075" cy="485775"/>
            </a:xfrm>
            <a:custGeom>
              <a:avLst/>
              <a:gdLst/>
              <a:ahLst/>
              <a:cxnLst/>
              <a:rect l="l" t="t" r="r" b="b"/>
              <a:pathLst>
                <a:path w="2124075" h="485775">
                  <a:moveTo>
                    <a:pt x="0" y="316498"/>
                  </a:moveTo>
                  <a:lnTo>
                    <a:pt x="0" y="169276"/>
                  </a:lnTo>
                  <a:lnTo>
                    <a:pt x="203" y="160960"/>
                  </a:lnTo>
                  <a:lnTo>
                    <a:pt x="7286" y="120137"/>
                  </a:lnTo>
                  <a:lnTo>
                    <a:pt x="24076" y="82258"/>
                  </a:lnTo>
                  <a:lnTo>
                    <a:pt x="49579" y="49579"/>
                  </a:lnTo>
                  <a:lnTo>
                    <a:pt x="82258" y="24076"/>
                  </a:lnTo>
                  <a:lnTo>
                    <a:pt x="120137" y="7286"/>
                  </a:lnTo>
                  <a:lnTo>
                    <a:pt x="160960" y="203"/>
                  </a:lnTo>
                  <a:lnTo>
                    <a:pt x="169276" y="0"/>
                  </a:lnTo>
                  <a:lnTo>
                    <a:pt x="1954798" y="0"/>
                  </a:lnTo>
                  <a:lnTo>
                    <a:pt x="1995938" y="5074"/>
                  </a:lnTo>
                  <a:lnTo>
                    <a:pt x="2034594" y="19986"/>
                  </a:lnTo>
                  <a:lnTo>
                    <a:pt x="2068470" y="43843"/>
                  </a:lnTo>
                  <a:lnTo>
                    <a:pt x="2095545" y="75231"/>
                  </a:lnTo>
                  <a:lnTo>
                    <a:pt x="2114183" y="112257"/>
                  </a:lnTo>
                  <a:lnTo>
                    <a:pt x="2123262" y="152684"/>
                  </a:lnTo>
                  <a:lnTo>
                    <a:pt x="2124074" y="169276"/>
                  </a:lnTo>
                  <a:lnTo>
                    <a:pt x="2124074" y="316498"/>
                  </a:lnTo>
                  <a:lnTo>
                    <a:pt x="2119000" y="357639"/>
                  </a:lnTo>
                  <a:lnTo>
                    <a:pt x="2104087" y="396295"/>
                  </a:lnTo>
                  <a:lnTo>
                    <a:pt x="2080231" y="430170"/>
                  </a:lnTo>
                  <a:lnTo>
                    <a:pt x="2048842" y="457246"/>
                  </a:lnTo>
                  <a:lnTo>
                    <a:pt x="2011816" y="475883"/>
                  </a:lnTo>
                  <a:lnTo>
                    <a:pt x="1971390" y="484961"/>
                  </a:lnTo>
                  <a:lnTo>
                    <a:pt x="1954798" y="485774"/>
                  </a:lnTo>
                  <a:lnTo>
                    <a:pt x="169276" y="485774"/>
                  </a:lnTo>
                  <a:lnTo>
                    <a:pt x="128135" y="480700"/>
                  </a:lnTo>
                  <a:lnTo>
                    <a:pt x="89478" y="465788"/>
                  </a:lnTo>
                  <a:lnTo>
                    <a:pt x="55603" y="441931"/>
                  </a:lnTo>
                  <a:lnTo>
                    <a:pt x="28528" y="410542"/>
                  </a:lnTo>
                  <a:lnTo>
                    <a:pt x="9890" y="373516"/>
                  </a:lnTo>
                  <a:lnTo>
                    <a:pt x="813" y="333090"/>
                  </a:lnTo>
                  <a:lnTo>
                    <a:pt x="0" y="316498"/>
                  </a:lnTo>
                  <a:close/>
                </a:path>
              </a:pathLst>
            </a:custGeom>
            <a:ln w="9524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23393" y="2438939"/>
            <a:ext cx="1134110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95" dirty="0">
                <a:solidFill>
                  <a:srgbClr val="00002E"/>
                </a:solidFill>
                <a:latin typeface="Tahoma"/>
                <a:cs typeface="Tahoma"/>
              </a:rPr>
              <a:t>Attention</a:t>
            </a:r>
            <a:r>
              <a:rPr sz="1100" b="1" spc="-3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00002E"/>
                </a:solidFill>
                <a:latin typeface="Tahoma"/>
                <a:cs typeface="Tahoma"/>
              </a:rPr>
              <a:t>Heads:</a:t>
            </a:r>
            <a:r>
              <a:rPr sz="1100" b="1" spc="-1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4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7699" y="2895599"/>
            <a:ext cx="4371975" cy="495300"/>
            <a:chOff x="647699" y="2895599"/>
            <a:chExt cx="4371975" cy="495300"/>
          </a:xfrm>
        </p:grpSpPr>
        <p:sp>
          <p:nvSpPr>
            <p:cNvPr id="21" name="object 21"/>
            <p:cNvSpPr/>
            <p:nvPr/>
          </p:nvSpPr>
          <p:spPr>
            <a:xfrm>
              <a:off x="652462" y="2900362"/>
              <a:ext cx="4362450" cy="485775"/>
            </a:xfrm>
            <a:custGeom>
              <a:avLst/>
              <a:gdLst/>
              <a:ahLst/>
              <a:cxnLst/>
              <a:rect l="l" t="t" r="r" b="b"/>
              <a:pathLst>
                <a:path w="4362450" h="485775">
                  <a:moveTo>
                    <a:pt x="4193173" y="485774"/>
                  </a:moveTo>
                  <a:lnTo>
                    <a:pt x="169276" y="485774"/>
                  </a:lnTo>
                  <a:lnTo>
                    <a:pt x="160960" y="485571"/>
                  </a:lnTo>
                  <a:lnTo>
                    <a:pt x="120137" y="478487"/>
                  </a:lnTo>
                  <a:lnTo>
                    <a:pt x="82258" y="461697"/>
                  </a:lnTo>
                  <a:lnTo>
                    <a:pt x="49579" y="436195"/>
                  </a:lnTo>
                  <a:lnTo>
                    <a:pt x="24076" y="403515"/>
                  </a:lnTo>
                  <a:lnTo>
                    <a:pt x="7286" y="365637"/>
                  </a:lnTo>
                  <a:lnTo>
                    <a:pt x="203" y="324814"/>
                  </a:lnTo>
                  <a:lnTo>
                    <a:pt x="0" y="316498"/>
                  </a:lnTo>
                  <a:lnTo>
                    <a:pt x="0" y="169276"/>
                  </a:lnTo>
                  <a:lnTo>
                    <a:pt x="5074" y="128135"/>
                  </a:lnTo>
                  <a:lnTo>
                    <a:pt x="19986" y="89478"/>
                  </a:lnTo>
                  <a:lnTo>
                    <a:pt x="43843" y="55603"/>
                  </a:lnTo>
                  <a:lnTo>
                    <a:pt x="75231" y="28527"/>
                  </a:lnTo>
                  <a:lnTo>
                    <a:pt x="112257" y="9890"/>
                  </a:lnTo>
                  <a:lnTo>
                    <a:pt x="152683" y="813"/>
                  </a:lnTo>
                  <a:lnTo>
                    <a:pt x="169276" y="0"/>
                  </a:lnTo>
                  <a:lnTo>
                    <a:pt x="4193173" y="0"/>
                  </a:lnTo>
                  <a:lnTo>
                    <a:pt x="4234313" y="5074"/>
                  </a:lnTo>
                  <a:lnTo>
                    <a:pt x="4272969" y="19986"/>
                  </a:lnTo>
                  <a:lnTo>
                    <a:pt x="4306845" y="43843"/>
                  </a:lnTo>
                  <a:lnTo>
                    <a:pt x="4333920" y="75231"/>
                  </a:lnTo>
                  <a:lnTo>
                    <a:pt x="4352558" y="112257"/>
                  </a:lnTo>
                  <a:lnTo>
                    <a:pt x="4361636" y="152683"/>
                  </a:lnTo>
                  <a:lnTo>
                    <a:pt x="4362449" y="169276"/>
                  </a:lnTo>
                  <a:lnTo>
                    <a:pt x="4362449" y="316498"/>
                  </a:lnTo>
                  <a:lnTo>
                    <a:pt x="4357375" y="357639"/>
                  </a:lnTo>
                  <a:lnTo>
                    <a:pt x="4342462" y="396295"/>
                  </a:lnTo>
                  <a:lnTo>
                    <a:pt x="4318605" y="430170"/>
                  </a:lnTo>
                  <a:lnTo>
                    <a:pt x="4287217" y="457246"/>
                  </a:lnTo>
                  <a:lnTo>
                    <a:pt x="4250191" y="475883"/>
                  </a:lnTo>
                  <a:lnTo>
                    <a:pt x="4209765" y="484961"/>
                  </a:lnTo>
                  <a:lnTo>
                    <a:pt x="4193173" y="485774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2462" y="2900362"/>
              <a:ext cx="4362450" cy="485775"/>
            </a:xfrm>
            <a:custGeom>
              <a:avLst/>
              <a:gdLst/>
              <a:ahLst/>
              <a:cxnLst/>
              <a:rect l="l" t="t" r="r" b="b"/>
              <a:pathLst>
                <a:path w="4362450" h="485775">
                  <a:moveTo>
                    <a:pt x="0" y="316498"/>
                  </a:moveTo>
                  <a:lnTo>
                    <a:pt x="0" y="169276"/>
                  </a:lnTo>
                  <a:lnTo>
                    <a:pt x="203" y="160960"/>
                  </a:lnTo>
                  <a:lnTo>
                    <a:pt x="7286" y="120137"/>
                  </a:lnTo>
                  <a:lnTo>
                    <a:pt x="24076" y="82258"/>
                  </a:lnTo>
                  <a:lnTo>
                    <a:pt x="49579" y="49579"/>
                  </a:lnTo>
                  <a:lnTo>
                    <a:pt x="82258" y="24076"/>
                  </a:lnTo>
                  <a:lnTo>
                    <a:pt x="120137" y="7287"/>
                  </a:lnTo>
                  <a:lnTo>
                    <a:pt x="160960" y="203"/>
                  </a:lnTo>
                  <a:lnTo>
                    <a:pt x="169276" y="0"/>
                  </a:lnTo>
                  <a:lnTo>
                    <a:pt x="4193173" y="0"/>
                  </a:lnTo>
                  <a:lnTo>
                    <a:pt x="4234313" y="5074"/>
                  </a:lnTo>
                  <a:lnTo>
                    <a:pt x="4272969" y="19986"/>
                  </a:lnTo>
                  <a:lnTo>
                    <a:pt x="4306845" y="43843"/>
                  </a:lnTo>
                  <a:lnTo>
                    <a:pt x="4333920" y="75231"/>
                  </a:lnTo>
                  <a:lnTo>
                    <a:pt x="4352558" y="112257"/>
                  </a:lnTo>
                  <a:lnTo>
                    <a:pt x="4361636" y="152683"/>
                  </a:lnTo>
                  <a:lnTo>
                    <a:pt x="4362449" y="169276"/>
                  </a:lnTo>
                  <a:lnTo>
                    <a:pt x="4362449" y="316498"/>
                  </a:lnTo>
                  <a:lnTo>
                    <a:pt x="4357375" y="357639"/>
                  </a:lnTo>
                  <a:lnTo>
                    <a:pt x="4342462" y="396295"/>
                  </a:lnTo>
                  <a:lnTo>
                    <a:pt x="4318605" y="430170"/>
                  </a:lnTo>
                  <a:lnTo>
                    <a:pt x="4287217" y="457246"/>
                  </a:lnTo>
                  <a:lnTo>
                    <a:pt x="4250191" y="475883"/>
                  </a:lnTo>
                  <a:lnTo>
                    <a:pt x="4209765" y="484961"/>
                  </a:lnTo>
                  <a:lnTo>
                    <a:pt x="4193173" y="485774"/>
                  </a:lnTo>
                  <a:lnTo>
                    <a:pt x="169276" y="485774"/>
                  </a:lnTo>
                  <a:lnTo>
                    <a:pt x="128135" y="480700"/>
                  </a:lnTo>
                  <a:lnTo>
                    <a:pt x="89478" y="465788"/>
                  </a:lnTo>
                  <a:lnTo>
                    <a:pt x="55603" y="441931"/>
                  </a:lnTo>
                  <a:lnTo>
                    <a:pt x="28528" y="410543"/>
                  </a:lnTo>
                  <a:lnTo>
                    <a:pt x="9890" y="373516"/>
                  </a:lnTo>
                  <a:lnTo>
                    <a:pt x="813" y="333090"/>
                  </a:lnTo>
                  <a:lnTo>
                    <a:pt x="0" y="316498"/>
                  </a:lnTo>
                  <a:close/>
                </a:path>
              </a:pathLst>
            </a:custGeom>
            <a:ln w="9524">
              <a:solidFill>
                <a:srgbClr val="008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85614" y="3039014"/>
            <a:ext cx="1812289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5" dirty="0">
                <a:solidFill>
                  <a:srgbClr val="00002E"/>
                </a:solidFill>
                <a:latin typeface="Tahoma"/>
                <a:cs typeface="Tahoma"/>
              </a:rPr>
              <a:t>Total</a:t>
            </a:r>
            <a:r>
              <a:rPr sz="1100" b="1" spc="-2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00002E"/>
                </a:solidFill>
                <a:latin typeface="Tahoma"/>
                <a:cs typeface="Tahoma"/>
              </a:rPr>
              <a:t>Parameters:</a:t>
            </a:r>
            <a:r>
              <a:rPr sz="1100" b="1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0.41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Million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7224" y="43719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7224" y="4600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57224" y="48291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7224" y="50672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7224" y="5295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7224" y="5524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57224" y="57530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36934" y="3472707"/>
            <a:ext cx="4201160" cy="239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b="1" spc="-100" dirty="0">
                <a:solidFill>
                  <a:srgbClr val="00002E"/>
                </a:solidFill>
                <a:latin typeface="Tahoma"/>
                <a:cs typeface="Tahoma"/>
              </a:rPr>
              <a:t>Design</a:t>
            </a:r>
            <a:r>
              <a:rPr sz="1100" b="1" spc="-20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b="1" spc="-95" dirty="0">
                <a:solidFill>
                  <a:srgbClr val="00002E"/>
                </a:solidFill>
                <a:latin typeface="Tahoma"/>
                <a:cs typeface="Tahoma"/>
              </a:rPr>
              <a:t>Rationale:</a:t>
            </a:r>
            <a:r>
              <a:rPr sz="1100" b="1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Scaled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for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40" dirty="0">
                <a:solidFill>
                  <a:srgbClr val="00002E"/>
                </a:solidFill>
                <a:latin typeface="Verdana"/>
                <a:cs typeface="Verdana"/>
              </a:rPr>
              <a:t>4GB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GPU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50" dirty="0">
                <a:solidFill>
                  <a:srgbClr val="00002E"/>
                </a:solidFill>
                <a:latin typeface="Verdana"/>
                <a:cs typeface="Verdana"/>
              </a:rPr>
              <a:t>(GTX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1650)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as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proof-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of-concept. Production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models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typically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require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65" dirty="0">
                <a:solidFill>
                  <a:srgbClr val="00002E"/>
                </a:solidFill>
                <a:latin typeface="Verdana"/>
                <a:cs typeface="Verdana"/>
              </a:rPr>
              <a:t>50M+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parameters.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250" b="1" spc="-20" dirty="0">
                <a:solidFill>
                  <a:srgbClr val="00002E"/>
                </a:solidFill>
                <a:latin typeface="Trebuchet MS"/>
                <a:cs typeface="Trebuchet MS"/>
              </a:rPr>
              <a:t>Training</a:t>
            </a:r>
            <a:r>
              <a:rPr sz="1250" b="1" spc="-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250" b="1" spc="-10" dirty="0">
                <a:solidFill>
                  <a:srgbClr val="00002E"/>
                </a:solidFill>
                <a:latin typeface="Trebuchet MS"/>
                <a:cs typeface="Trebuchet MS"/>
              </a:rPr>
              <a:t>Configuration</a:t>
            </a:r>
            <a:endParaRPr sz="1250">
              <a:latin typeface="Trebuchet MS"/>
              <a:cs typeface="Trebuchet MS"/>
            </a:endParaRPr>
          </a:p>
          <a:p>
            <a:pPr marL="234950" marR="1176655">
              <a:lnSpc>
                <a:spcPct val="138300"/>
              </a:lnSpc>
              <a:spcBef>
                <a:spcPts val="470"/>
              </a:spcBef>
            </a:pP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Training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50" dirty="0">
                <a:solidFill>
                  <a:srgbClr val="00002E"/>
                </a:solidFill>
                <a:latin typeface="Verdana"/>
                <a:cs typeface="Verdana"/>
              </a:rPr>
              <a:t>Data: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356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patients,</a:t>
            </a:r>
            <a:r>
              <a:rPr sz="1100" spc="-1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40" dirty="0">
                <a:solidFill>
                  <a:srgbClr val="00002E"/>
                </a:solidFill>
                <a:latin typeface="Verdana"/>
                <a:cs typeface="Verdana"/>
              </a:rPr>
              <a:t>17,429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tokens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Batch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5" dirty="0">
                <a:solidFill>
                  <a:srgbClr val="00002E"/>
                </a:solidFill>
                <a:latin typeface="Verdana"/>
                <a:cs typeface="Verdana"/>
              </a:rPr>
              <a:t>Size: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4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40" dirty="0">
                <a:solidFill>
                  <a:srgbClr val="00002E"/>
                </a:solidFill>
                <a:latin typeface="Verdana"/>
                <a:cs typeface="Verdana"/>
              </a:rPr>
              <a:t>(GPU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45" dirty="0">
                <a:solidFill>
                  <a:srgbClr val="00002E"/>
                </a:solidFill>
                <a:latin typeface="Verdana"/>
                <a:cs typeface="Verdana"/>
              </a:rPr>
              <a:t>memory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constraint)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Gradient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Accumulation: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8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(effective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batch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355" dirty="0">
                <a:solidFill>
                  <a:srgbClr val="00002E"/>
                </a:solidFill>
                <a:latin typeface="Verdana"/>
                <a:cs typeface="Verdana"/>
              </a:rPr>
              <a:t>=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32) Learning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45" dirty="0">
                <a:solidFill>
                  <a:srgbClr val="00002E"/>
                </a:solidFill>
                <a:latin typeface="Verdana"/>
                <a:cs typeface="Verdana"/>
              </a:rPr>
              <a:t>Rate: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3e-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4</a:t>
            </a:r>
            <a:endParaRPr sz="1100">
              <a:latin typeface="Verdana"/>
              <a:cs typeface="Verdana"/>
            </a:endParaRPr>
          </a:p>
          <a:p>
            <a:pPr marL="234950" marR="2488565">
              <a:lnSpc>
                <a:spcPct val="136400"/>
              </a:lnSpc>
            </a:pP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Iterations:</a:t>
            </a:r>
            <a:r>
              <a:rPr sz="110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5,000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Training </a:t>
            </a:r>
            <a:r>
              <a:rPr sz="1100" spc="-135" dirty="0">
                <a:solidFill>
                  <a:srgbClr val="00002E"/>
                </a:solidFill>
                <a:latin typeface="Verdana"/>
                <a:cs typeface="Verdana"/>
              </a:rPr>
              <a:t>Time: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6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minutes</a:t>
            </a:r>
            <a:endParaRPr sz="1100">
              <a:latin typeface="Verdana"/>
              <a:cs typeface="Verdana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Hardware: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5" dirty="0">
                <a:solidFill>
                  <a:srgbClr val="00002E"/>
                </a:solidFill>
                <a:latin typeface="Verdana"/>
                <a:cs typeface="Verdana"/>
              </a:rPr>
              <a:t>NVIDIA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GTX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1650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45" dirty="0">
                <a:solidFill>
                  <a:srgbClr val="00002E"/>
                </a:solidFill>
                <a:latin typeface="Verdana"/>
                <a:cs typeface="Verdana"/>
              </a:rPr>
              <a:t>(CUDA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12.1)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507996" y="1250766"/>
            <a:ext cx="3931285" cy="2105025"/>
            <a:chOff x="5507996" y="1250766"/>
            <a:chExt cx="3931285" cy="2105025"/>
          </a:xfrm>
        </p:grpSpPr>
        <p:sp>
          <p:nvSpPr>
            <p:cNvPr id="33" name="object 33"/>
            <p:cNvSpPr/>
            <p:nvPr/>
          </p:nvSpPr>
          <p:spPr>
            <a:xfrm>
              <a:off x="5545479" y="3349829"/>
              <a:ext cx="3891279" cy="0"/>
            </a:xfrm>
            <a:custGeom>
              <a:avLst/>
              <a:gdLst/>
              <a:ahLst/>
              <a:cxnLst/>
              <a:rect l="l" t="t" r="r" b="b"/>
              <a:pathLst>
                <a:path w="3891279">
                  <a:moveTo>
                    <a:pt x="0" y="0"/>
                  </a:moveTo>
                  <a:lnTo>
                    <a:pt x="3890818" y="0"/>
                  </a:lnTo>
                </a:path>
              </a:pathLst>
            </a:custGeom>
            <a:ln w="5347">
              <a:solidFill>
                <a:srgbClr val="000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45479" y="2649311"/>
              <a:ext cx="3891279" cy="0"/>
            </a:xfrm>
            <a:custGeom>
              <a:avLst/>
              <a:gdLst/>
              <a:ahLst/>
              <a:cxnLst/>
              <a:rect l="l" t="t" r="r" b="b"/>
              <a:pathLst>
                <a:path w="3891279">
                  <a:moveTo>
                    <a:pt x="0" y="0"/>
                  </a:moveTo>
                  <a:lnTo>
                    <a:pt x="3890818" y="0"/>
                  </a:lnTo>
                </a:path>
              </a:pathLst>
            </a:custGeom>
            <a:ln w="5347">
              <a:solidFill>
                <a:srgbClr val="000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45479" y="1954141"/>
              <a:ext cx="3891279" cy="0"/>
            </a:xfrm>
            <a:custGeom>
              <a:avLst/>
              <a:gdLst/>
              <a:ahLst/>
              <a:cxnLst/>
              <a:rect l="l" t="t" r="r" b="b"/>
              <a:pathLst>
                <a:path w="3891279">
                  <a:moveTo>
                    <a:pt x="0" y="0"/>
                  </a:moveTo>
                  <a:lnTo>
                    <a:pt x="3890818" y="0"/>
                  </a:lnTo>
                </a:path>
              </a:pathLst>
            </a:custGeom>
            <a:ln w="5347">
              <a:solidFill>
                <a:srgbClr val="000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45479" y="1253624"/>
              <a:ext cx="3891279" cy="0"/>
            </a:xfrm>
            <a:custGeom>
              <a:avLst/>
              <a:gdLst/>
              <a:ahLst/>
              <a:cxnLst/>
              <a:rect l="l" t="t" r="r" b="b"/>
              <a:pathLst>
                <a:path w="3891279">
                  <a:moveTo>
                    <a:pt x="0" y="0"/>
                  </a:moveTo>
                  <a:lnTo>
                    <a:pt x="3890818" y="0"/>
                  </a:lnTo>
                </a:path>
              </a:pathLst>
            </a:custGeom>
            <a:ln w="5347">
              <a:solidFill>
                <a:srgbClr val="000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06919" y="1355226"/>
              <a:ext cx="3162935" cy="1834514"/>
            </a:xfrm>
            <a:custGeom>
              <a:avLst/>
              <a:gdLst/>
              <a:ahLst/>
              <a:cxnLst/>
              <a:rect l="l" t="t" r="r" b="b"/>
              <a:pathLst>
                <a:path w="3162934" h="1834514">
                  <a:moveTo>
                    <a:pt x="0" y="0"/>
                  </a:moveTo>
                  <a:lnTo>
                    <a:pt x="451798" y="1133661"/>
                  </a:lnTo>
                  <a:lnTo>
                    <a:pt x="903597" y="1470551"/>
                  </a:lnTo>
                  <a:lnTo>
                    <a:pt x="1355396" y="1700492"/>
                  </a:lnTo>
                  <a:lnTo>
                    <a:pt x="1807195" y="1753967"/>
                  </a:lnTo>
                  <a:lnTo>
                    <a:pt x="2258994" y="1796746"/>
                  </a:lnTo>
                  <a:lnTo>
                    <a:pt x="2710793" y="1818136"/>
                  </a:lnTo>
                  <a:lnTo>
                    <a:pt x="3162592" y="1834179"/>
                  </a:lnTo>
                </a:path>
              </a:pathLst>
            </a:custGeom>
            <a:ln w="10695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85528" y="133383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4227" y="42779"/>
                  </a:moveTo>
                  <a:lnTo>
                    <a:pt x="18553" y="42779"/>
                  </a:lnTo>
                  <a:lnTo>
                    <a:pt x="15825" y="42236"/>
                  </a:lnTo>
                  <a:lnTo>
                    <a:pt x="0" y="24226"/>
                  </a:lnTo>
                  <a:lnTo>
                    <a:pt x="0" y="18553"/>
                  </a:lnTo>
                  <a:lnTo>
                    <a:pt x="18553" y="0"/>
                  </a:lnTo>
                  <a:lnTo>
                    <a:pt x="24227" y="0"/>
                  </a:lnTo>
                  <a:lnTo>
                    <a:pt x="42781" y="18553"/>
                  </a:lnTo>
                  <a:lnTo>
                    <a:pt x="42781" y="21389"/>
                  </a:lnTo>
                  <a:lnTo>
                    <a:pt x="42781" y="24226"/>
                  </a:lnTo>
                  <a:lnTo>
                    <a:pt x="26955" y="42236"/>
                  </a:lnTo>
                  <a:lnTo>
                    <a:pt x="24227" y="42779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85528" y="133383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2781" y="21389"/>
                  </a:moveTo>
                  <a:lnTo>
                    <a:pt x="42781" y="24226"/>
                  </a:lnTo>
                  <a:lnTo>
                    <a:pt x="42238" y="26954"/>
                  </a:lnTo>
                  <a:lnTo>
                    <a:pt x="41152" y="29575"/>
                  </a:lnTo>
                  <a:lnTo>
                    <a:pt x="40067" y="32195"/>
                  </a:lnTo>
                  <a:lnTo>
                    <a:pt x="21390" y="42779"/>
                  </a:lnTo>
                  <a:lnTo>
                    <a:pt x="18553" y="42779"/>
                  </a:lnTo>
                  <a:lnTo>
                    <a:pt x="6265" y="36514"/>
                  </a:lnTo>
                  <a:lnTo>
                    <a:pt x="4259" y="34509"/>
                  </a:lnTo>
                  <a:lnTo>
                    <a:pt x="2713" y="32195"/>
                  </a:lnTo>
                  <a:lnTo>
                    <a:pt x="1628" y="29575"/>
                  </a:lnTo>
                  <a:lnTo>
                    <a:pt x="542" y="26954"/>
                  </a:lnTo>
                  <a:lnTo>
                    <a:pt x="0" y="24226"/>
                  </a:lnTo>
                  <a:lnTo>
                    <a:pt x="0" y="21389"/>
                  </a:lnTo>
                  <a:lnTo>
                    <a:pt x="0" y="18553"/>
                  </a:lnTo>
                  <a:lnTo>
                    <a:pt x="6265" y="6264"/>
                  </a:lnTo>
                  <a:lnTo>
                    <a:pt x="8270" y="4259"/>
                  </a:lnTo>
                  <a:lnTo>
                    <a:pt x="10584" y="2713"/>
                  </a:lnTo>
                  <a:lnTo>
                    <a:pt x="13204" y="1628"/>
                  </a:lnTo>
                  <a:lnTo>
                    <a:pt x="15825" y="542"/>
                  </a:lnTo>
                  <a:lnTo>
                    <a:pt x="18553" y="0"/>
                  </a:lnTo>
                  <a:lnTo>
                    <a:pt x="21390" y="0"/>
                  </a:lnTo>
                  <a:lnTo>
                    <a:pt x="24227" y="0"/>
                  </a:lnTo>
                  <a:lnTo>
                    <a:pt x="41152" y="13204"/>
                  </a:lnTo>
                  <a:lnTo>
                    <a:pt x="42238" y="15824"/>
                  </a:lnTo>
                  <a:lnTo>
                    <a:pt x="42781" y="18553"/>
                  </a:lnTo>
                  <a:lnTo>
                    <a:pt x="42781" y="21389"/>
                  </a:lnTo>
                  <a:close/>
                </a:path>
              </a:pathLst>
            </a:custGeom>
            <a:ln w="5347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37327" y="246749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4227" y="42779"/>
                  </a:moveTo>
                  <a:lnTo>
                    <a:pt x="18553" y="42779"/>
                  </a:lnTo>
                  <a:lnTo>
                    <a:pt x="15825" y="42236"/>
                  </a:lnTo>
                  <a:lnTo>
                    <a:pt x="0" y="24226"/>
                  </a:lnTo>
                  <a:lnTo>
                    <a:pt x="0" y="18553"/>
                  </a:lnTo>
                  <a:lnTo>
                    <a:pt x="18553" y="0"/>
                  </a:lnTo>
                  <a:lnTo>
                    <a:pt x="24227" y="0"/>
                  </a:lnTo>
                  <a:lnTo>
                    <a:pt x="42781" y="21389"/>
                  </a:lnTo>
                  <a:lnTo>
                    <a:pt x="42781" y="24226"/>
                  </a:lnTo>
                  <a:lnTo>
                    <a:pt x="24227" y="42779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37327" y="246749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2781" y="21389"/>
                  </a:moveTo>
                  <a:lnTo>
                    <a:pt x="42781" y="24226"/>
                  </a:lnTo>
                  <a:lnTo>
                    <a:pt x="42238" y="26954"/>
                  </a:lnTo>
                  <a:lnTo>
                    <a:pt x="41152" y="29575"/>
                  </a:lnTo>
                  <a:lnTo>
                    <a:pt x="40067" y="32195"/>
                  </a:lnTo>
                  <a:lnTo>
                    <a:pt x="21390" y="42779"/>
                  </a:lnTo>
                  <a:lnTo>
                    <a:pt x="18553" y="42779"/>
                  </a:lnTo>
                  <a:lnTo>
                    <a:pt x="15825" y="42236"/>
                  </a:lnTo>
                  <a:lnTo>
                    <a:pt x="13204" y="41151"/>
                  </a:lnTo>
                  <a:lnTo>
                    <a:pt x="10584" y="40065"/>
                  </a:lnTo>
                  <a:lnTo>
                    <a:pt x="8270" y="38520"/>
                  </a:lnTo>
                  <a:lnTo>
                    <a:pt x="6265" y="36514"/>
                  </a:lnTo>
                  <a:lnTo>
                    <a:pt x="4259" y="34508"/>
                  </a:lnTo>
                  <a:lnTo>
                    <a:pt x="2713" y="32195"/>
                  </a:lnTo>
                  <a:lnTo>
                    <a:pt x="1628" y="29575"/>
                  </a:lnTo>
                  <a:lnTo>
                    <a:pt x="542" y="26954"/>
                  </a:lnTo>
                  <a:lnTo>
                    <a:pt x="0" y="24226"/>
                  </a:lnTo>
                  <a:lnTo>
                    <a:pt x="0" y="21389"/>
                  </a:lnTo>
                  <a:lnTo>
                    <a:pt x="0" y="18553"/>
                  </a:lnTo>
                  <a:lnTo>
                    <a:pt x="542" y="15824"/>
                  </a:lnTo>
                  <a:lnTo>
                    <a:pt x="1628" y="13204"/>
                  </a:lnTo>
                  <a:lnTo>
                    <a:pt x="2713" y="10583"/>
                  </a:lnTo>
                  <a:lnTo>
                    <a:pt x="4259" y="8270"/>
                  </a:lnTo>
                  <a:lnTo>
                    <a:pt x="6265" y="6264"/>
                  </a:lnTo>
                  <a:lnTo>
                    <a:pt x="8270" y="4259"/>
                  </a:lnTo>
                  <a:lnTo>
                    <a:pt x="10584" y="2713"/>
                  </a:lnTo>
                  <a:lnTo>
                    <a:pt x="13204" y="1627"/>
                  </a:lnTo>
                  <a:lnTo>
                    <a:pt x="15825" y="542"/>
                  </a:lnTo>
                  <a:lnTo>
                    <a:pt x="18553" y="0"/>
                  </a:lnTo>
                  <a:lnTo>
                    <a:pt x="21390" y="0"/>
                  </a:lnTo>
                  <a:lnTo>
                    <a:pt x="24227" y="0"/>
                  </a:lnTo>
                  <a:lnTo>
                    <a:pt x="36515" y="6264"/>
                  </a:lnTo>
                  <a:lnTo>
                    <a:pt x="38521" y="8270"/>
                  </a:lnTo>
                  <a:lnTo>
                    <a:pt x="40067" y="10583"/>
                  </a:lnTo>
                  <a:lnTo>
                    <a:pt x="41152" y="13204"/>
                  </a:lnTo>
                  <a:lnTo>
                    <a:pt x="42238" y="15824"/>
                  </a:lnTo>
                  <a:lnTo>
                    <a:pt x="42781" y="18553"/>
                  </a:lnTo>
                  <a:lnTo>
                    <a:pt x="42781" y="21389"/>
                  </a:lnTo>
                  <a:close/>
                </a:path>
              </a:pathLst>
            </a:custGeom>
            <a:ln w="5347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89126" y="280438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4227" y="42779"/>
                  </a:moveTo>
                  <a:lnTo>
                    <a:pt x="18554" y="42779"/>
                  </a:lnTo>
                  <a:lnTo>
                    <a:pt x="15825" y="42236"/>
                  </a:lnTo>
                  <a:lnTo>
                    <a:pt x="0" y="24226"/>
                  </a:lnTo>
                  <a:lnTo>
                    <a:pt x="0" y="18553"/>
                  </a:lnTo>
                  <a:lnTo>
                    <a:pt x="18554" y="0"/>
                  </a:lnTo>
                  <a:lnTo>
                    <a:pt x="24227" y="0"/>
                  </a:lnTo>
                  <a:lnTo>
                    <a:pt x="42781" y="21389"/>
                  </a:lnTo>
                  <a:lnTo>
                    <a:pt x="42781" y="24226"/>
                  </a:lnTo>
                  <a:lnTo>
                    <a:pt x="24227" y="42779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89126" y="280438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2781" y="21389"/>
                  </a:moveTo>
                  <a:lnTo>
                    <a:pt x="21390" y="42779"/>
                  </a:lnTo>
                  <a:lnTo>
                    <a:pt x="18554" y="42779"/>
                  </a:lnTo>
                  <a:lnTo>
                    <a:pt x="0" y="24226"/>
                  </a:lnTo>
                  <a:lnTo>
                    <a:pt x="0" y="21389"/>
                  </a:lnTo>
                  <a:lnTo>
                    <a:pt x="0" y="18553"/>
                  </a:lnTo>
                  <a:lnTo>
                    <a:pt x="542" y="15824"/>
                  </a:lnTo>
                  <a:lnTo>
                    <a:pt x="1628" y="13204"/>
                  </a:lnTo>
                  <a:lnTo>
                    <a:pt x="2713" y="10583"/>
                  </a:lnTo>
                  <a:lnTo>
                    <a:pt x="4259" y="8270"/>
                  </a:lnTo>
                  <a:lnTo>
                    <a:pt x="6265" y="6264"/>
                  </a:lnTo>
                  <a:lnTo>
                    <a:pt x="8270" y="4258"/>
                  </a:lnTo>
                  <a:lnTo>
                    <a:pt x="10584" y="2713"/>
                  </a:lnTo>
                  <a:lnTo>
                    <a:pt x="13204" y="1627"/>
                  </a:lnTo>
                  <a:lnTo>
                    <a:pt x="15825" y="542"/>
                  </a:lnTo>
                  <a:lnTo>
                    <a:pt x="18554" y="0"/>
                  </a:lnTo>
                  <a:lnTo>
                    <a:pt x="21390" y="0"/>
                  </a:lnTo>
                  <a:lnTo>
                    <a:pt x="24227" y="0"/>
                  </a:lnTo>
                  <a:lnTo>
                    <a:pt x="36515" y="6264"/>
                  </a:lnTo>
                  <a:lnTo>
                    <a:pt x="38521" y="8270"/>
                  </a:lnTo>
                  <a:lnTo>
                    <a:pt x="40067" y="10583"/>
                  </a:lnTo>
                  <a:lnTo>
                    <a:pt x="41152" y="13204"/>
                  </a:lnTo>
                  <a:lnTo>
                    <a:pt x="42238" y="15824"/>
                  </a:lnTo>
                  <a:lnTo>
                    <a:pt x="42781" y="18553"/>
                  </a:lnTo>
                  <a:lnTo>
                    <a:pt x="42781" y="21389"/>
                  </a:lnTo>
                  <a:close/>
                </a:path>
              </a:pathLst>
            </a:custGeom>
            <a:ln w="5347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240925" y="3034329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4227" y="42779"/>
                  </a:moveTo>
                  <a:lnTo>
                    <a:pt x="18554" y="42779"/>
                  </a:lnTo>
                  <a:lnTo>
                    <a:pt x="15825" y="42236"/>
                  </a:lnTo>
                  <a:lnTo>
                    <a:pt x="0" y="24226"/>
                  </a:lnTo>
                  <a:lnTo>
                    <a:pt x="0" y="18553"/>
                  </a:lnTo>
                  <a:lnTo>
                    <a:pt x="18554" y="0"/>
                  </a:lnTo>
                  <a:lnTo>
                    <a:pt x="24227" y="0"/>
                  </a:lnTo>
                  <a:lnTo>
                    <a:pt x="42781" y="21389"/>
                  </a:lnTo>
                  <a:lnTo>
                    <a:pt x="42780" y="24226"/>
                  </a:lnTo>
                  <a:lnTo>
                    <a:pt x="24227" y="42779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40925" y="3034329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2781" y="21389"/>
                  </a:moveTo>
                  <a:lnTo>
                    <a:pt x="42780" y="24226"/>
                  </a:lnTo>
                  <a:lnTo>
                    <a:pt x="42238" y="26954"/>
                  </a:lnTo>
                  <a:lnTo>
                    <a:pt x="41152" y="29575"/>
                  </a:lnTo>
                  <a:lnTo>
                    <a:pt x="40067" y="32195"/>
                  </a:lnTo>
                  <a:lnTo>
                    <a:pt x="29575" y="41151"/>
                  </a:lnTo>
                  <a:lnTo>
                    <a:pt x="26955" y="42236"/>
                  </a:lnTo>
                  <a:lnTo>
                    <a:pt x="24227" y="42779"/>
                  </a:lnTo>
                  <a:lnTo>
                    <a:pt x="21390" y="42779"/>
                  </a:lnTo>
                  <a:lnTo>
                    <a:pt x="18554" y="42779"/>
                  </a:lnTo>
                  <a:lnTo>
                    <a:pt x="6265" y="36514"/>
                  </a:lnTo>
                  <a:lnTo>
                    <a:pt x="4259" y="34508"/>
                  </a:lnTo>
                  <a:lnTo>
                    <a:pt x="2713" y="32195"/>
                  </a:lnTo>
                  <a:lnTo>
                    <a:pt x="1628" y="29575"/>
                  </a:lnTo>
                  <a:lnTo>
                    <a:pt x="542" y="26954"/>
                  </a:lnTo>
                  <a:lnTo>
                    <a:pt x="0" y="24226"/>
                  </a:lnTo>
                  <a:lnTo>
                    <a:pt x="0" y="21389"/>
                  </a:lnTo>
                  <a:lnTo>
                    <a:pt x="0" y="18553"/>
                  </a:lnTo>
                  <a:lnTo>
                    <a:pt x="6265" y="6264"/>
                  </a:lnTo>
                  <a:lnTo>
                    <a:pt x="8270" y="4258"/>
                  </a:lnTo>
                  <a:lnTo>
                    <a:pt x="10583" y="2713"/>
                  </a:lnTo>
                  <a:lnTo>
                    <a:pt x="13204" y="1628"/>
                  </a:lnTo>
                  <a:lnTo>
                    <a:pt x="15825" y="542"/>
                  </a:lnTo>
                  <a:lnTo>
                    <a:pt x="18554" y="0"/>
                  </a:lnTo>
                  <a:lnTo>
                    <a:pt x="21390" y="0"/>
                  </a:lnTo>
                  <a:lnTo>
                    <a:pt x="24227" y="0"/>
                  </a:lnTo>
                  <a:lnTo>
                    <a:pt x="26955" y="542"/>
                  </a:lnTo>
                  <a:lnTo>
                    <a:pt x="29575" y="1628"/>
                  </a:lnTo>
                  <a:lnTo>
                    <a:pt x="32196" y="2713"/>
                  </a:lnTo>
                  <a:lnTo>
                    <a:pt x="42780" y="18553"/>
                  </a:lnTo>
                  <a:lnTo>
                    <a:pt x="42781" y="21389"/>
                  </a:lnTo>
                  <a:close/>
                </a:path>
              </a:pathLst>
            </a:custGeom>
            <a:ln w="5347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692724" y="308780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4227" y="42779"/>
                  </a:moveTo>
                  <a:lnTo>
                    <a:pt x="18554" y="42779"/>
                  </a:lnTo>
                  <a:lnTo>
                    <a:pt x="15825" y="42236"/>
                  </a:lnTo>
                  <a:lnTo>
                    <a:pt x="0" y="24226"/>
                  </a:lnTo>
                  <a:lnTo>
                    <a:pt x="0" y="18553"/>
                  </a:lnTo>
                  <a:lnTo>
                    <a:pt x="18554" y="0"/>
                  </a:lnTo>
                  <a:lnTo>
                    <a:pt x="24227" y="0"/>
                  </a:lnTo>
                  <a:lnTo>
                    <a:pt x="42781" y="21389"/>
                  </a:lnTo>
                  <a:lnTo>
                    <a:pt x="42781" y="24226"/>
                  </a:lnTo>
                  <a:lnTo>
                    <a:pt x="24227" y="42779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92724" y="308780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2781" y="21389"/>
                  </a:moveTo>
                  <a:lnTo>
                    <a:pt x="42781" y="24226"/>
                  </a:lnTo>
                  <a:lnTo>
                    <a:pt x="42238" y="26954"/>
                  </a:lnTo>
                  <a:lnTo>
                    <a:pt x="41152" y="29575"/>
                  </a:lnTo>
                  <a:lnTo>
                    <a:pt x="40067" y="32195"/>
                  </a:lnTo>
                  <a:lnTo>
                    <a:pt x="29576" y="41151"/>
                  </a:lnTo>
                  <a:lnTo>
                    <a:pt x="26955" y="42236"/>
                  </a:lnTo>
                  <a:lnTo>
                    <a:pt x="24227" y="42779"/>
                  </a:lnTo>
                  <a:lnTo>
                    <a:pt x="21390" y="42779"/>
                  </a:lnTo>
                  <a:lnTo>
                    <a:pt x="18554" y="42779"/>
                  </a:lnTo>
                  <a:lnTo>
                    <a:pt x="15825" y="42236"/>
                  </a:lnTo>
                  <a:lnTo>
                    <a:pt x="13204" y="41151"/>
                  </a:lnTo>
                  <a:lnTo>
                    <a:pt x="10583" y="40065"/>
                  </a:lnTo>
                  <a:lnTo>
                    <a:pt x="8270" y="38520"/>
                  </a:lnTo>
                  <a:lnTo>
                    <a:pt x="6265" y="36514"/>
                  </a:lnTo>
                  <a:lnTo>
                    <a:pt x="4259" y="34508"/>
                  </a:lnTo>
                  <a:lnTo>
                    <a:pt x="2713" y="32195"/>
                  </a:lnTo>
                  <a:lnTo>
                    <a:pt x="1628" y="29575"/>
                  </a:lnTo>
                  <a:lnTo>
                    <a:pt x="542" y="26954"/>
                  </a:lnTo>
                  <a:lnTo>
                    <a:pt x="0" y="24226"/>
                  </a:lnTo>
                  <a:lnTo>
                    <a:pt x="0" y="21389"/>
                  </a:lnTo>
                  <a:lnTo>
                    <a:pt x="0" y="18553"/>
                  </a:lnTo>
                  <a:lnTo>
                    <a:pt x="6265" y="6264"/>
                  </a:lnTo>
                  <a:lnTo>
                    <a:pt x="8270" y="4259"/>
                  </a:lnTo>
                  <a:lnTo>
                    <a:pt x="10583" y="2713"/>
                  </a:lnTo>
                  <a:lnTo>
                    <a:pt x="13204" y="1627"/>
                  </a:lnTo>
                  <a:lnTo>
                    <a:pt x="15825" y="542"/>
                  </a:lnTo>
                  <a:lnTo>
                    <a:pt x="18554" y="0"/>
                  </a:lnTo>
                  <a:lnTo>
                    <a:pt x="21390" y="0"/>
                  </a:lnTo>
                  <a:lnTo>
                    <a:pt x="24227" y="0"/>
                  </a:lnTo>
                  <a:lnTo>
                    <a:pt x="41152" y="13204"/>
                  </a:lnTo>
                  <a:lnTo>
                    <a:pt x="42238" y="15824"/>
                  </a:lnTo>
                  <a:lnTo>
                    <a:pt x="42781" y="18553"/>
                  </a:lnTo>
                  <a:lnTo>
                    <a:pt x="42781" y="21389"/>
                  </a:lnTo>
                  <a:close/>
                </a:path>
              </a:pathLst>
            </a:custGeom>
            <a:ln w="5347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144523" y="313058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4227" y="42779"/>
                  </a:moveTo>
                  <a:lnTo>
                    <a:pt x="18554" y="42779"/>
                  </a:lnTo>
                  <a:lnTo>
                    <a:pt x="15825" y="42236"/>
                  </a:lnTo>
                  <a:lnTo>
                    <a:pt x="0" y="24226"/>
                  </a:lnTo>
                  <a:lnTo>
                    <a:pt x="0" y="18553"/>
                  </a:lnTo>
                  <a:lnTo>
                    <a:pt x="18554" y="0"/>
                  </a:lnTo>
                  <a:lnTo>
                    <a:pt x="24227" y="0"/>
                  </a:lnTo>
                  <a:lnTo>
                    <a:pt x="42781" y="21389"/>
                  </a:lnTo>
                  <a:lnTo>
                    <a:pt x="42781" y="24226"/>
                  </a:lnTo>
                  <a:lnTo>
                    <a:pt x="24227" y="42779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144523" y="313058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2781" y="21389"/>
                  </a:moveTo>
                  <a:lnTo>
                    <a:pt x="21390" y="42779"/>
                  </a:lnTo>
                  <a:lnTo>
                    <a:pt x="18554" y="42779"/>
                  </a:lnTo>
                  <a:lnTo>
                    <a:pt x="6265" y="36514"/>
                  </a:lnTo>
                  <a:lnTo>
                    <a:pt x="4259" y="34508"/>
                  </a:lnTo>
                  <a:lnTo>
                    <a:pt x="2713" y="32195"/>
                  </a:lnTo>
                  <a:lnTo>
                    <a:pt x="1628" y="29575"/>
                  </a:lnTo>
                  <a:lnTo>
                    <a:pt x="542" y="26954"/>
                  </a:lnTo>
                  <a:lnTo>
                    <a:pt x="0" y="24226"/>
                  </a:lnTo>
                  <a:lnTo>
                    <a:pt x="0" y="21389"/>
                  </a:lnTo>
                  <a:lnTo>
                    <a:pt x="0" y="18553"/>
                  </a:lnTo>
                  <a:lnTo>
                    <a:pt x="6265" y="6264"/>
                  </a:lnTo>
                  <a:lnTo>
                    <a:pt x="8270" y="4259"/>
                  </a:lnTo>
                  <a:lnTo>
                    <a:pt x="10583" y="2713"/>
                  </a:lnTo>
                  <a:lnTo>
                    <a:pt x="13204" y="1627"/>
                  </a:lnTo>
                  <a:lnTo>
                    <a:pt x="15825" y="542"/>
                  </a:lnTo>
                  <a:lnTo>
                    <a:pt x="18554" y="0"/>
                  </a:lnTo>
                  <a:lnTo>
                    <a:pt x="21390" y="0"/>
                  </a:lnTo>
                  <a:lnTo>
                    <a:pt x="24227" y="0"/>
                  </a:lnTo>
                  <a:lnTo>
                    <a:pt x="26955" y="542"/>
                  </a:lnTo>
                  <a:lnTo>
                    <a:pt x="29576" y="1627"/>
                  </a:lnTo>
                  <a:lnTo>
                    <a:pt x="32196" y="2713"/>
                  </a:lnTo>
                  <a:lnTo>
                    <a:pt x="42781" y="18553"/>
                  </a:lnTo>
                  <a:lnTo>
                    <a:pt x="42781" y="21389"/>
                  </a:lnTo>
                  <a:close/>
                </a:path>
              </a:pathLst>
            </a:custGeom>
            <a:ln w="5347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596321" y="315197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4227" y="42779"/>
                  </a:moveTo>
                  <a:lnTo>
                    <a:pt x="18554" y="42779"/>
                  </a:lnTo>
                  <a:lnTo>
                    <a:pt x="15825" y="42236"/>
                  </a:lnTo>
                  <a:lnTo>
                    <a:pt x="0" y="24226"/>
                  </a:lnTo>
                  <a:lnTo>
                    <a:pt x="0" y="18553"/>
                  </a:lnTo>
                  <a:lnTo>
                    <a:pt x="18554" y="0"/>
                  </a:lnTo>
                  <a:lnTo>
                    <a:pt x="24227" y="0"/>
                  </a:lnTo>
                  <a:lnTo>
                    <a:pt x="42781" y="21389"/>
                  </a:lnTo>
                  <a:lnTo>
                    <a:pt x="42781" y="24226"/>
                  </a:lnTo>
                  <a:lnTo>
                    <a:pt x="24227" y="42779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596321" y="315197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2781" y="21389"/>
                  </a:moveTo>
                  <a:lnTo>
                    <a:pt x="24227" y="42779"/>
                  </a:lnTo>
                  <a:lnTo>
                    <a:pt x="21390" y="42779"/>
                  </a:lnTo>
                  <a:lnTo>
                    <a:pt x="18554" y="42779"/>
                  </a:lnTo>
                  <a:lnTo>
                    <a:pt x="0" y="24226"/>
                  </a:lnTo>
                  <a:lnTo>
                    <a:pt x="0" y="21389"/>
                  </a:lnTo>
                  <a:lnTo>
                    <a:pt x="0" y="18553"/>
                  </a:lnTo>
                  <a:lnTo>
                    <a:pt x="6265" y="6264"/>
                  </a:lnTo>
                  <a:lnTo>
                    <a:pt x="8270" y="4259"/>
                  </a:lnTo>
                  <a:lnTo>
                    <a:pt x="10583" y="2713"/>
                  </a:lnTo>
                  <a:lnTo>
                    <a:pt x="13204" y="1627"/>
                  </a:lnTo>
                  <a:lnTo>
                    <a:pt x="15825" y="542"/>
                  </a:lnTo>
                  <a:lnTo>
                    <a:pt x="18554" y="0"/>
                  </a:lnTo>
                  <a:lnTo>
                    <a:pt x="21390" y="0"/>
                  </a:lnTo>
                  <a:lnTo>
                    <a:pt x="24227" y="0"/>
                  </a:lnTo>
                  <a:lnTo>
                    <a:pt x="42781" y="18553"/>
                  </a:lnTo>
                  <a:lnTo>
                    <a:pt x="42781" y="21389"/>
                  </a:lnTo>
                  <a:close/>
                </a:path>
              </a:pathLst>
            </a:custGeom>
            <a:ln w="5347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048120" y="3168015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4226" y="42779"/>
                  </a:moveTo>
                  <a:lnTo>
                    <a:pt x="18553" y="42779"/>
                  </a:lnTo>
                  <a:lnTo>
                    <a:pt x="15825" y="42236"/>
                  </a:lnTo>
                  <a:lnTo>
                    <a:pt x="0" y="24226"/>
                  </a:lnTo>
                  <a:lnTo>
                    <a:pt x="0" y="18553"/>
                  </a:lnTo>
                  <a:lnTo>
                    <a:pt x="18553" y="0"/>
                  </a:lnTo>
                  <a:lnTo>
                    <a:pt x="24226" y="0"/>
                  </a:lnTo>
                  <a:lnTo>
                    <a:pt x="42781" y="21389"/>
                  </a:lnTo>
                  <a:lnTo>
                    <a:pt x="42780" y="24226"/>
                  </a:lnTo>
                  <a:lnTo>
                    <a:pt x="24226" y="42779"/>
                  </a:lnTo>
                  <a:close/>
                </a:path>
              </a:pathLst>
            </a:custGeom>
            <a:solidFill>
              <a:srgbClr val="2D4D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048120" y="3168015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42781" y="21389"/>
                  </a:moveTo>
                  <a:lnTo>
                    <a:pt x="42780" y="24226"/>
                  </a:lnTo>
                  <a:lnTo>
                    <a:pt x="42237" y="26954"/>
                  </a:lnTo>
                  <a:lnTo>
                    <a:pt x="41152" y="29575"/>
                  </a:lnTo>
                  <a:lnTo>
                    <a:pt x="40067" y="32195"/>
                  </a:lnTo>
                  <a:lnTo>
                    <a:pt x="29575" y="41151"/>
                  </a:lnTo>
                  <a:lnTo>
                    <a:pt x="26955" y="42236"/>
                  </a:lnTo>
                  <a:lnTo>
                    <a:pt x="24226" y="42779"/>
                  </a:lnTo>
                  <a:lnTo>
                    <a:pt x="21390" y="42779"/>
                  </a:lnTo>
                  <a:lnTo>
                    <a:pt x="18553" y="42779"/>
                  </a:lnTo>
                  <a:lnTo>
                    <a:pt x="6265" y="36514"/>
                  </a:lnTo>
                  <a:lnTo>
                    <a:pt x="4259" y="34508"/>
                  </a:lnTo>
                  <a:lnTo>
                    <a:pt x="2713" y="32195"/>
                  </a:lnTo>
                  <a:lnTo>
                    <a:pt x="1628" y="29575"/>
                  </a:lnTo>
                  <a:lnTo>
                    <a:pt x="542" y="26954"/>
                  </a:lnTo>
                  <a:lnTo>
                    <a:pt x="0" y="24226"/>
                  </a:lnTo>
                  <a:lnTo>
                    <a:pt x="0" y="21389"/>
                  </a:lnTo>
                  <a:lnTo>
                    <a:pt x="0" y="18553"/>
                  </a:lnTo>
                  <a:lnTo>
                    <a:pt x="6265" y="6264"/>
                  </a:lnTo>
                  <a:lnTo>
                    <a:pt x="8270" y="4259"/>
                  </a:lnTo>
                  <a:lnTo>
                    <a:pt x="10583" y="2713"/>
                  </a:lnTo>
                  <a:lnTo>
                    <a:pt x="13204" y="1628"/>
                  </a:lnTo>
                  <a:lnTo>
                    <a:pt x="15825" y="542"/>
                  </a:lnTo>
                  <a:lnTo>
                    <a:pt x="18553" y="0"/>
                  </a:lnTo>
                  <a:lnTo>
                    <a:pt x="21390" y="0"/>
                  </a:lnTo>
                  <a:lnTo>
                    <a:pt x="24226" y="0"/>
                  </a:lnTo>
                  <a:lnTo>
                    <a:pt x="26955" y="542"/>
                  </a:lnTo>
                  <a:lnTo>
                    <a:pt x="29575" y="1628"/>
                  </a:lnTo>
                  <a:lnTo>
                    <a:pt x="32196" y="2713"/>
                  </a:lnTo>
                  <a:lnTo>
                    <a:pt x="42780" y="18553"/>
                  </a:lnTo>
                  <a:lnTo>
                    <a:pt x="42781" y="21389"/>
                  </a:lnTo>
                  <a:close/>
                </a:path>
              </a:pathLst>
            </a:custGeom>
            <a:ln w="5347">
              <a:solidFill>
                <a:srgbClr val="2D4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13394" y="2649311"/>
              <a:ext cx="32384" cy="701040"/>
            </a:xfrm>
            <a:custGeom>
              <a:avLst/>
              <a:gdLst/>
              <a:ahLst/>
              <a:cxnLst/>
              <a:rect l="l" t="t" r="r" b="b"/>
              <a:pathLst>
                <a:path w="32385" h="701039">
                  <a:moveTo>
                    <a:pt x="32085" y="700517"/>
                  </a:moveTo>
                  <a:lnTo>
                    <a:pt x="0" y="700517"/>
                  </a:lnTo>
                </a:path>
                <a:path w="32385" h="701039">
                  <a:moveTo>
                    <a:pt x="32085" y="0"/>
                  </a:moveTo>
                  <a:lnTo>
                    <a:pt x="0" y="0"/>
                  </a:lnTo>
                </a:path>
              </a:pathLst>
            </a:custGeom>
            <a:ln w="10695">
              <a:solidFill>
                <a:srgbClr val="000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381907" y="2586419"/>
            <a:ext cx="123189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-35" dirty="0">
                <a:solidFill>
                  <a:srgbClr val="00002E"/>
                </a:solidFill>
                <a:latin typeface="Verdana"/>
                <a:cs typeface="Verdana"/>
              </a:rPr>
              <a:t>1.5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513394" y="1954141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>
                <a:moveTo>
                  <a:pt x="32085" y="0"/>
                </a:moveTo>
                <a:lnTo>
                  <a:pt x="0" y="0"/>
                </a:lnTo>
              </a:path>
            </a:pathLst>
          </a:custGeom>
          <a:ln w="10694">
            <a:solidFill>
              <a:srgbClr val="0000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5438611" y="1891254"/>
            <a:ext cx="66675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-50" dirty="0">
                <a:solidFill>
                  <a:srgbClr val="00002E"/>
                </a:solidFill>
                <a:latin typeface="Verdana"/>
                <a:cs typeface="Verdana"/>
              </a:rPr>
              <a:t>3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513394" y="1253624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>
                <a:moveTo>
                  <a:pt x="32085" y="0"/>
                </a:moveTo>
                <a:lnTo>
                  <a:pt x="0" y="0"/>
                </a:lnTo>
              </a:path>
            </a:pathLst>
          </a:custGeom>
          <a:ln w="10694">
            <a:solidFill>
              <a:srgbClr val="0000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381907" y="1190880"/>
            <a:ext cx="123189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-35" dirty="0">
                <a:solidFill>
                  <a:srgbClr val="00002E"/>
                </a:solidFill>
                <a:latin typeface="Verdana"/>
                <a:cs typeface="Verdana"/>
              </a:rPr>
              <a:t>4.5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540082" y="1250900"/>
            <a:ext cx="3535045" cy="2134870"/>
            <a:chOff x="5540082" y="1250900"/>
            <a:chExt cx="3535045" cy="2134870"/>
          </a:xfrm>
        </p:grpSpPr>
        <p:sp>
          <p:nvSpPr>
            <p:cNvPr id="61" name="object 61"/>
            <p:cNvSpPr/>
            <p:nvPr/>
          </p:nvSpPr>
          <p:spPr>
            <a:xfrm>
              <a:off x="5545479" y="1256298"/>
              <a:ext cx="0" cy="2094230"/>
            </a:xfrm>
            <a:custGeom>
              <a:avLst/>
              <a:gdLst/>
              <a:ahLst/>
              <a:cxnLst/>
              <a:rect l="l" t="t" r="r" b="b"/>
              <a:pathLst>
                <a:path h="2094229">
                  <a:moveTo>
                    <a:pt x="0" y="2094065"/>
                  </a:moveTo>
                  <a:lnTo>
                    <a:pt x="0" y="0"/>
                  </a:lnTo>
                </a:path>
              </a:pathLst>
            </a:custGeom>
            <a:ln w="10695">
              <a:solidFill>
                <a:srgbClr val="000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906919" y="3347690"/>
              <a:ext cx="3162935" cy="32384"/>
            </a:xfrm>
            <a:custGeom>
              <a:avLst/>
              <a:gdLst/>
              <a:ahLst/>
              <a:cxnLst/>
              <a:rect l="l" t="t" r="r" b="b"/>
              <a:pathLst>
                <a:path w="3162934" h="32385">
                  <a:moveTo>
                    <a:pt x="0" y="0"/>
                  </a:moveTo>
                  <a:lnTo>
                    <a:pt x="0" y="32084"/>
                  </a:lnTo>
                </a:path>
                <a:path w="3162934" h="32385">
                  <a:moveTo>
                    <a:pt x="451798" y="0"/>
                  </a:moveTo>
                  <a:lnTo>
                    <a:pt x="451798" y="32084"/>
                  </a:lnTo>
                </a:path>
                <a:path w="3162934" h="32385">
                  <a:moveTo>
                    <a:pt x="903597" y="0"/>
                  </a:moveTo>
                  <a:lnTo>
                    <a:pt x="903597" y="32084"/>
                  </a:lnTo>
                </a:path>
                <a:path w="3162934" h="32385">
                  <a:moveTo>
                    <a:pt x="1355396" y="0"/>
                  </a:moveTo>
                  <a:lnTo>
                    <a:pt x="1355396" y="32084"/>
                  </a:lnTo>
                </a:path>
                <a:path w="3162934" h="32385">
                  <a:moveTo>
                    <a:pt x="1807195" y="0"/>
                  </a:moveTo>
                  <a:lnTo>
                    <a:pt x="1807195" y="32084"/>
                  </a:lnTo>
                </a:path>
                <a:path w="3162934" h="32385">
                  <a:moveTo>
                    <a:pt x="2258994" y="0"/>
                  </a:moveTo>
                  <a:lnTo>
                    <a:pt x="2258994" y="32084"/>
                  </a:lnTo>
                </a:path>
                <a:path w="3162934" h="32385">
                  <a:moveTo>
                    <a:pt x="2710793" y="0"/>
                  </a:moveTo>
                  <a:lnTo>
                    <a:pt x="2710793" y="32084"/>
                  </a:lnTo>
                </a:path>
                <a:path w="3162934" h="32385">
                  <a:moveTo>
                    <a:pt x="3162592" y="0"/>
                  </a:moveTo>
                  <a:lnTo>
                    <a:pt x="3162592" y="32084"/>
                  </a:lnTo>
                </a:path>
              </a:pathLst>
            </a:custGeom>
            <a:ln w="10695">
              <a:solidFill>
                <a:srgbClr val="000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438611" y="3286942"/>
            <a:ext cx="3725545" cy="1955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645"/>
              </a:lnSpc>
              <a:spcBef>
                <a:spcPts val="135"/>
              </a:spcBef>
            </a:pPr>
            <a:r>
              <a:rPr sz="550" spc="-50" dirty="0">
                <a:solidFill>
                  <a:srgbClr val="00002E"/>
                </a:solidFill>
                <a:latin typeface="Verdana"/>
                <a:cs typeface="Verdana"/>
              </a:rPr>
              <a:t>0</a:t>
            </a:r>
            <a:endParaRPr sz="550">
              <a:latin typeface="Verdana"/>
              <a:cs typeface="Verdana"/>
            </a:endParaRPr>
          </a:p>
          <a:p>
            <a:pPr marL="447675">
              <a:lnSpc>
                <a:spcPts val="645"/>
              </a:lnSpc>
              <a:tabLst>
                <a:tab pos="858519" algn="l"/>
                <a:tab pos="1289685" algn="l"/>
                <a:tab pos="1741805" algn="l"/>
                <a:tab pos="2193290" algn="l"/>
                <a:tab pos="2645410" algn="l"/>
                <a:tab pos="3097530" algn="l"/>
                <a:tab pos="3549015" algn="l"/>
              </a:tabLst>
            </a:pPr>
            <a:r>
              <a:rPr sz="550" spc="-50" dirty="0">
                <a:solidFill>
                  <a:srgbClr val="00002E"/>
                </a:solidFill>
                <a:latin typeface="Verdana"/>
                <a:cs typeface="Verdana"/>
              </a:rPr>
              <a:t>0</a:t>
            </a:r>
            <a:r>
              <a:rPr sz="550" dirty="0">
                <a:solidFill>
                  <a:srgbClr val="00002E"/>
                </a:solidFill>
                <a:latin typeface="Verdana"/>
                <a:cs typeface="Verdana"/>
              </a:rPr>
              <a:t>	</a:t>
            </a:r>
            <a:r>
              <a:rPr sz="550" spc="-25" dirty="0">
                <a:solidFill>
                  <a:srgbClr val="00002E"/>
                </a:solidFill>
                <a:latin typeface="Verdana"/>
                <a:cs typeface="Verdana"/>
              </a:rPr>
              <a:t>500</a:t>
            </a:r>
            <a:r>
              <a:rPr sz="550" dirty="0">
                <a:solidFill>
                  <a:srgbClr val="00002E"/>
                </a:solidFill>
                <a:latin typeface="Verdana"/>
                <a:cs typeface="Verdana"/>
              </a:rPr>
              <a:t>	</a:t>
            </a:r>
            <a:r>
              <a:rPr sz="550" spc="-20" dirty="0">
                <a:solidFill>
                  <a:srgbClr val="00002E"/>
                </a:solidFill>
                <a:latin typeface="Verdana"/>
                <a:cs typeface="Verdana"/>
              </a:rPr>
              <a:t>1000</a:t>
            </a:r>
            <a:r>
              <a:rPr sz="550" dirty="0">
                <a:solidFill>
                  <a:srgbClr val="00002E"/>
                </a:solidFill>
                <a:latin typeface="Verdana"/>
                <a:cs typeface="Verdana"/>
              </a:rPr>
              <a:t>	</a:t>
            </a:r>
            <a:r>
              <a:rPr sz="550" spc="-20" dirty="0">
                <a:solidFill>
                  <a:srgbClr val="00002E"/>
                </a:solidFill>
                <a:latin typeface="Verdana"/>
                <a:cs typeface="Verdana"/>
              </a:rPr>
              <a:t>1400</a:t>
            </a:r>
            <a:r>
              <a:rPr sz="550" dirty="0">
                <a:solidFill>
                  <a:srgbClr val="00002E"/>
                </a:solidFill>
                <a:latin typeface="Verdana"/>
                <a:cs typeface="Verdana"/>
              </a:rPr>
              <a:t>	</a:t>
            </a:r>
            <a:r>
              <a:rPr sz="550" spc="-20" dirty="0">
                <a:solidFill>
                  <a:srgbClr val="00002E"/>
                </a:solidFill>
                <a:latin typeface="Verdana"/>
                <a:cs typeface="Verdana"/>
              </a:rPr>
              <a:t>2000</a:t>
            </a:r>
            <a:r>
              <a:rPr sz="550" dirty="0">
                <a:solidFill>
                  <a:srgbClr val="00002E"/>
                </a:solidFill>
                <a:latin typeface="Verdana"/>
                <a:cs typeface="Verdana"/>
              </a:rPr>
              <a:t>	</a:t>
            </a:r>
            <a:r>
              <a:rPr sz="550" spc="-20" dirty="0">
                <a:solidFill>
                  <a:srgbClr val="00002E"/>
                </a:solidFill>
                <a:latin typeface="Verdana"/>
                <a:cs typeface="Verdana"/>
              </a:rPr>
              <a:t>3000</a:t>
            </a:r>
            <a:r>
              <a:rPr sz="550" dirty="0">
                <a:solidFill>
                  <a:srgbClr val="00002E"/>
                </a:solidFill>
                <a:latin typeface="Verdana"/>
                <a:cs typeface="Verdana"/>
              </a:rPr>
              <a:t>	</a:t>
            </a:r>
            <a:r>
              <a:rPr sz="550" spc="-20" dirty="0">
                <a:solidFill>
                  <a:srgbClr val="00002E"/>
                </a:solidFill>
                <a:latin typeface="Verdana"/>
                <a:cs typeface="Verdana"/>
              </a:rPr>
              <a:t>4000</a:t>
            </a:r>
            <a:r>
              <a:rPr sz="550" dirty="0">
                <a:solidFill>
                  <a:srgbClr val="00002E"/>
                </a:solidFill>
                <a:latin typeface="Verdana"/>
                <a:cs typeface="Verdana"/>
              </a:rPr>
              <a:t>	</a:t>
            </a:r>
            <a:r>
              <a:rPr sz="550" spc="-15" dirty="0">
                <a:solidFill>
                  <a:srgbClr val="00002E"/>
                </a:solidFill>
                <a:latin typeface="Verdana"/>
                <a:cs typeface="Verdana"/>
              </a:rPr>
              <a:t>5000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548153" y="3347690"/>
            <a:ext cx="3885565" cy="0"/>
          </a:xfrm>
          <a:custGeom>
            <a:avLst/>
            <a:gdLst/>
            <a:ahLst/>
            <a:cxnLst/>
            <a:rect l="l" t="t" r="r" b="b"/>
            <a:pathLst>
              <a:path w="3885565">
                <a:moveTo>
                  <a:pt x="0" y="0"/>
                </a:moveTo>
                <a:lnTo>
                  <a:pt x="3885470" y="0"/>
                </a:lnTo>
              </a:path>
            </a:pathLst>
          </a:custGeom>
          <a:ln w="10694">
            <a:solidFill>
              <a:srgbClr val="0000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358060" y="3548907"/>
            <a:ext cx="4993640" cy="42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100"/>
              </a:spcBef>
            </a:pP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Training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loss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decreased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from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4.28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0.34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over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5,000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iterations.</a:t>
            </a:r>
            <a:r>
              <a:rPr sz="1100" spc="-1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Best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model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saved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at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iteration</a:t>
            </a:r>
            <a:r>
              <a:rPr sz="110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1,400</a:t>
            </a:r>
            <a:r>
              <a:rPr sz="110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(lowest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validation</a:t>
            </a:r>
            <a:r>
              <a:rPr sz="110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loss).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372099" y="4095749"/>
            <a:ext cx="5419725" cy="885825"/>
            <a:chOff x="5372099" y="4095749"/>
            <a:chExt cx="5419725" cy="885825"/>
          </a:xfrm>
        </p:grpSpPr>
        <p:sp>
          <p:nvSpPr>
            <p:cNvPr id="67" name="object 67"/>
            <p:cNvSpPr/>
            <p:nvPr/>
          </p:nvSpPr>
          <p:spPr>
            <a:xfrm>
              <a:off x="5372099" y="4095749"/>
              <a:ext cx="5419725" cy="885825"/>
            </a:xfrm>
            <a:custGeom>
              <a:avLst/>
              <a:gdLst/>
              <a:ahLst/>
              <a:cxnLst/>
              <a:rect l="l" t="t" r="r" b="b"/>
              <a:pathLst>
                <a:path w="5419725" h="885825">
                  <a:moveTo>
                    <a:pt x="5245686" y="885824"/>
                  </a:moveTo>
                  <a:lnTo>
                    <a:pt x="174038" y="885824"/>
                  </a:lnTo>
                  <a:lnTo>
                    <a:pt x="165488" y="885615"/>
                  </a:lnTo>
                  <a:lnTo>
                    <a:pt x="123516" y="878332"/>
                  </a:lnTo>
                  <a:lnTo>
                    <a:pt x="84572" y="861069"/>
                  </a:lnTo>
                  <a:lnTo>
                    <a:pt x="50974" y="834849"/>
                  </a:lnTo>
                  <a:lnTo>
                    <a:pt x="24753" y="801250"/>
                  </a:lnTo>
                  <a:lnTo>
                    <a:pt x="7491" y="762306"/>
                  </a:lnTo>
                  <a:lnTo>
                    <a:pt x="208" y="720336"/>
                  </a:lnTo>
                  <a:lnTo>
                    <a:pt x="0" y="711786"/>
                  </a:lnTo>
                  <a:lnTo>
                    <a:pt x="0" y="174038"/>
                  </a:lnTo>
                  <a:lnTo>
                    <a:pt x="5216" y="131740"/>
                  </a:lnTo>
                  <a:lnTo>
                    <a:pt x="20547" y="91995"/>
                  </a:lnTo>
                  <a:lnTo>
                    <a:pt x="45075" y="57167"/>
                  </a:lnTo>
                  <a:lnTo>
                    <a:pt x="77346" y="29330"/>
                  </a:lnTo>
                  <a:lnTo>
                    <a:pt x="115415" y="10168"/>
                  </a:lnTo>
                  <a:lnTo>
                    <a:pt x="156979" y="836"/>
                  </a:lnTo>
                  <a:lnTo>
                    <a:pt x="174038" y="0"/>
                  </a:lnTo>
                  <a:lnTo>
                    <a:pt x="5245686" y="0"/>
                  </a:lnTo>
                  <a:lnTo>
                    <a:pt x="5287983" y="5216"/>
                  </a:lnTo>
                  <a:lnTo>
                    <a:pt x="5327727" y="20547"/>
                  </a:lnTo>
                  <a:lnTo>
                    <a:pt x="5362555" y="45076"/>
                  </a:lnTo>
                  <a:lnTo>
                    <a:pt x="5390392" y="77347"/>
                  </a:lnTo>
                  <a:lnTo>
                    <a:pt x="5409554" y="115415"/>
                  </a:lnTo>
                  <a:lnTo>
                    <a:pt x="5418887" y="156979"/>
                  </a:lnTo>
                  <a:lnTo>
                    <a:pt x="5419724" y="174038"/>
                  </a:lnTo>
                  <a:lnTo>
                    <a:pt x="5419724" y="711786"/>
                  </a:lnTo>
                  <a:lnTo>
                    <a:pt x="5414506" y="754083"/>
                  </a:lnTo>
                  <a:lnTo>
                    <a:pt x="5399174" y="793827"/>
                  </a:lnTo>
                  <a:lnTo>
                    <a:pt x="5374647" y="828655"/>
                  </a:lnTo>
                  <a:lnTo>
                    <a:pt x="5342375" y="856493"/>
                  </a:lnTo>
                  <a:lnTo>
                    <a:pt x="5304307" y="875655"/>
                  </a:lnTo>
                  <a:lnTo>
                    <a:pt x="5262745" y="884988"/>
                  </a:lnTo>
                  <a:lnTo>
                    <a:pt x="5245686" y="885824"/>
                  </a:lnTo>
                  <a:close/>
                </a:path>
              </a:pathLst>
            </a:custGeom>
            <a:solidFill>
              <a:srgbClr val="B6C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1559" y="4304471"/>
              <a:ext cx="121760" cy="121760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5810348" y="4206132"/>
            <a:ext cx="4608830" cy="6064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60"/>
              </a:spcBef>
            </a:pPr>
            <a:r>
              <a:rPr sz="1100" b="1" spc="-120" dirty="0">
                <a:latin typeface="Tahoma"/>
                <a:cs typeface="Tahoma"/>
              </a:rPr>
              <a:t>Saved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Checkpoints: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spc="-114" dirty="0">
                <a:latin typeface="Verdana"/>
                <a:cs typeface="Verdana"/>
              </a:rPr>
              <a:t>best_model.pt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50" dirty="0">
                <a:latin typeface="Verdana"/>
                <a:cs typeface="Verdana"/>
              </a:rPr>
              <a:t>(5.7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130" dirty="0">
                <a:latin typeface="Verdana"/>
                <a:cs typeface="Verdana"/>
              </a:rPr>
              <a:t>MB)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at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iteration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25" dirty="0">
                <a:latin typeface="Verdana"/>
                <a:cs typeface="Verdana"/>
              </a:rPr>
              <a:t>1400,</a:t>
            </a:r>
            <a:r>
              <a:rPr sz="1100" spc="-150" dirty="0">
                <a:latin typeface="Verdana"/>
                <a:cs typeface="Verdana"/>
              </a:rPr>
              <a:t> </a:t>
            </a:r>
            <a:r>
              <a:rPr sz="1100" spc="-105" dirty="0">
                <a:latin typeface="Verdana"/>
                <a:cs typeface="Verdana"/>
              </a:rPr>
              <a:t>recent_model.pt </a:t>
            </a:r>
            <a:r>
              <a:rPr sz="1100" spc="-150" dirty="0">
                <a:latin typeface="Verdana"/>
                <a:cs typeface="Verdana"/>
              </a:rPr>
              <a:t>(5.7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130" dirty="0">
                <a:latin typeface="Verdana"/>
                <a:cs typeface="Verdana"/>
              </a:rPr>
              <a:t>MB)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final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checkpoint.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Model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successfully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learned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clinical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105" dirty="0">
                <a:latin typeface="Verdana"/>
                <a:cs typeface="Verdana"/>
              </a:rPr>
              <a:t>patterns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from </a:t>
            </a:r>
            <a:r>
              <a:rPr sz="1100" spc="-75" dirty="0">
                <a:latin typeface="Verdana"/>
                <a:cs typeface="Verdana"/>
              </a:rPr>
              <a:t>limited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data.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846" y="762254"/>
            <a:ext cx="70948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85" dirty="0"/>
              <a:t>ICU</a:t>
            </a:r>
            <a:r>
              <a:rPr sz="2600" spc="-110" dirty="0"/>
              <a:t> </a:t>
            </a:r>
            <a:r>
              <a:rPr sz="2600" spc="-10" dirty="0"/>
              <a:t>Mortality</a:t>
            </a:r>
            <a:r>
              <a:rPr sz="2600" spc="-100" dirty="0"/>
              <a:t> </a:t>
            </a:r>
            <a:r>
              <a:rPr sz="2600" spc="-105" dirty="0"/>
              <a:t>Prediction:</a:t>
            </a:r>
            <a:r>
              <a:rPr sz="2600" spc="-100" dirty="0"/>
              <a:t> </a:t>
            </a:r>
            <a:r>
              <a:rPr sz="2600" dirty="0"/>
              <a:t>Baseline</a:t>
            </a:r>
            <a:r>
              <a:rPr sz="2600" spc="-105" dirty="0"/>
              <a:t> </a:t>
            </a:r>
            <a:r>
              <a:rPr sz="2600" spc="-35" dirty="0"/>
              <a:t>Performance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641846" y="1399666"/>
            <a:ext cx="101028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30" dirty="0">
                <a:solidFill>
                  <a:srgbClr val="00002E"/>
                </a:solidFill>
                <a:latin typeface="Tahoma"/>
                <a:cs typeface="Tahoma"/>
              </a:rPr>
              <a:t>Task:</a:t>
            </a:r>
            <a:r>
              <a:rPr sz="1100" b="1" spc="5" dirty="0">
                <a:solidFill>
                  <a:srgbClr val="00002E"/>
                </a:solidFill>
                <a:latin typeface="Tahoma"/>
                <a:cs typeface="Tahom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Predict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50" dirty="0">
                <a:solidFill>
                  <a:srgbClr val="00002E"/>
                </a:solidFill>
                <a:latin typeface="Verdana"/>
                <a:cs typeface="Verdana"/>
              </a:rPr>
              <a:t>ICU_DISCHARGE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(alive)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vs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40" dirty="0">
                <a:solidFill>
                  <a:srgbClr val="00002E"/>
                </a:solidFill>
                <a:latin typeface="Verdana"/>
                <a:cs typeface="Verdana"/>
              </a:rPr>
              <a:t>MEDS_DEATH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from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patient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clinical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history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up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ICU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admission.</a:t>
            </a:r>
            <a:r>
              <a:rPr sz="1100" spc="-1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Processed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25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ICU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admissions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from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39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test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patients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in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24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seconds.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8595" y="1820005"/>
            <a:ext cx="1811655" cy="140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650" b="1" spc="-20" dirty="0">
                <a:solidFill>
                  <a:srgbClr val="00002E"/>
                </a:solidFill>
                <a:latin typeface="Trebuchet MS"/>
                <a:cs typeface="Trebuchet MS"/>
              </a:rPr>
              <a:t>1.34</a:t>
            </a:r>
            <a:endParaRPr sz="3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70"/>
              </a:spcBef>
            </a:pPr>
            <a:r>
              <a:rPr sz="1300" b="1" dirty="0">
                <a:solidFill>
                  <a:srgbClr val="00002E"/>
                </a:solidFill>
                <a:latin typeface="Trebuchet MS"/>
                <a:cs typeface="Trebuchet MS"/>
              </a:rPr>
              <a:t>Mean</a:t>
            </a:r>
            <a:r>
              <a:rPr sz="1300" b="1" spc="-2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00002E"/>
                </a:solidFill>
                <a:latin typeface="Trebuchet MS"/>
                <a:cs typeface="Trebuchet MS"/>
              </a:rPr>
              <a:t>Timing</a:t>
            </a:r>
            <a:r>
              <a:rPr sz="1300" b="1" spc="-1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00002E"/>
                </a:solidFill>
                <a:latin typeface="Trebuchet MS"/>
                <a:cs typeface="Trebuchet MS"/>
              </a:rPr>
              <a:t>Error</a:t>
            </a:r>
            <a:endParaRPr sz="1300">
              <a:latin typeface="Trebuchet MS"/>
              <a:cs typeface="Trebuchet MS"/>
            </a:endParaRPr>
          </a:p>
          <a:p>
            <a:pPr marL="12065" marR="5080" algn="ctr">
              <a:lnSpc>
                <a:spcPct val="119300"/>
              </a:lnSpc>
              <a:spcBef>
                <a:spcPts val="785"/>
              </a:spcBef>
            </a:pP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Average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days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difference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when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predictions</a:t>
            </a:r>
            <a:r>
              <a:rPr sz="1100" spc="-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were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correct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846" y="1820005"/>
            <a:ext cx="2275205" cy="1731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9539" algn="ctr">
              <a:lnSpc>
                <a:spcPct val="100000"/>
              </a:lnSpc>
              <a:spcBef>
                <a:spcPts val="95"/>
              </a:spcBef>
            </a:pPr>
            <a:r>
              <a:rPr sz="3650" b="1" spc="300" dirty="0">
                <a:solidFill>
                  <a:srgbClr val="00002E"/>
                </a:solidFill>
                <a:latin typeface="Trebuchet MS"/>
                <a:cs typeface="Trebuchet MS"/>
              </a:rPr>
              <a:t>28%</a:t>
            </a:r>
            <a:endParaRPr sz="3650">
              <a:latin typeface="Trebuchet MS"/>
              <a:cs typeface="Trebuchet MS"/>
            </a:endParaRPr>
          </a:p>
          <a:p>
            <a:pPr marR="427355" algn="r">
              <a:lnSpc>
                <a:spcPct val="100000"/>
              </a:lnSpc>
              <a:spcBef>
                <a:spcPts val="970"/>
              </a:spcBef>
            </a:pP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Overall</a:t>
            </a:r>
            <a:r>
              <a:rPr sz="1300" b="1" spc="-4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Accuracy</a:t>
            </a:r>
            <a:endParaRPr sz="1300">
              <a:latin typeface="Trebuchet MS"/>
              <a:cs typeface="Trebuchet MS"/>
            </a:endParaRPr>
          </a:p>
          <a:p>
            <a:pPr marL="142240" marR="5080" algn="ctr">
              <a:lnSpc>
                <a:spcPct val="119300"/>
              </a:lnSpc>
              <a:spcBef>
                <a:spcPts val="785"/>
              </a:spcBef>
            </a:pP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7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correct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predictions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out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of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25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total </a:t>
            </a:r>
            <a:r>
              <a:rPr sz="1100" spc="-95" dirty="0">
                <a:solidFill>
                  <a:srgbClr val="00002E"/>
                </a:solidFill>
                <a:latin typeface="Verdana"/>
                <a:cs typeface="Verdana"/>
              </a:rPr>
              <a:t>test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cases</a:t>
            </a:r>
            <a:endParaRPr sz="1100">
              <a:latin typeface="Verdana"/>
              <a:cs typeface="Verdana"/>
            </a:endParaRPr>
          </a:p>
          <a:p>
            <a:pPr marR="397510" algn="r">
              <a:lnSpc>
                <a:spcPct val="100000"/>
              </a:lnSpc>
              <a:spcBef>
                <a:spcPts val="1030"/>
              </a:spcBef>
            </a:pPr>
            <a:r>
              <a:rPr sz="1300" b="1" spc="-35" dirty="0">
                <a:solidFill>
                  <a:srgbClr val="00002E"/>
                </a:solidFill>
                <a:latin typeface="Trebuchet MS"/>
                <a:cs typeface="Trebuchet MS"/>
              </a:rPr>
              <a:t>Performance</a:t>
            </a:r>
            <a:r>
              <a:rPr sz="1300" b="1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Breakdown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7224" y="3724274"/>
            <a:ext cx="4886325" cy="1809750"/>
            <a:chOff x="657224" y="3724274"/>
            <a:chExt cx="4886325" cy="1809750"/>
          </a:xfrm>
        </p:grpSpPr>
        <p:sp>
          <p:nvSpPr>
            <p:cNvPr id="7" name="object 7"/>
            <p:cNvSpPr/>
            <p:nvPr/>
          </p:nvSpPr>
          <p:spPr>
            <a:xfrm>
              <a:off x="657212" y="3724274"/>
              <a:ext cx="47625" cy="514350"/>
            </a:xfrm>
            <a:custGeom>
              <a:avLst/>
              <a:gdLst/>
              <a:ahLst/>
              <a:cxnLst/>
              <a:rect l="l" t="t" r="r" b="b"/>
              <a:pathLst>
                <a:path w="47625" h="514350">
                  <a:moveTo>
                    <a:pt x="47625" y="487387"/>
                  </a:moveTo>
                  <a:lnTo>
                    <a:pt x="26974" y="466725"/>
                  </a:lnTo>
                  <a:lnTo>
                    <a:pt x="20662" y="466725"/>
                  </a:lnTo>
                  <a:lnTo>
                    <a:pt x="0" y="487387"/>
                  </a:lnTo>
                  <a:lnTo>
                    <a:pt x="0" y="493699"/>
                  </a:lnTo>
                  <a:lnTo>
                    <a:pt x="20662" y="514350"/>
                  </a:lnTo>
                  <a:lnTo>
                    <a:pt x="26974" y="514350"/>
                  </a:lnTo>
                  <a:lnTo>
                    <a:pt x="47625" y="493699"/>
                  </a:lnTo>
                  <a:lnTo>
                    <a:pt x="47625" y="490537"/>
                  </a:lnTo>
                  <a:lnTo>
                    <a:pt x="47625" y="487387"/>
                  </a:lnTo>
                  <a:close/>
                </a:path>
                <a:path w="47625" h="514350">
                  <a:moveTo>
                    <a:pt x="47625" y="258787"/>
                  </a:moveTo>
                  <a:lnTo>
                    <a:pt x="26974" y="238125"/>
                  </a:lnTo>
                  <a:lnTo>
                    <a:pt x="20662" y="238125"/>
                  </a:lnTo>
                  <a:lnTo>
                    <a:pt x="0" y="258787"/>
                  </a:lnTo>
                  <a:lnTo>
                    <a:pt x="0" y="265099"/>
                  </a:lnTo>
                  <a:lnTo>
                    <a:pt x="20662" y="285750"/>
                  </a:lnTo>
                  <a:lnTo>
                    <a:pt x="26974" y="285750"/>
                  </a:lnTo>
                  <a:lnTo>
                    <a:pt x="47625" y="265099"/>
                  </a:lnTo>
                  <a:lnTo>
                    <a:pt x="47625" y="261937"/>
                  </a:lnTo>
                  <a:lnTo>
                    <a:pt x="47625" y="258787"/>
                  </a:lnTo>
                  <a:close/>
                </a:path>
                <a:path w="47625" h="514350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000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7224" y="4438649"/>
              <a:ext cx="4886325" cy="1095375"/>
            </a:xfrm>
            <a:custGeom>
              <a:avLst/>
              <a:gdLst/>
              <a:ahLst/>
              <a:cxnLst/>
              <a:rect l="l" t="t" r="r" b="b"/>
              <a:pathLst>
                <a:path w="4886325" h="1095375">
                  <a:moveTo>
                    <a:pt x="4710996" y="1095374"/>
                  </a:moveTo>
                  <a:lnTo>
                    <a:pt x="175327" y="1095374"/>
                  </a:lnTo>
                  <a:lnTo>
                    <a:pt x="166714" y="1095163"/>
                  </a:lnTo>
                  <a:lnTo>
                    <a:pt x="124432" y="1087826"/>
                  </a:lnTo>
                  <a:lnTo>
                    <a:pt x="85199" y="1070436"/>
                  </a:lnTo>
                  <a:lnTo>
                    <a:pt x="51352" y="1044022"/>
                  </a:lnTo>
                  <a:lnTo>
                    <a:pt x="24937" y="1010174"/>
                  </a:lnTo>
                  <a:lnTo>
                    <a:pt x="7547" y="970941"/>
                  </a:lnTo>
                  <a:lnTo>
                    <a:pt x="210" y="928660"/>
                  </a:lnTo>
                  <a:lnTo>
                    <a:pt x="0" y="920047"/>
                  </a:lnTo>
                  <a:lnTo>
                    <a:pt x="0" y="175327"/>
                  </a:lnTo>
                  <a:lnTo>
                    <a:pt x="5255" y="132715"/>
                  </a:lnTo>
                  <a:lnTo>
                    <a:pt x="20700" y="92677"/>
                  </a:lnTo>
                  <a:lnTo>
                    <a:pt x="45410" y="57591"/>
                  </a:lnTo>
                  <a:lnTo>
                    <a:pt x="77920" y="29547"/>
                  </a:lnTo>
                  <a:lnTo>
                    <a:pt x="116271" y="10244"/>
                  </a:lnTo>
                  <a:lnTo>
                    <a:pt x="158142" y="842"/>
                  </a:lnTo>
                  <a:lnTo>
                    <a:pt x="175327" y="0"/>
                  </a:lnTo>
                  <a:lnTo>
                    <a:pt x="4710996" y="0"/>
                  </a:lnTo>
                  <a:lnTo>
                    <a:pt x="4753607" y="5255"/>
                  </a:lnTo>
                  <a:lnTo>
                    <a:pt x="4793646" y="20700"/>
                  </a:lnTo>
                  <a:lnTo>
                    <a:pt x="4828732" y="45410"/>
                  </a:lnTo>
                  <a:lnTo>
                    <a:pt x="4856775" y="77920"/>
                  </a:lnTo>
                  <a:lnTo>
                    <a:pt x="4876079" y="116270"/>
                  </a:lnTo>
                  <a:lnTo>
                    <a:pt x="4885482" y="158142"/>
                  </a:lnTo>
                  <a:lnTo>
                    <a:pt x="4886324" y="175327"/>
                  </a:lnTo>
                  <a:lnTo>
                    <a:pt x="4886324" y="920047"/>
                  </a:lnTo>
                  <a:lnTo>
                    <a:pt x="4881068" y="962658"/>
                  </a:lnTo>
                  <a:lnTo>
                    <a:pt x="4865623" y="1002696"/>
                  </a:lnTo>
                  <a:lnTo>
                    <a:pt x="4840913" y="1037782"/>
                  </a:lnTo>
                  <a:lnTo>
                    <a:pt x="4808403" y="1065826"/>
                  </a:lnTo>
                  <a:lnTo>
                    <a:pt x="4770052" y="1085130"/>
                  </a:lnTo>
                  <a:lnTo>
                    <a:pt x="4728182" y="1094532"/>
                  </a:lnTo>
                  <a:lnTo>
                    <a:pt x="4710996" y="1095374"/>
                  </a:lnTo>
                  <a:close/>
                </a:path>
              </a:pathLst>
            </a:custGeom>
            <a:solidFill>
              <a:srgbClr val="B6C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5981" y="3577691"/>
            <a:ext cx="3226435" cy="730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39200"/>
              </a:lnSpc>
              <a:spcBef>
                <a:spcPts val="135"/>
              </a:spcBef>
            </a:pP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Actual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5" dirty="0">
                <a:solidFill>
                  <a:srgbClr val="00002E"/>
                </a:solidFill>
                <a:latin typeface="Verdana"/>
                <a:cs typeface="Verdana"/>
              </a:rPr>
              <a:t>Deaths: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18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cases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00" dirty="0">
                <a:solidFill>
                  <a:srgbClr val="00002E"/>
                </a:solidFill>
                <a:latin typeface="Verdana"/>
                <a:cs typeface="Verdana"/>
              </a:rPr>
              <a:t>(27.8%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predicted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00002E"/>
                </a:solidFill>
                <a:latin typeface="Verdana"/>
                <a:cs typeface="Verdana"/>
              </a:rPr>
              <a:t>correctly)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Actual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Discharges: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00002E"/>
                </a:solidFill>
                <a:latin typeface="Verdana"/>
                <a:cs typeface="Verdana"/>
              </a:rPr>
              <a:t>7</a:t>
            </a:r>
            <a:r>
              <a:rPr sz="1100" spc="-12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cases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80" dirty="0">
                <a:solidFill>
                  <a:srgbClr val="00002E"/>
                </a:solidFill>
                <a:latin typeface="Verdana"/>
                <a:cs typeface="Verdana"/>
              </a:rPr>
              <a:t>(14.3%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predicted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correctly) Median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Timing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Error: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00002E"/>
                </a:solidFill>
                <a:latin typeface="Verdana"/>
                <a:cs typeface="Verdana"/>
              </a:rPr>
              <a:t>0.92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days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98" y="4647436"/>
            <a:ext cx="122671" cy="12267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97557" y="4539716"/>
            <a:ext cx="4249420" cy="815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125"/>
              </a:spcBef>
            </a:pPr>
            <a:r>
              <a:rPr sz="1100" b="1" spc="-145" dirty="0">
                <a:latin typeface="Tahoma"/>
                <a:cs typeface="Tahoma"/>
              </a:rPr>
              <a:t>Why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195" dirty="0">
                <a:latin typeface="Tahoma"/>
                <a:cs typeface="Tahoma"/>
              </a:rPr>
              <a:t>28%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114" dirty="0">
                <a:latin typeface="Tahoma"/>
                <a:cs typeface="Tahoma"/>
              </a:rPr>
              <a:t>Accuracy?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spc="-100" dirty="0">
                <a:latin typeface="Verdana"/>
                <a:cs typeface="Verdana"/>
              </a:rPr>
              <a:t>Expected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for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proof-</a:t>
            </a:r>
            <a:r>
              <a:rPr sz="1100" spc="-85" dirty="0">
                <a:latin typeface="Verdana"/>
                <a:cs typeface="Verdana"/>
              </a:rPr>
              <a:t>of-</a:t>
            </a:r>
            <a:r>
              <a:rPr sz="1100" spc="-100" dirty="0">
                <a:latin typeface="Verdana"/>
                <a:cs typeface="Verdana"/>
              </a:rPr>
              <a:t>concept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with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only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395 </a:t>
            </a:r>
            <a:r>
              <a:rPr sz="1100" spc="-90" dirty="0">
                <a:latin typeface="Verdana"/>
                <a:cs typeface="Verdana"/>
              </a:rPr>
              <a:t>patients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125" dirty="0">
                <a:latin typeface="Verdana"/>
                <a:cs typeface="Verdana"/>
              </a:rPr>
              <a:t>(need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170" dirty="0">
                <a:latin typeface="Verdana"/>
                <a:cs typeface="Verdana"/>
              </a:rPr>
              <a:t>100k+),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small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114" dirty="0">
                <a:latin typeface="Verdana"/>
                <a:cs typeface="Verdana"/>
              </a:rPr>
              <a:t>0.41M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114" dirty="0">
                <a:latin typeface="Verdana"/>
                <a:cs typeface="Verdana"/>
              </a:rPr>
              <a:t>parameter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model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(production: </a:t>
            </a:r>
            <a:r>
              <a:rPr sz="1100" spc="-170" dirty="0">
                <a:latin typeface="Verdana"/>
                <a:cs typeface="Verdana"/>
              </a:rPr>
              <a:t>50M+),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limited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features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30" dirty="0">
                <a:latin typeface="Verdana"/>
                <a:cs typeface="Verdana"/>
              </a:rPr>
              <a:t>(no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labs,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medications,</a:t>
            </a:r>
            <a:r>
              <a:rPr sz="1100" spc="-160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vitals),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short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training </a:t>
            </a:r>
            <a:r>
              <a:rPr sz="1100" spc="-150" dirty="0">
                <a:latin typeface="Verdana"/>
                <a:cs typeface="Verdana"/>
              </a:rPr>
              <a:t>(5k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iterations</a:t>
            </a:r>
            <a:r>
              <a:rPr sz="1100" spc="-65" dirty="0">
                <a:latin typeface="Verdana"/>
                <a:cs typeface="Verdana"/>
              </a:rPr>
              <a:t> </a:t>
            </a:r>
            <a:r>
              <a:rPr sz="1100" spc="-125" dirty="0">
                <a:latin typeface="Verdana"/>
                <a:cs typeface="Verdana"/>
              </a:rPr>
              <a:t>vs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100k+)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82828" y="1803526"/>
            <a:ext cx="22599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00002E"/>
                </a:solidFill>
                <a:latin typeface="Trebuchet MS"/>
                <a:cs typeface="Trebuchet MS"/>
              </a:rPr>
              <a:t>Next</a:t>
            </a:r>
            <a:r>
              <a:rPr sz="1300" b="1" spc="-6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00002E"/>
                </a:solidFill>
                <a:latin typeface="Trebuchet MS"/>
                <a:cs typeface="Trebuchet MS"/>
              </a:rPr>
              <a:t>Steps:</a:t>
            </a:r>
            <a:r>
              <a:rPr sz="1300" b="1" spc="-6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30" dirty="0">
                <a:solidFill>
                  <a:srgbClr val="00002E"/>
                </a:solidFill>
                <a:latin typeface="Trebuchet MS"/>
                <a:cs typeface="Trebuchet MS"/>
              </a:rPr>
              <a:t>Immediate</a:t>
            </a:r>
            <a:r>
              <a:rPr sz="1300" b="1" spc="-6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00002E"/>
                </a:solidFill>
                <a:latin typeface="Trebuchet MS"/>
                <a:cs typeface="Trebuchet MS"/>
              </a:rPr>
              <a:t>Future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76924" y="2152649"/>
            <a:ext cx="4924425" cy="38100"/>
          </a:xfrm>
          <a:custGeom>
            <a:avLst/>
            <a:gdLst/>
            <a:ahLst/>
            <a:cxnLst/>
            <a:rect l="l" t="t" r="r" b="b"/>
            <a:pathLst>
              <a:path w="4924425" h="38100">
                <a:moveTo>
                  <a:pt x="4924424" y="38099"/>
                </a:moveTo>
                <a:lnTo>
                  <a:pt x="0" y="38099"/>
                </a:lnTo>
                <a:lnTo>
                  <a:pt x="0" y="0"/>
                </a:lnTo>
                <a:lnTo>
                  <a:pt x="4924424" y="0"/>
                </a:lnTo>
                <a:lnTo>
                  <a:pt x="4924424" y="38099"/>
                </a:lnTo>
                <a:close/>
              </a:path>
            </a:pathLst>
          </a:custGeom>
          <a:solidFill>
            <a:srgbClr val="2D4D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82828" y="2308351"/>
            <a:ext cx="4838065" cy="71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00002E"/>
                </a:solidFill>
                <a:latin typeface="Trebuchet MS"/>
                <a:cs typeface="Trebuchet MS"/>
              </a:rPr>
              <a:t>Scale</a:t>
            </a:r>
            <a:r>
              <a:rPr sz="1300" b="1" spc="-6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00002E"/>
                </a:solidFill>
                <a:latin typeface="Trebuchet MS"/>
                <a:cs typeface="Trebuchet MS"/>
              </a:rPr>
              <a:t>to</a:t>
            </a:r>
            <a:r>
              <a:rPr sz="1300" b="1" spc="-5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00002E"/>
                </a:solidFill>
                <a:latin typeface="Trebuchet MS"/>
                <a:cs typeface="Trebuchet MS"/>
              </a:rPr>
              <a:t>Full</a:t>
            </a:r>
            <a:r>
              <a:rPr sz="1300" b="1" spc="-5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60" dirty="0">
                <a:solidFill>
                  <a:srgbClr val="00002E"/>
                </a:solidFill>
                <a:latin typeface="Trebuchet MS"/>
                <a:cs typeface="Trebuchet MS"/>
              </a:rPr>
              <a:t>MIMIC-</a:t>
            </a:r>
            <a:r>
              <a:rPr sz="1300" b="1" spc="-25" dirty="0">
                <a:solidFill>
                  <a:srgbClr val="00002E"/>
                </a:solidFill>
                <a:latin typeface="Trebuchet MS"/>
                <a:cs typeface="Trebuchet MS"/>
              </a:rPr>
              <a:t>IV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ct val="113599"/>
              </a:lnSpc>
              <a:spcBef>
                <a:spcPts val="865"/>
              </a:spcBef>
            </a:pP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300,000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patients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11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tables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00002E"/>
                </a:solidFill>
                <a:latin typeface="Verdana"/>
                <a:cs typeface="Verdana"/>
              </a:rPr>
              <a:t>including</a:t>
            </a:r>
            <a:r>
              <a:rPr sz="1100" spc="-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labs,</a:t>
            </a:r>
            <a:r>
              <a:rPr sz="1100" spc="-1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medications,</a:t>
            </a:r>
            <a:r>
              <a:rPr sz="1100" spc="-14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and</a:t>
            </a:r>
            <a:r>
              <a:rPr sz="1100" spc="-6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vitals.</a:t>
            </a:r>
            <a:r>
              <a:rPr sz="1100" spc="-14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00002E"/>
                </a:solidFill>
                <a:latin typeface="Verdana"/>
                <a:cs typeface="Verdana"/>
              </a:rPr>
              <a:t>Expected </a:t>
            </a:r>
            <a:r>
              <a:rPr sz="1100" spc="-135" dirty="0">
                <a:solidFill>
                  <a:srgbClr val="00002E"/>
                </a:solidFill>
                <a:latin typeface="Verdana"/>
                <a:cs typeface="Verdana"/>
              </a:rPr>
              <a:t>accuracy:</a:t>
            </a:r>
            <a:r>
              <a:rPr sz="1100" spc="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70-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85%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76924" y="3248024"/>
            <a:ext cx="4924425" cy="38100"/>
          </a:xfrm>
          <a:custGeom>
            <a:avLst/>
            <a:gdLst/>
            <a:ahLst/>
            <a:cxnLst/>
            <a:rect l="l" t="t" r="r" b="b"/>
            <a:pathLst>
              <a:path w="4924425" h="38100">
                <a:moveTo>
                  <a:pt x="4924424" y="38099"/>
                </a:moveTo>
                <a:lnTo>
                  <a:pt x="0" y="38099"/>
                </a:lnTo>
                <a:lnTo>
                  <a:pt x="0" y="0"/>
                </a:lnTo>
                <a:lnTo>
                  <a:pt x="4924424" y="0"/>
                </a:lnTo>
                <a:lnTo>
                  <a:pt x="4924424" y="38099"/>
                </a:lnTo>
                <a:close/>
              </a:path>
            </a:pathLst>
          </a:custGeom>
          <a:solidFill>
            <a:srgbClr val="008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82828" y="3403726"/>
            <a:ext cx="4271010" cy="71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00002E"/>
                </a:solidFill>
                <a:latin typeface="Trebuchet MS"/>
                <a:cs typeface="Trebuchet MS"/>
              </a:rPr>
              <a:t>Adapt</a:t>
            </a:r>
            <a:r>
              <a:rPr sz="1300" b="1" spc="-35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45" dirty="0">
                <a:solidFill>
                  <a:srgbClr val="00002E"/>
                </a:solidFill>
                <a:latin typeface="Trebuchet MS"/>
                <a:cs typeface="Trebuchet MS"/>
              </a:rPr>
              <a:t>for</a:t>
            </a:r>
            <a:r>
              <a:rPr sz="1300" b="1" spc="-3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00002E"/>
                </a:solidFill>
                <a:latin typeface="Trebuchet MS"/>
                <a:cs typeface="Trebuchet MS"/>
              </a:rPr>
              <a:t>UF</a:t>
            </a:r>
            <a:r>
              <a:rPr sz="1300" b="1" spc="-3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00002E"/>
                </a:solidFill>
                <a:latin typeface="Trebuchet MS"/>
                <a:cs typeface="Trebuchet MS"/>
              </a:rPr>
              <a:t>Health</a:t>
            </a:r>
            <a:r>
              <a:rPr sz="1300" b="1" spc="-30" dirty="0">
                <a:solidFill>
                  <a:srgbClr val="00002E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00002E"/>
                </a:solidFill>
                <a:latin typeface="Trebuchet MS"/>
                <a:cs typeface="Trebuchet MS"/>
              </a:rPr>
              <a:t>Data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ct val="113599"/>
              </a:lnSpc>
              <a:spcBef>
                <a:spcPts val="865"/>
              </a:spcBef>
            </a:pP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Map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00002E"/>
                </a:solidFill>
                <a:latin typeface="Verdana"/>
                <a:cs typeface="Verdana"/>
              </a:rPr>
              <a:t>UF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2E"/>
                </a:solidFill>
                <a:latin typeface="Verdana"/>
                <a:cs typeface="Verdana"/>
              </a:rPr>
              <a:t>Health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EHR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schema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to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25" dirty="0">
                <a:solidFill>
                  <a:srgbClr val="00002E"/>
                </a:solidFill>
                <a:latin typeface="Verdana"/>
                <a:cs typeface="Verdana"/>
              </a:rPr>
              <a:t>MEDS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00002E"/>
                </a:solidFill>
                <a:latin typeface="Verdana"/>
                <a:cs typeface="Verdana"/>
              </a:rPr>
              <a:t>format,</a:t>
            </a:r>
            <a:r>
              <a:rPr sz="1100" spc="-1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00002E"/>
                </a:solidFill>
                <a:latin typeface="Verdana"/>
                <a:cs typeface="Verdana"/>
              </a:rPr>
              <a:t>create</a:t>
            </a:r>
            <a:r>
              <a:rPr sz="1100" spc="-5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institution-</a:t>
            </a:r>
            <a:r>
              <a:rPr sz="1100" spc="-45" dirty="0">
                <a:solidFill>
                  <a:srgbClr val="00002E"/>
                </a:solidFill>
                <a:latin typeface="Verdana"/>
                <a:cs typeface="Verdana"/>
              </a:rPr>
              <a:t>specific </a:t>
            </a:r>
            <a:r>
              <a:rPr sz="1100" spc="-110" dirty="0">
                <a:solidFill>
                  <a:srgbClr val="00002E"/>
                </a:solidFill>
                <a:latin typeface="Verdana"/>
                <a:cs typeface="Verdana"/>
              </a:rPr>
              <a:t>preprocessors,</a:t>
            </a:r>
            <a:r>
              <a:rPr sz="1100" spc="-150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00002E"/>
                </a:solidFill>
                <a:latin typeface="Verdana"/>
                <a:cs typeface="Verdana"/>
              </a:rPr>
              <a:t>validate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00002E"/>
                </a:solidFill>
                <a:latin typeface="Verdana"/>
                <a:cs typeface="Verdana"/>
              </a:rPr>
              <a:t>with</a:t>
            </a:r>
            <a:r>
              <a:rPr sz="1100" spc="-25" dirty="0">
                <a:solidFill>
                  <a:srgbClr val="00002E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00002E"/>
                </a:solidFill>
                <a:latin typeface="Verdana"/>
                <a:cs typeface="Verdana"/>
              </a:rPr>
              <a:t>clinical</a:t>
            </a:r>
            <a:r>
              <a:rPr sz="1100" spc="-20" dirty="0">
                <a:solidFill>
                  <a:srgbClr val="00002E"/>
                </a:solidFill>
                <a:latin typeface="Verdana"/>
                <a:cs typeface="Verdana"/>
              </a:rPr>
              <a:t> teams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1437</Words>
  <Application>Microsoft Office PowerPoint</Application>
  <PresentationFormat>Custom</PresentationFormat>
  <Paragraphs>197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Courier New</vt:lpstr>
      <vt:lpstr>Lucida Sans Unicode</vt:lpstr>
      <vt:lpstr>Tahoma</vt:lpstr>
      <vt:lpstr>Trebuchet MS</vt:lpstr>
      <vt:lpstr>Verdana</vt:lpstr>
      <vt:lpstr>Office Theme</vt:lpstr>
      <vt:lpstr>ETHOS-ARES Pipeline Implementation</vt:lpstr>
      <vt:lpstr>What We Accomplished</vt:lpstr>
      <vt:lpstr>Sample Dataset: Strategic Design Choices</vt:lpstr>
      <vt:lpstr>MEDS Extraction: 7 Critical Stages</vt:lpstr>
      <vt:lpstr>Multi-Environment Pipeline: Strategic Resource Allocation</vt:lpstr>
      <vt:lpstr>Tokenization Pipeline: 17 Stages</vt:lpstr>
      <vt:lpstr>Adaptive Problem-Solving</vt:lpstr>
      <vt:lpstr>Post-Tokenization Data Preparation</vt:lpstr>
      <vt:lpstr>Transformer Training: GPU-Accelerated Learning</vt:lpstr>
      <vt:lpstr>ICU Mortality Prediction: Baseline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 chaitanya</cp:lastModifiedBy>
  <cp:revision>1</cp:revision>
  <dcterms:created xsi:type="dcterms:W3CDTF">2026-01-29T16:46:55Z</dcterms:created>
  <dcterms:modified xsi:type="dcterms:W3CDTF">2026-01-29T16:47:50Z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2026-01-29T00:00:00Z</vt:filetime>
  </property>
  <property fmtid="{D5CDD505-2E9C-101B-9397-08002B2CF9AE}" pid="5" name="Producer">
    <vt:lpwstr>pdf-lib (https://github.com/Hopding/pdf-lib)</vt:lpwstr>
  </property>
</Properties>
</file>